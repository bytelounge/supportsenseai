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snapToObjects="1">
      <p:cViewPr>
        <p:scale>
          <a:sx n="100" d="100"/>
          <a:sy n="100" d="100"/>
        </p:scale>
        <p:origin x="-14"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84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Rohan Salkar | ⏱️ TIME: 45s</a:t>
            </a:r>
          </a:p>
          <a:p>
            <a:r>
              <a:t>🎯 CORE GOAL: Welcome mentors acting as clients, introduce the 4-member developer team, and state our core philosophy.</a:t>
            </a:r>
          </a:p>
          <a:p>
            <a:r>
              <a:t>─────────────────────────────────────────────────────────────</a:t>
            </a:r>
          </a:p>
          <a:p>
            <a:r>
              <a:t>TALKING SCRIPT:</a:t>
            </a:r>
          </a:p>
          <a:p>
            <a:r>
              <a:t>Good morning mentors and clients. Today, our developer team presents SupportSense AI, an enterprise-grade customer support platform built during our Persistent Systems internship. Our team consists of Rohan Salkar as Frontend &amp; UI/UX Lead, Yash Sanikop (Roll No. 23CO76) as Frontend &amp; AI Lead, Shrujan Mitbavkar as Backend &amp; Database Lead, and Aarti Singh as DevOps, QA &amp; Documentation Lead. Our platform is built around one fundamental principle: 'AI Assists, Humans Decide'. Let's look at the industry crisis that inspired our solution.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Rohan Salkar | ⏱️ TIME: 45s</a:t>
            </a:r>
          </a:p>
          <a:p>
            <a:r>
              <a:t>🎯 CORE GOAL: Explain the enterprise support crisis and our ethical Human-in-the-Loop solution.</a:t>
            </a:r>
          </a:p>
          <a:p>
            <a:r>
              <a:t>─────────────────────────────────────────────────────────────</a:t>
            </a:r>
          </a:p>
          <a:p>
            <a:r>
              <a:t>TALKING SCRIPT:</a:t>
            </a:r>
          </a:p>
          <a:p>
            <a:r>
              <a:t>Enterprise support centers face a crisis: ticket overload, agent burnout, and sluggish first response times stretching 8 to 14 hours. Agents spend 40% of their workday just deciphering messy threads and tagging categories. SupportSense AI solves this through Cognitive Amplification: AI handles the heavy cognitive lifting—triage, mood detection, and draft replies—while preserving human judgment. The AI never takes dangerous actions like issuing refunds or sending unvetted messages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Rohan Salkar | ⏱️ TIME: 45s</a:t>
            </a:r>
          </a:p>
          <a:p>
            <a:r>
              <a:t>🎯 CORE GOAL: Walk the client through the 4-step workflow from intake to resolution.</a:t>
            </a:r>
          </a:p>
          <a:p>
            <a:r>
              <a:t>─────────────────────────────────────────────────────────────</a:t>
            </a:r>
          </a:p>
          <a:p>
            <a:r>
              <a:t>TALKING SCRIPT:</a:t>
            </a:r>
          </a:p>
          <a:p>
            <a:r>
              <a:t>Here is the complete four-step lifecycle in SupportSense AI. Step 1: Intelligent Intake converts everyday customer language into formal ticket specs. Step 2: Our AI microservice triages category, urgency, and customer mood in under 420 milliseconds. Step 3: When the agent opens the ticket, the Co-Pilot cockpit provides live patience scores, dynamic troubleshooting checklists, and draft replies. Step 4: The agent reviews the draft, polishes tone in 1 click, and resolves the issue. Now, I will showcase the live Agent Cockpit UI.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Rohan Salkar | ⏱️ TIME: 50s</a:t>
            </a:r>
          </a:p>
          <a:p>
            <a:r>
              <a:t>🎯 CORE GOAL: Demonstrate the live Agent Workbench, MoonRow design system, and AI Decision Drawer.</a:t>
            </a:r>
          </a:p>
          <a:p>
            <a:r>
              <a:t>─────────────────────────────────────────────────────────────</a:t>
            </a:r>
          </a:p>
          <a:p>
            <a:r>
              <a:t>TALKING SCRIPT:</a:t>
            </a:r>
          </a:p>
          <a:p>
            <a:r>
              <a:t>As Frontend &amp; UI/UX Lead, I designed the interface with the speed and polish of tools like Linear and Stripe. On the right is our actual live production screenshot from Render! The left pane presents chronological customer conversation with strict visual separation for private staff notes. The right pane houses the AI Decision Drawer: displaying customer mood, patience scores, resolution estimates, and interactive troubleshooting checkboxes. Now, Yash Sanikop will present our Conversational Intake and Deflection engine.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Yash Sanikop | ⏱️ TIME: 50s</a:t>
            </a:r>
          </a:p>
          <a:p>
            <a:r>
              <a:t>🎯 CORE GOAL: Demonstrate the AI Concierge and real-time FAQ deflection from live screenshots.</a:t>
            </a:r>
          </a:p>
          <a:p>
            <a:r>
              <a:t>─────────────────────────────────────────────────────────────</a:t>
            </a:r>
          </a:p>
          <a:p>
            <a:r>
              <a:t>TALKING SCRIPT:</a:t>
            </a:r>
          </a:p>
          <a:p>
            <a:r>
              <a:t>As Frontend &amp; AI Lead (Student Intern Yash Sanikop, Roll No. 23CO76), I engineered the bridge connecting customer widgets with our Gemini AI pipeline. On the left is our live screenshot of the AI Concierge. Non-technical users explain problems naturally; the Concierge conducts dialogue and compiles a formal enterprise ticket in 1 click! On the right is our Real-Time FAQ Deflection panel. As the customer types, our debounced search scans verified documentation, deflecting 35% of repetitive tickets before submission. Next, Shrujan Mitbavkar will present our Backend and Database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Shrujan Mitbavkar | ⏱️ TIME: 45s</a:t>
            </a:r>
          </a:p>
          <a:p>
            <a:r>
              <a:t>🎯 CORE GOAL: Explain our Express REST engine, normalized PostgreSQL schema, and atomic transactions.</a:t>
            </a:r>
          </a:p>
          <a:p>
            <a:r>
              <a:t>─────────────────────────────────────────────────────────────</a:t>
            </a:r>
          </a:p>
          <a:p>
            <a:r>
              <a:t>TALKING SCRIPT:</a:t>
            </a:r>
          </a:p>
          <a:p>
            <a:r>
              <a:t>As Backend &amp; Database Lead, my objective was rock-solid data integrity and high throughput. Our P95 REST latency remains under 200 milliseconds. Under SCRUM-112, we wrapped ticket creation and initial message insertion into an atomic SQL transaction—if anything fails, the entire transaction rolls back cleanly, guaranteeing zero orphaned records. On the right is our live ticket queue from Render, powered by PostgreSQL compound B-tree indexes executing in under 50 milliseconds.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Aarti Singh &amp; Yash Sanikop | ⏱️ TIME: 50s</a:t>
            </a:r>
          </a:p>
          <a:p>
            <a:r>
              <a:t>🎯 CORE GOAL: Explain our FastAPI AI microservice, 12ms caching, system architecture, and Docker/Render DevOps.</a:t>
            </a:r>
          </a:p>
          <a:p>
            <a:r>
              <a:t>─────────────────────────────────────────────────────────────</a:t>
            </a:r>
          </a:p>
          <a:p>
            <a:r>
              <a:t>TALKING SCRIPT:</a:t>
            </a:r>
          </a:p>
          <a:p>
            <a:r>
              <a:t>Yash: As AI Lead, I architected the Python FastAPI microservice with Google Gemini 1.5 Flash. GenerativeModel instance pooling and SHA-256 TTL caching drop repeated queries from 1.8 seconds down to just 12 milliseconds! Aarti: As DevOps &amp; QA Lead, I containerized the stack with multi-stage Dockerfiles and orchestrated one-click cloud deployment via Render Blueprints. Stateless JWT tokens and express rate-limiting protect our endpoints, and our automated Jest/Pytest suites maintain a 100% pass rate.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Joint Team (Rohan Salkar) | ⏱️ TIME: 50s</a:t>
            </a:r>
          </a:p>
          <a:p>
            <a:r>
              <a:t>🎯 CORE GOAL: Conclude with quantifiable client ROI, future roadmap, and invite live Q&amp;A.</a:t>
            </a:r>
          </a:p>
          <a:p>
            <a:r>
              <a:t>─────────────────────────────────────────────────────────────</a:t>
            </a:r>
          </a:p>
          <a:p>
            <a:r>
              <a:t>TALKING SCRIPT:</a:t>
            </a:r>
          </a:p>
          <a:p>
            <a:r>
              <a:t>In conclusion, SupportSense AI delivers measurable enterprise results: a 75% reduction in First Response Time, a 35% ticket deflection rate, 96% AI triage accuracy, and over 80% annual cost savings compared to commercial SaaS vendors. On the right is our live Analytics Dashboard on Render validating our operational metrics. With 13 technical specifications, 100% automated test pass rates, and turnkey Docker deployment, SupportSense AI is production-ready today. On behalf of Rohan, Aarti, Shrujan, and Yash, thank you! We are now excited to answer your questions and demonstrate the live 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png"/>
          <p:cNvPicPr>
            <a:picLocks noChangeAspect="1"/>
          </p:cNvPicPr>
          <p:nvPr/>
        </p:nvPicPr>
        <p:blipFill>
          <a:blip r:embed="rId3"/>
          <a:stretch>
            <a:fillRect/>
          </a:stretch>
        </p:blipFill>
        <p:spPr>
          <a:xfrm>
            <a:off x="822960" y="777240"/>
            <a:ext cx="1097280" cy="1172666"/>
          </a:xfrm>
          <a:prstGeom prst="rect">
            <a:avLst/>
          </a:prstGeom>
        </p:spPr>
      </p:pic>
      <p:sp>
        <p:nvSpPr>
          <p:cNvPr id="4" name="TextBox 3"/>
          <p:cNvSpPr txBox="1"/>
          <p:nvPr/>
        </p:nvSpPr>
        <p:spPr>
          <a:xfrm>
            <a:off x="2103120" y="731520"/>
            <a:ext cx="9326880" cy="2011680"/>
          </a:xfrm>
          <a:prstGeom prst="rect">
            <a:avLst/>
          </a:prstGeom>
          <a:noFill/>
        </p:spPr>
        <p:txBody>
          <a:bodyPr wrap="square">
            <a:spAutoFit/>
          </a:bodyPr>
          <a:lstStyle/>
          <a:p>
            <a:pPr>
              <a:defRPr sz="3800" b="1">
                <a:solidFill>
                  <a:srgbClr val="0F172A"/>
                </a:solidFill>
                <a:latin typeface="Calibri"/>
              </a:defRPr>
            </a:pPr>
            <a:r>
              <a:t>SupportSense AI</a:t>
            </a:r>
          </a:p>
          <a:p>
            <a:pPr>
              <a:spcBef>
                <a:spcPts val="400"/>
              </a:spcBef>
              <a:defRPr sz="1800" b="1">
                <a:solidFill>
                  <a:srgbClr val="FD451B"/>
                </a:solidFill>
                <a:latin typeface="Calibri"/>
              </a:defRPr>
            </a:pPr>
            <a:r>
              <a:t>Enterprise Decision-Support &amp; AI-Powered Customer Support Intelligence</a:t>
            </a:r>
          </a:p>
          <a:p>
            <a:pPr>
              <a:spcBef>
                <a:spcPts val="400"/>
              </a:spcBef>
              <a:defRPr sz="1200">
                <a:solidFill>
                  <a:srgbClr val="64748B"/>
                </a:solidFill>
                <a:latin typeface="Calibri"/>
              </a:defRPr>
            </a:pPr>
            <a:r>
              <a:t>Core Philosophy: "AI Assists, Humans Decide" (Human-in-the-Loop Safeguards)</a:t>
            </a:r>
          </a:p>
        </p:txBody>
      </p:sp>
      <p:sp>
        <p:nvSpPr>
          <p:cNvPr id="5" name="Rectangle 4"/>
          <p:cNvSpPr/>
          <p:nvPr/>
        </p:nvSpPr>
        <p:spPr>
          <a:xfrm>
            <a:off x="822960" y="2788920"/>
            <a:ext cx="1054577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60" y="3017520"/>
            <a:ext cx="2514600" cy="3063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3182112"/>
            <a:ext cx="2112264" cy="320040"/>
          </a:xfrm>
          <a:prstGeom prst="rect">
            <a:avLst/>
          </a:prstGeom>
          <a:noFill/>
        </p:spPr>
        <p:txBody>
          <a:bodyPr wrap="square" lIns="0" tIns="0" rIns="0" bIns="0">
            <a:spAutoFit/>
          </a:bodyPr>
          <a:lstStyle/>
          <a:p>
            <a:pPr>
              <a:defRPr sz="1200" b="1">
                <a:solidFill>
                  <a:srgbClr val="0F172A"/>
                </a:solidFill>
                <a:latin typeface="Calibri"/>
              </a:defRPr>
            </a:pPr>
            <a:r>
              <a:t>Rohan Salkar</a:t>
            </a:r>
          </a:p>
          <a:p>
            <a:pPr>
              <a:defRPr sz="950">
                <a:solidFill>
                  <a:srgbClr val="64748B"/>
                </a:solidFill>
                <a:latin typeface="Calibri"/>
              </a:defRPr>
            </a:pPr>
            <a:r>
              <a:t>Frontend &amp; UI/UX Lead</a:t>
            </a:r>
          </a:p>
        </p:txBody>
      </p:sp>
      <p:sp>
        <p:nvSpPr>
          <p:cNvPr id="8" name="TextBox 7"/>
          <p:cNvSpPr txBox="1"/>
          <p:nvPr/>
        </p:nvSpPr>
        <p:spPr>
          <a:xfrm>
            <a:off x="1005840" y="3886200"/>
            <a:ext cx="2148840" cy="2011680"/>
          </a:xfrm>
          <a:prstGeom prst="rect">
            <a:avLst/>
          </a:prstGeom>
          <a:noFill/>
        </p:spPr>
        <p:txBody>
          <a:bodyPr wrap="square" lIns="0" tIns="0" rIns="0" bIns="0">
            <a:spAutoFit/>
          </a:bodyPr>
          <a:lstStyle/>
          <a:p>
            <a:pPr>
              <a:defRPr sz="919">
                <a:solidFill>
                  <a:srgbClr val="334155"/>
                </a:solidFill>
                <a:latin typeface="Calibri"/>
              </a:defRPr>
            </a:pPr>
            <a:r>
              <a:t>Headed React 18 SPA architecture, Tailwind MoonRow design system, dark/light theme switching, responsive layouts, and tone polishing modals.</a:t>
            </a:r>
          </a:p>
        </p:txBody>
      </p:sp>
      <p:sp>
        <p:nvSpPr>
          <p:cNvPr id="9" name="Rounded Rectangle 8"/>
          <p:cNvSpPr/>
          <p:nvPr/>
        </p:nvSpPr>
        <p:spPr>
          <a:xfrm>
            <a:off x="3520440" y="3017520"/>
            <a:ext cx="2514600" cy="306324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21608" y="3182112"/>
            <a:ext cx="2112264" cy="330860"/>
          </a:xfrm>
          <a:prstGeom prst="rect">
            <a:avLst/>
          </a:prstGeom>
          <a:noFill/>
        </p:spPr>
        <p:txBody>
          <a:bodyPr wrap="square" lIns="0" tIns="0" rIns="0" bIns="0">
            <a:spAutoFit/>
          </a:bodyPr>
          <a:lstStyle/>
          <a:p>
            <a:pPr>
              <a:defRPr sz="1200" b="1">
                <a:solidFill>
                  <a:srgbClr val="0F172A"/>
                </a:solidFill>
                <a:latin typeface="Calibri"/>
              </a:defRPr>
            </a:pPr>
            <a:r>
              <a:rPr dirty="0"/>
              <a:t>Yash Sanikop</a:t>
            </a:r>
          </a:p>
          <a:p>
            <a:pPr>
              <a:defRPr sz="950">
                <a:solidFill>
                  <a:srgbClr val="64748B"/>
                </a:solidFill>
                <a:latin typeface="Calibri"/>
              </a:defRPr>
            </a:pPr>
            <a:r>
              <a:rPr dirty="0"/>
              <a:t>Frontend &amp; AI Lead</a:t>
            </a:r>
          </a:p>
        </p:txBody>
      </p:sp>
      <p:sp>
        <p:nvSpPr>
          <p:cNvPr id="11" name="TextBox 10"/>
          <p:cNvSpPr txBox="1"/>
          <p:nvPr/>
        </p:nvSpPr>
        <p:spPr>
          <a:xfrm>
            <a:off x="3703320" y="3886200"/>
            <a:ext cx="2148840" cy="2011680"/>
          </a:xfrm>
          <a:prstGeom prst="rect">
            <a:avLst/>
          </a:prstGeom>
          <a:noFill/>
        </p:spPr>
        <p:txBody>
          <a:bodyPr wrap="square" lIns="0" tIns="0" rIns="0" bIns="0">
            <a:spAutoFit/>
          </a:bodyPr>
          <a:lstStyle/>
          <a:p>
            <a:pPr>
              <a:defRPr sz="919">
                <a:solidFill>
                  <a:srgbClr val="334155"/>
                </a:solidFill>
                <a:latin typeface="Calibri"/>
              </a:defRPr>
            </a:pPr>
            <a:r>
              <a:t>Responsible for FastAPI microservice, Gemini 1.5 Flash SDK, model pooling, TTL caching, prompt engineering, and conversational AI concierge widgets.</a:t>
            </a:r>
          </a:p>
        </p:txBody>
      </p:sp>
      <p:sp>
        <p:nvSpPr>
          <p:cNvPr id="12" name="Rounded Rectangle 11"/>
          <p:cNvSpPr/>
          <p:nvPr/>
        </p:nvSpPr>
        <p:spPr>
          <a:xfrm>
            <a:off x="6217920" y="3017520"/>
            <a:ext cx="2514600" cy="30632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3182112"/>
            <a:ext cx="2112264" cy="320040"/>
          </a:xfrm>
          <a:prstGeom prst="rect">
            <a:avLst/>
          </a:prstGeom>
          <a:noFill/>
        </p:spPr>
        <p:txBody>
          <a:bodyPr wrap="square" lIns="0" tIns="0" rIns="0" bIns="0">
            <a:spAutoFit/>
          </a:bodyPr>
          <a:lstStyle/>
          <a:p>
            <a:pPr>
              <a:defRPr sz="1200" b="1">
                <a:solidFill>
                  <a:srgbClr val="0F172A"/>
                </a:solidFill>
                <a:latin typeface="Calibri"/>
              </a:defRPr>
            </a:pPr>
            <a:r>
              <a:t>Shrujan Mitbavkar</a:t>
            </a:r>
          </a:p>
          <a:p>
            <a:pPr>
              <a:defRPr sz="950">
                <a:solidFill>
                  <a:srgbClr val="64748B"/>
                </a:solidFill>
                <a:latin typeface="Calibri"/>
              </a:defRPr>
            </a:pPr>
            <a:r>
              <a:t>Backend &amp; Database Lead</a:t>
            </a:r>
          </a:p>
        </p:txBody>
      </p:sp>
      <p:sp>
        <p:nvSpPr>
          <p:cNvPr id="14" name="TextBox 13"/>
          <p:cNvSpPr txBox="1"/>
          <p:nvPr/>
        </p:nvSpPr>
        <p:spPr>
          <a:xfrm>
            <a:off x="6400800" y="3886200"/>
            <a:ext cx="2148840" cy="2011680"/>
          </a:xfrm>
          <a:prstGeom prst="rect">
            <a:avLst/>
          </a:prstGeom>
          <a:noFill/>
        </p:spPr>
        <p:txBody>
          <a:bodyPr wrap="square" lIns="0" tIns="0" rIns="0" bIns="0">
            <a:spAutoFit/>
          </a:bodyPr>
          <a:lstStyle/>
          <a:p>
            <a:pPr>
              <a:defRPr sz="919">
                <a:solidFill>
                  <a:srgbClr val="334155"/>
                </a:solidFill>
                <a:latin typeface="Calibri"/>
              </a:defRPr>
            </a:pPr>
            <a:r>
              <a:t>Managed Express REST controllers, PostgreSQL relational schema modeling, database transactions, state machines, and Supabase connection pooling.</a:t>
            </a:r>
          </a:p>
        </p:txBody>
      </p:sp>
      <p:sp>
        <p:nvSpPr>
          <p:cNvPr id="15" name="Rounded Rectangle 14"/>
          <p:cNvSpPr/>
          <p:nvPr/>
        </p:nvSpPr>
        <p:spPr>
          <a:xfrm>
            <a:off x="8915400" y="3017520"/>
            <a:ext cx="2514600" cy="30632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16568" y="3182112"/>
            <a:ext cx="2112264" cy="320040"/>
          </a:xfrm>
          <a:prstGeom prst="rect">
            <a:avLst/>
          </a:prstGeom>
          <a:noFill/>
        </p:spPr>
        <p:txBody>
          <a:bodyPr wrap="square" lIns="0" tIns="0" rIns="0" bIns="0">
            <a:spAutoFit/>
          </a:bodyPr>
          <a:lstStyle/>
          <a:p>
            <a:pPr>
              <a:defRPr sz="1200" b="1">
                <a:solidFill>
                  <a:srgbClr val="0F172A"/>
                </a:solidFill>
                <a:latin typeface="Calibri"/>
              </a:defRPr>
            </a:pPr>
            <a:r>
              <a:t>Aarti Singh</a:t>
            </a:r>
          </a:p>
          <a:p>
            <a:pPr>
              <a:defRPr sz="950">
                <a:solidFill>
                  <a:srgbClr val="64748B"/>
                </a:solidFill>
                <a:latin typeface="Calibri"/>
              </a:defRPr>
            </a:pPr>
            <a:r>
              <a:t>DevOps, QA &amp; Doc Lead</a:t>
            </a:r>
          </a:p>
        </p:txBody>
      </p:sp>
      <p:sp>
        <p:nvSpPr>
          <p:cNvPr id="17" name="TextBox 16"/>
          <p:cNvSpPr txBox="1"/>
          <p:nvPr/>
        </p:nvSpPr>
        <p:spPr>
          <a:xfrm>
            <a:off x="9098280" y="3886200"/>
            <a:ext cx="2148840" cy="2011680"/>
          </a:xfrm>
          <a:prstGeom prst="rect">
            <a:avLst/>
          </a:prstGeom>
          <a:noFill/>
        </p:spPr>
        <p:txBody>
          <a:bodyPr wrap="square" lIns="0" tIns="0" rIns="0" bIns="0">
            <a:spAutoFit/>
          </a:bodyPr>
          <a:lstStyle/>
          <a:p>
            <a:pPr>
              <a:defRPr sz="919">
                <a:solidFill>
                  <a:srgbClr val="334155"/>
                </a:solidFill>
                <a:latin typeface="Calibri"/>
              </a:defRPr>
            </a:pPr>
            <a:r>
              <a:t>Headed Docker containerization, Render Blueprint orchestration, automated Jest/Pytest suites, security hardening, and technical specifications.</a:t>
            </a:r>
          </a:p>
        </p:txBody>
      </p:sp>
      <p:sp>
        <p:nvSpPr>
          <p:cNvPr id="18" name="TextBox 17"/>
          <p:cNvSpPr txBox="1"/>
          <p:nvPr/>
        </p:nvSpPr>
        <p:spPr>
          <a:xfrm>
            <a:off x="822960" y="6217920"/>
            <a:ext cx="4035079" cy="233782"/>
          </a:xfrm>
          <a:prstGeom prst="rect">
            <a:avLst/>
          </a:prstGeom>
          <a:noFill/>
        </p:spPr>
        <p:txBody>
          <a:bodyPr wrap="none">
            <a:spAutoFit/>
          </a:bodyPr>
          <a:lstStyle/>
          <a:p>
            <a:pPr>
              <a:defRPr sz="919">
                <a:solidFill>
                  <a:srgbClr val="64748B"/>
                </a:solidFill>
                <a:latin typeface="Calibri"/>
              </a:defRPr>
            </a:pPr>
            <a:r>
              <a:rPr dirty="0"/>
              <a:t>Persistent Systems Ltd. Internship Program | Industry Mentor: Vishal </a:t>
            </a:r>
            <a:r>
              <a:rPr dirty="0" err="1"/>
              <a:t>Bidikar</a:t>
            </a:r>
            <a:r>
              <a:rPr dirty="0"/>
              <a:t> |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PROBLEM &amp; PRINCIPLE</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The Enterprise Support Crisis &amp; Our Core Solution</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Overcoming high-volume ticket chaos with intelligent Human-in-the-Loop decision support.</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02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3474720" cy="2011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3072384" cy="320040"/>
          </a:xfrm>
          <a:prstGeom prst="rect">
            <a:avLst/>
          </a:prstGeom>
          <a:noFill/>
        </p:spPr>
        <p:txBody>
          <a:bodyPr wrap="square" lIns="0" tIns="0" rIns="0" bIns="0">
            <a:spAutoFit/>
          </a:bodyPr>
          <a:lstStyle/>
          <a:p>
            <a:pPr>
              <a:defRPr sz="1200" b="1">
                <a:solidFill>
                  <a:srgbClr val="0F172A"/>
                </a:solidFill>
                <a:latin typeface="Calibri"/>
              </a:defRPr>
            </a:pPr>
            <a:r>
              <a:t>Ticket Overload &amp; Fragmentation</a:t>
            </a:r>
          </a:p>
        </p:txBody>
      </p:sp>
      <p:sp>
        <p:nvSpPr>
          <p:cNvPr id="12" name="TextBox 11"/>
          <p:cNvSpPr txBox="1"/>
          <p:nvPr/>
        </p:nvSpPr>
        <p:spPr>
          <a:xfrm>
            <a:off x="932688" y="2240280"/>
            <a:ext cx="3072384" cy="1280160"/>
          </a:xfrm>
          <a:prstGeom prst="rect">
            <a:avLst/>
          </a:prstGeom>
          <a:noFill/>
        </p:spPr>
        <p:txBody>
          <a:bodyPr wrap="square" lIns="0" tIns="0" rIns="0" bIns="0">
            <a:spAutoFit/>
          </a:bodyPr>
          <a:lstStyle/>
          <a:p>
            <a:pPr>
              <a:defRPr sz="1050">
                <a:solidFill>
                  <a:srgbClr val="334155"/>
                </a:solidFill>
                <a:latin typeface="Calibri"/>
              </a:defRPr>
            </a:pPr>
            <a:r>
              <a:t>Support queues are flooded with unstructured, repetitive inquiries across multiple channels.</a:t>
            </a:r>
          </a:p>
        </p:txBody>
      </p:sp>
      <p:sp>
        <p:nvSpPr>
          <p:cNvPr id="13" name="Rounded Rectangle 12"/>
          <p:cNvSpPr/>
          <p:nvPr/>
        </p:nvSpPr>
        <p:spPr>
          <a:xfrm>
            <a:off x="4343400" y="1691640"/>
            <a:ext cx="3474720" cy="201168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856232"/>
            <a:ext cx="3072384" cy="320040"/>
          </a:xfrm>
          <a:prstGeom prst="rect">
            <a:avLst/>
          </a:prstGeom>
          <a:noFill/>
        </p:spPr>
        <p:txBody>
          <a:bodyPr wrap="square" lIns="0" tIns="0" rIns="0" bIns="0">
            <a:spAutoFit/>
          </a:bodyPr>
          <a:lstStyle/>
          <a:p>
            <a:pPr>
              <a:defRPr sz="1200" b="1">
                <a:solidFill>
                  <a:srgbClr val="0F172A"/>
                </a:solidFill>
                <a:latin typeface="Calibri"/>
              </a:defRPr>
            </a:pPr>
            <a:r>
              <a:t>Agent Burnout &amp; Cognitive Drain</a:t>
            </a:r>
          </a:p>
        </p:txBody>
      </p:sp>
      <p:sp>
        <p:nvSpPr>
          <p:cNvPr id="15" name="TextBox 14"/>
          <p:cNvSpPr txBox="1"/>
          <p:nvPr/>
        </p:nvSpPr>
        <p:spPr>
          <a:xfrm>
            <a:off x="4544568" y="2240280"/>
            <a:ext cx="3072384" cy="1280160"/>
          </a:xfrm>
          <a:prstGeom prst="rect">
            <a:avLst/>
          </a:prstGeom>
          <a:noFill/>
        </p:spPr>
        <p:txBody>
          <a:bodyPr wrap="square" lIns="0" tIns="0" rIns="0" bIns="0">
            <a:spAutoFit/>
          </a:bodyPr>
          <a:lstStyle/>
          <a:p>
            <a:pPr>
              <a:defRPr sz="1050">
                <a:solidFill>
                  <a:srgbClr val="334155"/>
                </a:solidFill>
                <a:latin typeface="Calibri"/>
              </a:defRPr>
            </a:pPr>
            <a:r>
              <a:t>Human agents waste 40% of their day on repetitive triage and tagging instead of solving complex issues.</a:t>
            </a:r>
          </a:p>
        </p:txBody>
      </p:sp>
      <p:sp>
        <p:nvSpPr>
          <p:cNvPr id="16" name="Rounded Rectangle 15"/>
          <p:cNvSpPr/>
          <p:nvPr/>
        </p:nvSpPr>
        <p:spPr>
          <a:xfrm>
            <a:off x="7955280" y="1691640"/>
            <a:ext cx="3474720" cy="20116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56448" y="1856232"/>
            <a:ext cx="3072384" cy="320040"/>
          </a:xfrm>
          <a:prstGeom prst="rect">
            <a:avLst/>
          </a:prstGeom>
          <a:noFill/>
        </p:spPr>
        <p:txBody>
          <a:bodyPr wrap="square" lIns="0" tIns="0" rIns="0" bIns="0">
            <a:spAutoFit/>
          </a:bodyPr>
          <a:lstStyle/>
          <a:p>
            <a:pPr>
              <a:defRPr sz="1200" b="1">
                <a:solidFill>
                  <a:srgbClr val="0F172A"/>
                </a:solidFill>
                <a:latin typeface="Calibri"/>
              </a:defRPr>
            </a:pPr>
            <a:r>
              <a:t>Sluggish First Response Time (FRT)</a:t>
            </a:r>
          </a:p>
        </p:txBody>
      </p:sp>
      <p:sp>
        <p:nvSpPr>
          <p:cNvPr id="18" name="TextBox 17"/>
          <p:cNvSpPr txBox="1"/>
          <p:nvPr/>
        </p:nvSpPr>
        <p:spPr>
          <a:xfrm>
            <a:off x="8156448" y="2240280"/>
            <a:ext cx="3072384" cy="1280160"/>
          </a:xfrm>
          <a:prstGeom prst="rect">
            <a:avLst/>
          </a:prstGeom>
          <a:noFill/>
        </p:spPr>
        <p:txBody>
          <a:bodyPr wrap="square" lIns="0" tIns="0" rIns="0" bIns="0">
            <a:spAutoFit/>
          </a:bodyPr>
          <a:lstStyle/>
          <a:p>
            <a:pPr>
              <a:defRPr sz="1050">
                <a:solidFill>
                  <a:srgbClr val="334155"/>
                </a:solidFill>
                <a:latin typeface="Calibri"/>
              </a:defRPr>
            </a:pPr>
            <a:r>
              <a:t>8 to 14-hour delays in initial triage trigger SLA penalties and drive customer churn.</a:t>
            </a:r>
          </a:p>
        </p:txBody>
      </p:sp>
      <p:sp>
        <p:nvSpPr>
          <p:cNvPr id="19" name="Rounded Rectangle 18"/>
          <p:cNvSpPr/>
          <p:nvPr/>
        </p:nvSpPr>
        <p:spPr>
          <a:xfrm>
            <a:off x="731520" y="3931920"/>
            <a:ext cx="10728655" cy="23317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4096511"/>
            <a:ext cx="10326319" cy="320040"/>
          </a:xfrm>
          <a:prstGeom prst="rect">
            <a:avLst/>
          </a:prstGeom>
          <a:noFill/>
        </p:spPr>
        <p:txBody>
          <a:bodyPr wrap="square" lIns="0" tIns="0" rIns="0" bIns="0">
            <a:spAutoFit/>
          </a:bodyPr>
          <a:lstStyle/>
          <a:p>
            <a:pPr>
              <a:defRPr sz="1200" b="1">
                <a:solidFill>
                  <a:srgbClr val="0F172A"/>
                </a:solidFill>
                <a:latin typeface="Calibri"/>
              </a:defRPr>
            </a:pPr>
            <a:r>
              <a:t>Our Solution: Human-in-the-Loop (HITL) Intelligence</a:t>
            </a:r>
          </a:p>
          <a:p>
            <a:pPr>
              <a:defRPr sz="950">
                <a:solidFill>
                  <a:srgbClr val="64748B"/>
                </a:solidFill>
                <a:latin typeface="Calibri"/>
              </a:defRPr>
            </a:pPr>
            <a:r>
              <a:t>AI Assists, Humans Decide — Zero Unvetted Autonomous Actions</a:t>
            </a:r>
          </a:p>
        </p:txBody>
      </p:sp>
      <p:sp>
        <p:nvSpPr>
          <p:cNvPr id="21" name="TextBox 20"/>
          <p:cNvSpPr txBox="1"/>
          <p:nvPr/>
        </p:nvSpPr>
        <p:spPr>
          <a:xfrm>
            <a:off x="960120" y="4572000"/>
            <a:ext cx="10241280" cy="1554480"/>
          </a:xfrm>
          <a:prstGeom prst="rect">
            <a:avLst/>
          </a:prstGeom>
          <a:noFill/>
        </p:spPr>
        <p:txBody>
          <a:bodyPr wrap="square" lIns="0" tIns="0" rIns="0" bIns="0">
            <a:spAutoFit/>
          </a:bodyPr>
          <a:lstStyle/>
          <a:p>
            <a:pPr>
              <a:spcBef>
                <a:spcPts val="500"/>
              </a:spcBef>
            </a:pPr>
            <a:r>
              <a:rPr sz="1050" b="1">
                <a:solidFill>
                  <a:srgbClr val="0F172A"/>
                </a:solidFill>
                <a:latin typeface="Calibri"/>
              </a:rPr>
              <a:t>•  Cognitive Amplification: </a:t>
            </a:r>
            <a:r>
              <a:rPr sz="1050">
                <a:solidFill>
                  <a:srgbClr val="334155"/>
                </a:solidFill>
                <a:latin typeface="Calibri"/>
              </a:rPr>
              <a:t>AI absorbs overhead—parsing logs, classifying priority, and drafting replies, freeing agents for high-value issues.</a:t>
            </a:r>
          </a:p>
          <a:p>
            <a:pPr>
              <a:spcBef>
                <a:spcPts val="500"/>
              </a:spcBef>
            </a:pPr>
            <a:r>
              <a:rPr sz="1050" b="1">
                <a:solidFill>
                  <a:srgbClr val="0F172A"/>
                </a:solidFill>
                <a:latin typeface="Calibri"/>
              </a:rPr>
              <a:t>•  Empathy Preservation: </a:t>
            </a:r>
            <a:r>
              <a:rPr sz="1050">
                <a:solidFill>
                  <a:srgbClr val="334155"/>
                </a:solidFill>
                <a:latin typeface="Calibri"/>
              </a:rPr>
              <a:t>The human agent remains the empathetic decision-maker, reviewing drafts and approving actions with 1 click.</a:t>
            </a:r>
          </a:p>
          <a:p>
            <a:pPr>
              <a:spcBef>
                <a:spcPts val="500"/>
              </a:spcBef>
            </a:pPr>
            <a:r>
              <a:rPr sz="1050" b="1">
                <a:solidFill>
                  <a:srgbClr val="0F172A"/>
                </a:solidFill>
                <a:latin typeface="Calibri"/>
              </a:rPr>
              <a:t>•  Strict Bounded Safety: </a:t>
            </a:r>
            <a:r>
              <a:rPr sz="1050">
                <a:solidFill>
                  <a:srgbClr val="334155"/>
                </a:solidFill>
                <a:latin typeface="Calibri"/>
              </a:rPr>
              <a:t>AI never issues refunds, edits databases, or contacts customers without human agent verification.</a:t>
            </a:r>
          </a:p>
          <a:p>
            <a:pPr>
              <a:spcBef>
                <a:spcPts val="500"/>
              </a:spcBef>
            </a:pPr>
            <a:r>
              <a:rPr sz="1050" b="1">
                <a:solidFill>
                  <a:srgbClr val="0F172A"/>
                </a:solidFill>
                <a:latin typeface="Calibri"/>
              </a:rPr>
              <a:t>•  Zero Vendor Lock-In: </a:t>
            </a:r>
            <a:r>
              <a:rPr sz="1050">
                <a:solidFill>
                  <a:srgbClr val="334155"/>
                </a:solidFill>
                <a:latin typeface="Calibri"/>
              </a:rPr>
              <a:t>100% self-hostable Docker architecture with total client data sovereignty, slashing SaaS costs by over 80%.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SYSTEM WORKFLOW</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End-to-End Workflow: How SupportSense AI Operates</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A 4-step human-centric pipeline transforming unstructured requests into resolved tickets.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03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2450592" cy="29260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2048256" cy="320040"/>
          </a:xfrm>
          <a:prstGeom prst="rect">
            <a:avLst/>
          </a:prstGeom>
          <a:noFill/>
        </p:spPr>
        <p:txBody>
          <a:bodyPr wrap="square" lIns="0" tIns="0" rIns="0" bIns="0">
            <a:spAutoFit/>
          </a:bodyPr>
          <a:lstStyle/>
          <a:p>
            <a:pPr>
              <a:defRPr sz="1200" b="1">
                <a:solidFill>
                  <a:srgbClr val="0F172A"/>
                </a:solidFill>
                <a:latin typeface="Calibri"/>
              </a:defRPr>
            </a:pPr>
            <a:r>
              <a:t>1. Intelligent Intake</a:t>
            </a:r>
          </a:p>
        </p:txBody>
      </p:sp>
      <p:sp>
        <p:nvSpPr>
          <p:cNvPr id="12" name="TextBox 11"/>
          <p:cNvSpPr txBox="1"/>
          <p:nvPr/>
        </p:nvSpPr>
        <p:spPr>
          <a:xfrm>
            <a:off x="896112" y="2331720"/>
            <a:ext cx="2121408" cy="2103120"/>
          </a:xfrm>
          <a:prstGeom prst="rect">
            <a:avLst/>
          </a:prstGeom>
          <a:noFill/>
        </p:spPr>
        <p:txBody>
          <a:bodyPr wrap="square" lIns="0" tIns="0" rIns="0" bIns="0">
            <a:spAutoFit/>
          </a:bodyPr>
          <a:lstStyle/>
          <a:p>
            <a:pPr>
              <a:defRPr sz="1000">
                <a:solidFill>
                  <a:srgbClr val="334155"/>
                </a:solidFill>
                <a:latin typeface="Calibri"/>
              </a:defRPr>
            </a:pPr>
            <a:r>
              <a:t>Customers interact via Conversational AI Concierge or Portal. Natural language chats are converted into structured formal tickets.</a:t>
            </a:r>
          </a:p>
        </p:txBody>
      </p:sp>
      <p:sp>
        <p:nvSpPr>
          <p:cNvPr id="13" name="TextBox 12"/>
          <p:cNvSpPr txBox="1"/>
          <p:nvPr/>
        </p:nvSpPr>
        <p:spPr>
          <a:xfrm>
            <a:off x="318211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14" name="Rounded Rectangle 13"/>
          <p:cNvSpPr/>
          <p:nvPr/>
        </p:nvSpPr>
        <p:spPr>
          <a:xfrm>
            <a:off x="3429000" y="1691640"/>
            <a:ext cx="2450592" cy="292608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0168" y="1856232"/>
            <a:ext cx="2048256" cy="320040"/>
          </a:xfrm>
          <a:prstGeom prst="rect">
            <a:avLst/>
          </a:prstGeom>
          <a:noFill/>
        </p:spPr>
        <p:txBody>
          <a:bodyPr wrap="square" lIns="0" tIns="0" rIns="0" bIns="0">
            <a:spAutoFit/>
          </a:bodyPr>
          <a:lstStyle/>
          <a:p>
            <a:pPr>
              <a:defRPr sz="1200" b="1">
                <a:solidFill>
                  <a:srgbClr val="0F172A"/>
                </a:solidFill>
                <a:latin typeface="Calibri"/>
              </a:defRPr>
            </a:pPr>
            <a:r>
              <a:t>2. AI-Powered Triage</a:t>
            </a:r>
          </a:p>
        </p:txBody>
      </p:sp>
      <p:sp>
        <p:nvSpPr>
          <p:cNvPr id="16" name="TextBox 15"/>
          <p:cNvSpPr txBox="1"/>
          <p:nvPr/>
        </p:nvSpPr>
        <p:spPr>
          <a:xfrm>
            <a:off x="3593592" y="2331720"/>
            <a:ext cx="2121408" cy="2103120"/>
          </a:xfrm>
          <a:prstGeom prst="rect">
            <a:avLst/>
          </a:prstGeom>
          <a:noFill/>
        </p:spPr>
        <p:txBody>
          <a:bodyPr wrap="square" lIns="0" tIns="0" rIns="0" bIns="0">
            <a:spAutoFit/>
          </a:bodyPr>
          <a:lstStyle/>
          <a:p>
            <a:pPr>
              <a:defRPr sz="1000">
                <a:solidFill>
                  <a:srgbClr val="334155"/>
                </a:solidFill>
                <a:latin typeface="Calibri"/>
              </a:defRPr>
            </a:pPr>
            <a:r>
              <a:t>FastAPI + Gemini microservice classifies category, sentiment, and urgency in &lt; 420ms, routing to the correct department queue.</a:t>
            </a:r>
          </a:p>
        </p:txBody>
      </p:sp>
      <p:sp>
        <p:nvSpPr>
          <p:cNvPr id="17" name="TextBox 16"/>
          <p:cNvSpPr txBox="1"/>
          <p:nvPr/>
        </p:nvSpPr>
        <p:spPr>
          <a:xfrm>
            <a:off x="587959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18" name="Rounded Rectangle 17"/>
          <p:cNvSpPr/>
          <p:nvPr/>
        </p:nvSpPr>
        <p:spPr>
          <a:xfrm>
            <a:off x="6126480" y="1691640"/>
            <a:ext cx="2450592" cy="29260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1856232"/>
            <a:ext cx="2048256" cy="320040"/>
          </a:xfrm>
          <a:prstGeom prst="rect">
            <a:avLst/>
          </a:prstGeom>
          <a:noFill/>
        </p:spPr>
        <p:txBody>
          <a:bodyPr wrap="square" lIns="0" tIns="0" rIns="0" bIns="0">
            <a:spAutoFit/>
          </a:bodyPr>
          <a:lstStyle/>
          <a:p>
            <a:pPr>
              <a:defRPr sz="1200" b="1">
                <a:solidFill>
                  <a:srgbClr val="0F172A"/>
                </a:solidFill>
                <a:latin typeface="Calibri"/>
              </a:defRPr>
            </a:pPr>
            <a:r>
              <a:t>3. Agent Cockpit Assist</a:t>
            </a:r>
          </a:p>
        </p:txBody>
      </p:sp>
      <p:sp>
        <p:nvSpPr>
          <p:cNvPr id="20" name="TextBox 19"/>
          <p:cNvSpPr txBox="1"/>
          <p:nvPr/>
        </p:nvSpPr>
        <p:spPr>
          <a:xfrm>
            <a:off x="6291072" y="2331720"/>
            <a:ext cx="2121408" cy="2103120"/>
          </a:xfrm>
          <a:prstGeom prst="rect">
            <a:avLst/>
          </a:prstGeom>
          <a:noFill/>
        </p:spPr>
        <p:txBody>
          <a:bodyPr wrap="square" lIns="0" tIns="0" rIns="0" bIns="0">
            <a:spAutoFit/>
          </a:bodyPr>
          <a:lstStyle/>
          <a:p>
            <a:pPr>
              <a:defRPr sz="1000">
                <a:solidFill>
                  <a:srgbClr val="334155"/>
                </a:solidFill>
                <a:latin typeface="Calibri"/>
              </a:defRPr>
            </a:pPr>
            <a:r>
              <a:t>Agent opens the dual-pane workbench with a live customer patience meter, diagnostic checklists, and 1-click tone refiners.</a:t>
            </a:r>
          </a:p>
        </p:txBody>
      </p:sp>
      <p:sp>
        <p:nvSpPr>
          <p:cNvPr id="21" name="TextBox 20"/>
          <p:cNvSpPr txBox="1"/>
          <p:nvPr/>
        </p:nvSpPr>
        <p:spPr>
          <a:xfrm>
            <a:off x="857707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22" name="Rounded Rectangle 21"/>
          <p:cNvSpPr/>
          <p:nvPr/>
        </p:nvSpPr>
        <p:spPr>
          <a:xfrm>
            <a:off x="8823960" y="1691640"/>
            <a:ext cx="2450592" cy="29260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25128" y="1856232"/>
            <a:ext cx="2048256" cy="320040"/>
          </a:xfrm>
          <a:prstGeom prst="rect">
            <a:avLst/>
          </a:prstGeom>
          <a:noFill/>
        </p:spPr>
        <p:txBody>
          <a:bodyPr wrap="square" lIns="0" tIns="0" rIns="0" bIns="0">
            <a:spAutoFit/>
          </a:bodyPr>
          <a:lstStyle/>
          <a:p>
            <a:pPr>
              <a:defRPr sz="1200" b="1">
                <a:solidFill>
                  <a:srgbClr val="0F172A"/>
                </a:solidFill>
                <a:latin typeface="Calibri"/>
              </a:defRPr>
            </a:pPr>
            <a:r>
              <a:t>4. Human Approval &amp; Close</a:t>
            </a:r>
          </a:p>
        </p:txBody>
      </p:sp>
      <p:sp>
        <p:nvSpPr>
          <p:cNvPr id="24" name="TextBox 23"/>
          <p:cNvSpPr txBox="1"/>
          <p:nvPr/>
        </p:nvSpPr>
        <p:spPr>
          <a:xfrm>
            <a:off x="8988552" y="2331720"/>
            <a:ext cx="2121408" cy="2103120"/>
          </a:xfrm>
          <a:prstGeom prst="rect">
            <a:avLst/>
          </a:prstGeom>
          <a:noFill/>
        </p:spPr>
        <p:txBody>
          <a:bodyPr wrap="square" lIns="0" tIns="0" rIns="0" bIns="0">
            <a:spAutoFit/>
          </a:bodyPr>
          <a:lstStyle/>
          <a:p>
            <a:pPr>
              <a:defRPr sz="1000">
                <a:solidFill>
                  <a:srgbClr val="334155"/>
                </a:solidFill>
                <a:latin typeface="Calibri"/>
              </a:defRPr>
            </a:pPr>
            <a:r>
              <a:t>Agent verifies AI recommendations, customizes replies with 1-click tone polisher, and approves resolution safely.</a:t>
            </a:r>
          </a:p>
        </p:txBody>
      </p:sp>
      <p:sp>
        <p:nvSpPr>
          <p:cNvPr id="25" name="Rounded Rectangle 24"/>
          <p:cNvSpPr/>
          <p:nvPr/>
        </p:nvSpPr>
        <p:spPr>
          <a:xfrm>
            <a:off x="731520" y="4800600"/>
            <a:ext cx="107286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2688" y="4965192"/>
            <a:ext cx="10326319" cy="320040"/>
          </a:xfrm>
          <a:prstGeom prst="rect">
            <a:avLst/>
          </a:prstGeom>
          <a:noFill/>
        </p:spPr>
        <p:txBody>
          <a:bodyPr wrap="square" lIns="0" tIns="0" rIns="0" bIns="0">
            <a:spAutoFit/>
          </a:bodyPr>
          <a:lstStyle/>
          <a:p>
            <a:pPr>
              <a:defRPr sz="1200" b="1">
                <a:solidFill>
                  <a:srgbClr val="0F172A"/>
                </a:solidFill>
                <a:latin typeface="Calibri"/>
              </a:defRPr>
            </a:pPr>
            <a:r>
              <a:t>The Operational Result: 75% Faster Resolutions with 100% Control</a:t>
            </a:r>
          </a:p>
          <a:p>
            <a:pPr>
              <a:defRPr sz="950">
                <a:solidFill>
                  <a:srgbClr val="64748B"/>
                </a:solidFill>
                <a:latin typeface="Calibri"/>
              </a:defRPr>
            </a:pPr>
            <a:r>
              <a:t>Bridging the gap between speed and safety</a:t>
            </a:r>
          </a:p>
        </p:txBody>
      </p:sp>
      <p:sp>
        <p:nvSpPr>
          <p:cNvPr id="27" name="TextBox 26"/>
          <p:cNvSpPr txBox="1"/>
          <p:nvPr/>
        </p:nvSpPr>
        <p:spPr>
          <a:xfrm>
            <a:off x="960120" y="5257800"/>
            <a:ext cx="10241280" cy="868680"/>
          </a:xfrm>
          <a:prstGeom prst="rect">
            <a:avLst/>
          </a:prstGeom>
          <a:noFill/>
        </p:spPr>
        <p:txBody>
          <a:bodyPr wrap="square" lIns="0" tIns="0" rIns="0" bIns="0">
            <a:spAutoFit/>
          </a:bodyPr>
          <a:lstStyle/>
          <a:p>
            <a:pPr>
              <a:spcBef>
                <a:spcPts val="300"/>
              </a:spcBef>
            </a:pPr>
            <a:r>
              <a:rPr sz="1000" b="1">
                <a:solidFill>
                  <a:srgbClr val="0F172A"/>
                </a:solidFill>
                <a:latin typeface="Calibri"/>
              </a:rPr>
              <a:t>•  Real-Time Telemetry: </a:t>
            </a:r>
            <a:r>
              <a:rPr sz="1000">
                <a:solidFill>
                  <a:srgbClr val="334155"/>
                </a:solidFill>
                <a:latin typeface="Calibri"/>
              </a:rPr>
              <a:t>Instant sentiment degradation tracking prevents customer churn before SLA breach occurs.</a:t>
            </a:r>
          </a:p>
          <a:p>
            <a:pPr>
              <a:spcBef>
                <a:spcPts val="300"/>
              </a:spcBef>
            </a:pPr>
            <a:r>
              <a:rPr sz="1000" b="1">
                <a:solidFill>
                  <a:srgbClr val="0F172A"/>
                </a:solidFill>
                <a:latin typeface="Calibri"/>
              </a:rPr>
              <a:t>•  Atomic State Progression: </a:t>
            </a:r>
            <a:r>
              <a:rPr sz="1000">
                <a:solidFill>
                  <a:srgbClr val="334155"/>
                </a:solidFill>
                <a:latin typeface="Calibri"/>
              </a:rPr>
              <a:t>Strict status state machine (OPEN ➔ IN_PROGRESS ➔ RESOLVED) guarantees clean operational governance.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FRONTEND EXPERIENCE</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The Agent Co-Pilot Cockpit: Dual-Pane Operational Interface</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Crafted with React 18, Tailwind MoonRow design, dynamic checklists, and sentiment telemetry.</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04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4389120"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3986783" cy="320040"/>
          </a:xfrm>
          <a:prstGeom prst="rect">
            <a:avLst/>
          </a:prstGeom>
          <a:noFill/>
        </p:spPr>
        <p:txBody>
          <a:bodyPr wrap="square" lIns="0" tIns="0" rIns="0" bIns="0">
            <a:spAutoFit/>
          </a:bodyPr>
          <a:lstStyle/>
          <a:p>
            <a:pPr>
              <a:defRPr sz="1200" b="1">
                <a:solidFill>
                  <a:srgbClr val="0F172A"/>
                </a:solidFill>
                <a:latin typeface="Calibri"/>
              </a:defRPr>
            </a:pPr>
            <a:r>
              <a:t>Dual-Pane Layout &amp; Safety Rails</a:t>
            </a:r>
          </a:p>
          <a:p>
            <a:pPr>
              <a:defRPr sz="950">
                <a:solidFill>
                  <a:srgbClr val="64748B"/>
                </a:solidFill>
                <a:latin typeface="Calibri"/>
              </a:defRPr>
            </a:pPr>
            <a:r>
              <a:t>MoonRow-inspired enterprise aesthetic</a:t>
            </a:r>
          </a:p>
        </p:txBody>
      </p:sp>
      <p:sp>
        <p:nvSpPr>
          <p:cNvPr id="12" name="TextBox 11"/>
          <p:cNvSpPr txBox="1"/>
          <p:nvPr/>
        </p:nvSpPr>
        <p:spPr>
          <a:xfrm>
            <a:off x="914400" y="2286000"/>
            <a:ext cx="402336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React 18 SPA + MoonRow Design: </a:t>
            </a:r>
            <a:r>
              <a:rPr sz="1000">
                <a:solidFill>
                  <a:srgbClr val="334155"/>
                </a:solidFill>
                <a:latin typeface="Calibri"/>
              </a:rPr>
              <a:t>Vite build toolchain; WCAG 2.1 AA compliant contrast (4.5:1) with zero-layout-shift theming.</a:t>
            </a:r>
          </a:p>
          <a:p>
            <a:pPr>
              <a:spcBef>
                <a:spcPts val="500"/>
              </a:spcBef>
            </a:pPr>
            <a:r>
              <a:rPr sz="1000" b="1">
                <a:solidFill>
                  <a:srgbClr val="0F172A"/>
                </a:solidFill>
                <a:latin typeface="Calibri"/>
              </a:rPr>
              <a:t>•  Customer Mood &amp; Patience Meter: </a:t>
            </a:r>
            <a:r>
              <a:rPr sz="1000">
                <a:solidFill>
                  <a:srgbClr val="334155"/>
                </a:solidFill>
                <a:latin typeface="Calibri"/>
              </a:rPr>
              <a:t>Real-time gauge tracks customer frustration level across thread lifespan.</a:t>
            </a:r>
          </a:p>
          <a:p>
            <a:pPr>
              <a:spcBef>
                <a:spcPts val="500"/>
              </a:spcBef>
            </a:pPr>
            <a:r>
              <a:rPr sz="1000" b="1">
                <a:solidFill>
                  <a:srgbClr val="0F172A"/>
                </a:solidFill>
                <a:latin typeface="Calibri"/>
              </a:rPr>
              <a:t>•  Dynamic Actionable Checklists: </a:t>
            </a:r>
            <a:r>
              <a:rPr sz="1000">
                <a:solidFill>
                  <a:srgbClr val="334155"/>
                </a:solidFill>
                <a:latin typeface="Calibri"/>
              </a:rPr>
              <a:t>Generates 3–5 tailored verification steps per category, saving state to PostgreSQL via PATCH API.</a:t>
            </a:r>
          </a:p>
          <a:p>
            <a:pPr>
              <a:spcBef>
                <a:spcPts val="500"/>
              </a:spcBef>
            </a:pPr>
            <a:r>
              <a:rPr sz="1000" b="1">
                <a:solidFill>
                  <a:srgbClr val="0F172A"/>
                </a:solidFill>
                <a:latin typeface="Calibri"/>
              </a:rPr>
              <a:t>•  🔒 Private Internal Staff Notes: </a:t>
            </a:r>
            <a:r>
              <a:rPr sz="1000">
                <a:solidFill>
                  <a:srgbClr val="334155"/>
                </a:solidFill>
                <a:latin typeface="Calibri"/>
              </a:rPr>
              <a:t>Amber-bordered staff notes strictly isolated from customer view to prevent data leaks.</a:t>
            </a:r>
          </a:p>
          <a:p>
            <a:pPr>
              <a:spcBef>
                <a:spcPts val="500"/>
              </a:spcBef>
            </a:pPr>
            <a:r>
              <a:rPr sz="1000" b="1">
                <a:solidFill>
                  <a:srgbClr val="0F172A"/>
                </a:solidFill>
                <a:latin typeface="Calibri"/>
              </a:rPr>
              <a:t>•  1-Click AI Tone Polisher: </a:t>
            </a:r>
            <a:r>
              <a:rPr sz="1000">
                <a:solidFill>
                  <a:srgbClr val="334155"/>
                </a:solidFill>
                <a:latin typeface="Calibri"/>
              </a:rPr>
              <a:t>Instantly refines rough notes into Empathetic, Concise, Formal, or Technical styles with 3-variation cycling.</a:t>
            </a:r>
          </a:p>
        </p:txBody>
      </p:sp>
      <p:sp>
        <p:nvSpPr>
          <p:cNvPr id="13" name="Rounded Rectangle 12"/>
          <p:cNvSpPr/>
          <p:nvPr/>
        </p:nvSpPr>
        <p:spPr>
          <a:xfrm>
            <a:off x="5303520" y="1691640"/>
            <a:ext cx="6156655"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04688" y="1856232"/>
            <a:ext cx="5754319" cy="320040"/>
          </a:xfrm>
          <a:prstGeom prst="rect">
            <a:avLst/>
          </a:prstGeom>
          <a:noFill/>
        </p:spPr>
        <p:txBody>
          <a:bodyPr wrap="square" lIns="0" tIns="0" rIns="0" bIns="0">
            <a:spAutoFit/>
          </a:bodyPr>
          <a:lstStyle/>
          <a:p>
            <a:pPr>
              <a:defRPr sz="1200" b="1">
                <a:solidFill>
                  <a:srgbClr val="0F172A"/>
                </a:solidFill>
                <a:latin typeface="Calibri"/>
              </a:defRPr>
            </a:pPr>
            <a:r>
              <a:t>Live Production: Dual-Pane Agent Workbench</a:t>
            </a:r>
          </a:p>
          <a:p>
            <a:pPr>
              <a:defRPr sz="950">
                <a:solidFill>
                  <a:srgbClr val="64748B"/>
                </a:solidFill>
                <a:latin typeface="Calibri"/>
              </a:defRPr>
            </a:pPr>
            <a:r>
              <a:t>Live from https://supportsense-frontend.onrender.com</a:t>
            </a:r>
          </a:p>
        </p:txBody>
      </p:sp>
      <p:sp>
        <p:nvSpPr>
          <p:cNvPr id="15" name="Rounded Rectangle 14"/>
          <p:cNvSpPr/>
          <p:nvPr/>
        </p:nvSpPr>
        <p:spPr>
          <a:xfrm>
            <a:off x="5404104" y="2249424"/>
            <a:ext cx="5955487" cy="381304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agent_workbench_live.png"/>
          <p:cNvPicPr>
            <a:picLocks noChangeAspect="1"/>
          </p:cNvPicPr>
          <p:nvPr/>
        </p:nvPicPr>
        <p:blipFill>
          <a:blip r:embed="rId3"/>
          <a:stretch>
            <a:fillRect/>
          </a:stretch>
        </p:blipFill>
        <p:spPr>
          <a:xfrm>
            <a:off x="5440680" y="2286000"/>
            <a:ext cx="5882335" cy="3520440"/>
          </a:xfrm>
          <a:prstGeom prst="rect">
            <a:avLst/>
          </a:prstGeom>
        </p:spPr>
      </p:pic>
      <p:sp>
        <p:nvSpPr>
          <p:cNvPr id="17" name="TextBox 16"/>
          <p:cNvSpPr txBox="1"/>
          <p:nvPr/>
        </p:nvSpPr>
        <p:spPr>
          <a:xfrm>
            <a:off x="5440680" y="5824727"/>
            <a:ext cx="5882335" cy="256032"/>
          </a:xfrm>
          <a:prstGeom prst="rect">
            <a:avLst/>
          </a:prstGeom>
          <a:noFill/>
        </p:spPr>
        <p:txBody>
          <a:bodyPr wrap="square" lIns="0" tIns="0" rIns="0" bIns="0">
            <a:spAutoFit/>
          </a:bodyPr>
          <a:lstStyle/>
          <a:p>
            <a:pPr algn="ctr">
              <a:defRPr sz="880" b="1">
                <a:solidFill>
                  <a:srgbClr val="FD451B"/>
                </a:solidFill>
                <a:latin typeface="Calibri"/>
              </a:defRPr>
            </a:pPr>
            <a:r>
              <a:t>Live Production: Dual-Pane Agent Workbench with AI Decision Drawer (Render Deployed)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CUSTOMER EXPERIENCE &amp; DEFLECTION</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Conversational AI Intake &amp; Real-Time FAQ Deflection</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Transforming casual chats into formal tickets while deflecting 35% of routine requests.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05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5257800"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0F172A"/>
                </a:solidFill>
                <a:latin typeface="Calibri"/>
              </a:defRPr>
            </a:pPr>
            <a:r>
              <a:t>1. Conversational AI Concierge Widget</a:t>
            </a:r>
          </a:p>
          <a:p>
            <a:pPr>
              <a:defRPr sz="950">
                <a:solidFill>
                  <a:srgbClr val="64748B"/>
                </a:solidFill>
                <a:latin typeface="Calibri"/>
              </a:defRPr>
            </a:pPr>
            <a:r>
              <a:t>SSAI-406 Natural language ticket crafter</a:t>
            </a:r>
          </a:p>
        </p:txBody>
      </p:sp>
      <p:sp>
        <p:nvSpPr>
          <p:cNvPr id="12" name="Rounded Rectangle 11"/>
          <p:cNvSpPr/>
          <p:nvPr/>
        </p:nvSpPr>
        <p:spPr>
          <a:xfrm>
            <a:off x="832103" y="2249424"/>
            <a:ext cx="5056632" cy="276148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i_concierge_live.png"/>
          <p:cNvPicPr>
            <a:picLocks noChangeAspect="1"/>
          </p:cNvPicPr>
          <p:nvPr/>
        </p:nvPicPr>
        <p:blipFill>
          <a:blip r:embed="rId3"/>
          <a:stretch>
            <a:fillRect/>
          </a:stretch>
        </p:blipFill>
        <p:spPr>
          <a:xfrm>
            <a:off x="868680" y="2286000"/>
            <a:ext cx="4983480" cy="2468880"/>
          </a:xfrm>
          <a:prstGeom prst="rect">
            <a:avLst/>
          </a:prstGeom>
        </p:spPr>
      </p:pic>
      <p:sp>
        <p:nvSpPr>
          <p:cNvPr id="14" name="TextBox 13"/>
          <p:cNvSpPr txBox="1"/>
          <p:nvPr/>
        </p:nvSpPr>
        <p:spPr>
          <a:xfrm>
            <a:off x="868680" y="4773168"/>
            <a:ext cx="4983480" cy="256032"/>
          </a:xfrm>
          <a:prstGeom prst="rect">
            <a:avLst/>
          </a:prstGeom>
          <a:noFill/>
        </p:spPr>
        <p:txBody>
          <a:bodyPr wrap="square" lIns="0" tIns="0" rIns="0" bIns="0">
            <a:spAutoFit/>
          </a:bodyPr>
          <a:lstStyle/>
          <a:p>
            <a:pPr algn="ctr">
              <a:defRPr sz="880" b="1">
                <a:solidFill>
                  <a:srgbClr val="FD451B"/>
                </a:solidFill>
                <a:latin typeface="Calibri"/>
              </a:defRPr>
            </a:pPr>
            <a:r>
              <a:t>Live Production: Conversational AI Concierge Chatbot Widget (Render)</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0F172A"/>
                </a:solidFill>
                <a:latin typeface="Calibri"/>
              </a:rPr>
              <a:t>•  Conversational Intake: </a:t>
            </a:r>
            <a:r>
              <a:rPr sz="950">
                <a:solidFill>
                  <a:srgbClr val="334155"/>
                </a:solidFill>
                <a:latin typeface="Calibri"/>
              </a:rPr>
              <a:t>Users describe issues casually; AI asks empathetic clarifying questions.</a:t>
            </a:r>
          </a:p>
          <a:p>
            <a:pPr>
              <a:spcBef>
                <a:spcPts val="200"/>
              </a:spcBef>
            </a:pPr>
            <a:r>
              <a:rPr sz="950" b="1">
                <a:solidFill>
                  <a:srgbClr val="0F172A"/>
                </a:solidFill>
                <a:latin typeface="Calibri"/>
              </a:rPr>
              <a:t>•  1-Click Ticket Dispatch: </a:t>
            </a:r>
            <a:r>
              <a:rPr sz="950">
                <a:solidFill>
                  <a:srgbClr val="334155"/>
                </a:solidFill>
                <a:latin typeface="Calibri"/>
              </a:rPr>
              <a:t>Synthesizes chat into formal ticket (Title, Description, Urgency, Category).</a:t>
            </a:r>
          </a:p>
        </p:txBody>
      </p:sp>
      <p:sp>
        <p:nvSpPr>
          <p:cNvPr id="16" name="Rounded Rectangle 15"/>
          <p:cNvSpPr/>
          <p:nvPr/>
        </p:nvSpPr>
        <p:spPr>
          <a:xfrm>
            <a:off x="6172200" y="1691640"/>
            <a:ext cx="5257800"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0F172A"/>
                </a:solidFill>
                <a:latin typeface="Calibri"/>
              </a:defRPr>
            </a:pPr>
            <a:r>
              <a:t>2. Real-Time Deflection &amp; Duplicate Shield</a:t>
            </a:r>
          </a:p>
          <a:p>
            <a:pPr>
              <a:defRPr sz="950">
                <a:solidFill>
                  <a:srgbClr val="64748B"/>
                </a:solidFill>
                <a:latin typeface="Calibri"/>
              </a:defRPr>
            </a:pPr>
            <a:r>
              <a:t>SSAI-410 &amp; SSAI-409 Zero-queue bloat</a:t>
            </a:r>
          </a:p>
        </p:txBody>
      </p:sp>
      <p:sp>
        <p:nvSpPr>
          <p:cNvPr id="18" name="Rounded Rectangle 17"/>
          <p:cNvSpPr/>
          <p:nvPr/>
        </p:nvSpPr>
        <p:spPr>
          <a:xfrm>
            <a:off x="6272784" y="2249424"/>
            <a:ext cx="5056632" cy="276148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aq_deflection_live.png"/>
          <p:cNvPicPr>
            <a:picLocks noChangeAspect="1"/>
          </p:cNvPicPr>
          <p:nvPr/>
        </p:nvPicPr>
        <p:blipFill>
          <a:blip r:embed="rId4"/>
          <a:stretch>
            <a:fillRect/>
          </a:stretch>
        </p:blipFill>
        <p:spPr>
          <a:xfrm>
            <a:off x="6309360" y="2286000"/>
            <a:ext cx="4983480" cy="2468880"/>
          </a:xfrm>
          <a:prstGeom prst="rect">
            <a:avLst/>
          </a:prstGeom>
        </p:spPr>
      </p:pic>
      <p:sp>
        <p:nvSpPr>
          <p:cNvPr id="20" name="TextBox 19"/>
          <p:cNvSpPr txBox="1"/>
          <p:nvPr/>
        </p:nvSpPr>
        <p:spPr>
          <a:xfrm>
            <a:off x="6309360" y="4773168"/>
            <a:ext cx="4983480" cy="256032"/>
          </a:xfrm>
          <a:prstGeom prst="rect">
            <a:avLst/>
          </a:prstGeom>
          <a:noFill/>
        </p:spPr>
        <p:txBody>
          <a:bodyPr wrap="square" lIns="0" tIns="0" rIns="0" bIns="0">
            <a:spAutoFit/>
          </a:bodyPr>
          <a:lstStyle/>
          <a:p>
            <a:pPr algn="ctr">
              <a:defRPr sz="880" b="1">
                <a:solidFill>
                  <a:srgbClr val="FD451B"/>
                </a:solidFill>
                <a:latin typeface="Calibri"/>
              </a:defRPr>
            </a:pPr>
            <a:r>
              <a:t>Live Production: Real-Time FAQ Deflection Panel during Ticket Creation</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0F172A"/>
                </a:solidFill>
                <a:latin typeface="Calibri"/>
              </a:rPr>
              <a:t>•  35% Deflection Rate: </a:t>
            </a:r>
            <a:r>
              <a:rPr sz="950">
                <a:solidFill>
                  <a:srgbClr val="334155"/>
                </a:solidFill>
                <a:latin typeface="Calibri"/>
              </a:rPr>
              <a:t>300ms debounced scanner matches KB articles while customer types issue title.</a:t>
            </a:r>
          </a:p>
          <a:p>
            <a:pPr>
              <a:spcBef>
                <a:spcPts val="200"/>
              </a:spcBef>
            </a:pPr>
            <a:r>
              <a:rPr sz="950" b="1">
                <a:solidFill>
                  <a:srgbClr val="0F172A"/>
                </a:solidFill>
                <a:latin typeface="Calibri"/>
              </a:rPr>
              <a:t>•  HTTP 409 Duplicate Interception: </a:t>
            </a:r>
            <a:r>
              <a:rPr sz="950">
                <a:solidFill>
                  <a:srgbClr val="334155"/>
                </a:solidFill>
                <a:latin typeface="Calibri"/>
              </a:rPr>
              <a:t>Intercepts repeated queries with verified past resolution notes.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BACKEND &amp; DATABASE</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Core REST Engine &amp; PostgreSQL Relational Architecture</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High-throughput Express controllers, 3NF PostgreSQL schema, and atomic transactions.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06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4572000" cy="448056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4169663" cy="320040"/>
          </a:xfrm>
          <a:prstGeom prst="rect">
            <a:avLst/>
          </a:prstGeom>
          <a:noFill/>
        </p:spPr>
        <p:txBody>
          <a:bodyPr wrap="square" lIns="0" tIns="0" rIns="0" bIns="0">
            <a:spAutoFit/>
          </a:bodyPr>
          <a:lstStyle/>
          <a:p>
            <a:pPr>
              <a:defRPr sz="1200" b="1">
                <a:solidFill>
                  <a:srgbClr val="0F172A"/>
                </a:solidFill>
                <a:latin typeface="Calibri"/>
              </a:defRPr>
            </a:pPr>
            <a:r>
              <a:t>Node.js, Express &amp; Supabase Pooling</a:t>
            </a:r>
          </a:p>
          <a:p>
            <a:pPr>
              <a:defRPr sz="950">
                <a:solidFill>
                  <a:srgbClr val="64748B"/>
                </a:solidFill>
                <a:latin typeface="Calibri"/>
              </a:defRPr>
            </a:pPr>
            <a:r>
              <a:t>Engineered for 100% data consistency</a:t>
            </a:r>
          </a:p>
        </p:txBody>
      </p:sp>
      <p:sp>
        <p:nvSpPr>
          <p:cNvPr id="12" name="TextBox 11"/>
          <p:cNvSpPr txBox="1"/>
          <p:nvPr/>
        </p:nvSpPr>
        <p:spPr>
          <a:xfrm>
            <a:off x="914400" y="2286000"/>
            <a:ext cx="420624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Sub-200ms REST Performance: </a:t>
            </a:r>
            <a:r>
              <a:rPr sz="1000">
                <a:solidFill>
                  <a:srgbClr val="334155"/>
                </a:solidFill>
                <a:latin typeface="Calibri"/>
              </a:rPr>
              <a:t>P95 latency &lt; 200ms across pagination, multi-criteria filtering, and assignment.</a:t>
            </a:r>
          </a:p>
          <a:p>
            <a:pPr>
              <a:spcBef>
                <a:spcPts val="500"/>
              </a:spcBef>
            </a:pPr>
            <a:r>
              <a:rPr sz="1000" b="1">
                <a:solidFill>
                  <a:srgbClr val="0F172A"/>
                </a:solidFill>
                <a:latin typeface="Calibri"/>
              </a:rPr>
              <a:t>•  Atomic Transactions (SCRUM-112): </a:t>
            </a:r>
            <a:r>
              <a:rPr sz="1000">
                <a:solidFill>
                  <a:srgbClr val="334155"/>
                </a:solidFill>
                <a:latin typeface="Calibri"/>
              </a:rPr>
              <a:t>BEGIN / COMMIT / ROLLBACK wraps ticket and initial message; guarantees 0 orphaned tickets on failure.</a:t>
            </a:r>
          </a:p>
          <a:p>
            <a:pPr>
              <a:spcBef>
                <a:spcPts val="500"/>
              </a:spcBef>
            </a:pPr>
            <a:r>
              <a:rPr sz="1000" b="1">
                <a:solidFill>
                  <a:srgbClr val="0F172A"/>
                </a:solidFill>
                <a:latin typeface="Calibri"/>
              </a:rPr>
              <a:t>•  Status State Machine (SCRUM-111): </a:t>
            </a:r>
            <a:r>
              <a:rPr sz="1000">
                <a:solidFill>
                  <a:srgbClr val="334155"/>
                </a:solidFill>
                <a:latin typeface="Calibri"/>
              </a:rPr>
              <a:t>Strict progression (OPEN ➔ IN_PROGRESS ➔ RESOLVED ➔ CLOSED) prevents illegal state jumps.</a:t>
            </a:r>
          </a:p>
          <a:p>
            <a:pPr>
              <a:spcBef>
                <a:spcPts val="500"/>
              </a:spcBef>
            </a:pPr>
            <a:r>
              <a:rPr sz="1000" b="1">
                <a:solidFill>
                  <a:srgbClr val="0F172A"/>
                </a:solidFill>
                <a:latin typeface="Calibri"/>
              </a:rPr>
              <a:t>•  Concurrency Lock Safety (SCRUM-110): </a:t>
            </a:r>
            <a:r>
              <a:rPr sz="1000">
                <a:solidFill>
                  <a:srgbClr val="334155"/>
                </a:solidFill>
                <a:latin typeface="Calibri"/>
              </a:rPr>
              <a:t>100 simultaneous parallel submissions tested with zero sequence collisions.</a:t>
            </a:r>
          </a:p>
          <a:p>
            <a:pPr>
              <a:spcBef>
                <a:spcPts val="500"/>
              </a:spcBef>
            </a:pPr>
            <a:r>
              <a:rPr sz="1000" b="1">
                <a:solidFill>
                  <a:srgbClr val="0F172A"/>
                </a:solidFill>
                <a:latin typeface="Calibri"/>
              </a:rPr>
              <a:t>•  Supabase Cloud Pooling: </a:t>
            </a:r>
            <a:r>
              <a:rPr sz="1000">
                <a:solidFill>
                  <a:srgbClr val="334155"/>
                </a:solidFill>
                <a:latin typeface="Calibri"/>
              </a:rPr>
              <a:t>Managed PgBouncer pool with SSL encryption and sub-50ms compound B-tree index queries.</a:t>
            </a:r>
          </a:p>
        </p:txBody>
      </p:sp>
      <p:sp>
        <p:nvSpPr>
          <p:cNvPr id="13" name="Rounded Rectangle 12"/>
          <p:cNvSpPr/>
          <p:nvPr/>
        </p:nvSpPr>
        <p:spPr>
          <a:xfrm>
            <a:off x="5486400" y="1691640"/>
            <a:ext cx="5973775"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87568" y="1856232"/>
            <a:ext cx="5571439" cy="320040"/>
          </a:xfrm>
          <a:prstGeom prst="rect">
            <a:avLst/>
          </a:prstGeom>
          <a:noFill/>
        </p:spPr>
        <p:txBody>
          <a:bodyPr wrap="square" lIns="0" tIns="0" rIns="0" bIns="0">
            <a:spAutoFit/>
          </a:bodyPr>
          <a:lstStyle/>
          <a:p>
            <a:pPr>
              <a:defRPr sz="1200" b="1">
                <a:solidFill>
                  <a:srgbClr val="0F172A"/>
                </a:solidFill>
                <a:latin typeface="Calibri"/>
              </a:defRPr>
            </a:pPr>
            <a:r>
              <a:t>Live Production: Express REST Ticket Feed</a:t>
            </a:r>
          </a:p>
          <a:p>
            <a:pPr>
              <a:defRPr sz="950">
                <a:solidFill>
                  <a:srgbClr val="64748B"/>
                </a:solidFill>
                <a:latin typeface="Calibri"/>
              </a:defRPr>
            </a:pPr>
            <a:r>
              <a:t>Real-time queue filtering and pagination (Render)</a:t>
            </a:r>
          </a:p>
        </p:txBody>
      </p:sp>
      <p:sp>
        <p:nvSpPr>
          <p:cNvPr id="15" name="Rounded Rectangle 14"/>
          <p:cNvSpPr/>
          <p:nvPr/>
        </p:nvSpPr>
        <p:spPr>
          <a:xfrm>
            <a:off x="5586984" y="2249424"/>
            <a:ext cx="5772607" cy="381304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ickets_queue_live.png"/>
          <p:cNvPicPr>
            <a:picLocks noChangeAspect="1"/>
          </p:cNvPicPr>
          <p:nvPr/>
        </p:nvPicPr>
        <p:blipFill>
          <a:blip r:embed="rId3"/>
          <a:stretch>
            <a:fillRect/>
          </a:stretch>
        </p:blipFill>
        <p:spPr>
          <a:xfrm>
            <a:off x="5623560" y="2286000"/>
            <a:ext cx="5699455" cy="3520440"/>
          </a:xfrm>
          <a:prstGeom prst="rect">
            <a:avLst/>
          </a:prstGeom>
        </p:spPr>
      </p:pic>
      <p:sp>
        <p:nvSpPr>
          <p:cNvPr id="17" name="TextBox 16"/>
          <p:cNvSpPr txBox="1"/>
          <p:nvPr/>
        </p:nvSpPr>
        <p:spPr>
          <a:xfrm>
            <a:off x="5623560" y="5824727"/>
            <a:ext cx="5699455" cy="256032"/>
          </a:xfrm>
          <a:prstGeom prst="rect">
            <a:avLst/>
          </a:prstGeom>
          <a:noFill/>
        </p:spPr>
        <p:txBody>
          <a:bodyPr wrap="square" lIns="0" tIns="0" rIns="0" bIns="0">
            <a:spAutoFit/>
          </a:bodyPr>
          <a:lstStyle/>
          <a:p>
            <a:pPr algn="ctr">
              <a:defRPr sz="880" b="1">
                <a:solidFill>
                  <a:srgbClr val="FD451B"/>
                </a:solidFill>
                <a:latin typeface="Calibri"/>
              </a:defRPr>
            </a:pPr>
            <a:r>
              <a:t>Live Production: Ticket Queue Table powered by Express REST &amp; PostgreSQL (TicketsPage.jsx)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AI ENGINE, DEVOPS &amp; SECURITY</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AI Microservice, Docker Containers &amp; Security Hardening</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FastAPI + Gemini 1.5 Flash microservice, 12ms caching, multi-stage Docker, and stateless JWT.</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07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4572000"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856232"/>
            <a:ext cx="4169663" cy="320040"/>
          </a:xfrm>
          <a:prstGeom prst="rect">
            <a:avLst/>
          </a:prstGeom>
          <a:noFill/>
        </p:spPr>
        <p:txBody>
          <a:bodyPr wrap="square" lIns="0" tIns="0" rIns="0" bIns="0">
            <a:spAutoFit/>
          </a:bodyPr>
          <a:lstStyle/>
          <a:p>
            <a:pPr>
              <a:defRPr sz="1200" b="1">
                <a:solidFill>
                  <a:srgbClr val="0F172A"/>
                </a:solidFill>
                <a:latin typeface="Calibri"/>
              </a:defRPr>
            </a:pPr>
            <a:r>
              <a:t>FastAPI Microservice &amp; 12ms Cache</a:t>
            </a:r>
          </a:p>
          <a:p>
            <a:pPr>
              <a:defRPr sz="950">
                <a:solidFill>
                  <a:srgbClr val="64748B"/>
                </a:solidFill>
                <a:latin typeface="Calibri"/>
              </a:defRPr>
            </a:pPr>
            <a:r>
              <a:t>Gemini 1.5 Flash SDK high-throughput pipeline</a:t>
            </a:r>
          </a:p>
        </p:txBody>
      </p:sp>
      <p:sp>
        <p:nvSpPr>
          <p:cNvPr id="12" name="TextBox 11"/>
          <p:cNvSpPr txBox="1"/>
          <p:nvPr/>
        </p:nvSpPr>
        <p:spPr>
          <a:xfrm>
            <a:off x="914400" y="2286000"/>
            <a:ext cx="420624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Gemini 1.5 Flash Reasoning: </a:t>
            </a:r>
            <a:r>
              <a:rPr sz="1000">
                <a:solidFill>
                  <a:srgbClr val="334155"/>
                </a:solidFill>
                <a:latin typeface="Calibri"/>
              </a:rPr>
              <a:t>Fast, cost-effective inference (&lt; 420ms) with Pydantic v2 structured JSON schema validation.</a:t>
            </a:r>
          </a:p>
          <a:p>
            <a:pPr>
              <a:spcBef>
                <a:spcPts val="500"/>
              </a:spcBef>
            </a:pPr>
            <a:r>
              <a:rPr sz="1000" b="1">
                <a:solidFill>
                  <a:srgbClr val="0F172A"/>
                </a:solidFill>
                <a:latin typeface="Calibri"/>
              </a:rPr>
              <a:t>•  Model Instance Pooling: </a:t>
            </a:r>
            <a:r>
              <a:rPr sz="1000">
                <a:solidFill>
                  <a:srgbClr val="334155"/>
                </a:solidFill>
                <a:latin typeface="Calibri"/>
              </a:rPr>
              <a:t>Pre-instantiates GenerativeModel instances, eliminating memory thrashing and GC overhead.</a:t>
            </a:r>
          </a:p>
          <a:p>
            <a:pPr>
              <a:spcBef>
                <a:spcPts val="500"/>
              </a:spcBef>
            </a:pPr>
            <a:r>
              <a:rPr sz="1000" b="1">
                <a:solidFill>
                  <a:srgbClr val="0F172A"/>
                </a:solidFill>
                <a:latin typeface="Calibri"/>
              </a:rPr>
              <a:t>•  SHA-256 In-Memory TTL Cache: </a:t>
            </a:r>
            <a:r>
              <a:rPr sz="1000">
                <a:solidFill>
                  <a:srgbClr val="334155"/>
                </a:solidFill>
                <a:latin typeface="Calibri"/>
              </a:rPr>
              <a:t>Caches identical ticket requests with 300s TTL; drops repeated query latency from 1,800ms to 12ms!</a:t>
            </a:r>
          </a:p>
          <a:p>
            <a:pPr>
              <a:spcBef>
                <a:spcPts val="500"/>
              </a:spcBef>
            </a:pPr>
            <a:r>
              <a:rPr sz="1000" b="1">
                <a:solidFill>
                  <a:srgbClr val="0F172A"/>
                </a:solidFill>
                <a:latin typeface="Calibri"/>
              </a:rPr>
              <a:t>•  Anti-Gaming Decoupling: </a:t>
            </a:r>
            <a:r>
              <a:rPr sz="1000">
                <a:solidFill>
                  <a:srgbClr val="334155"/>
                </a:solidFill>
                <a:latin typeface="Calibri"/>
              </a:rPr>
              <a:t>Prompt explicitly decouples shouting ('URGENT') from technical priority, preserving SLA fairness.</a:t>
            </a:r>
          </a:p>
          <a:p>
            <a:pPr>
              <a:spcBef>
                <a:spcPts val="500"/>
              </a:spcBef>
            </a:pPr>
            <a:r>
              <a:rPr sz="1000" b="1">
                <a:solidFill>
                  <a:srgbClr val="0F172A"/>
                </a:solidFill>
                <a:latin typeface="Calibri"/>
              </a:rPr>
              <a:t>•  Deterministic Fallbacks: </a:t>
            </a:r>
            <a:r>
              <a:rPr sz="1000">
                <a:solidFill>
                  <a:srgbClr val="334155"/>
                </a:solidFill>
                <a:latin typeface="Calibri"/>
              </a:rPr>
              <a:t>Regex fallbacks guarantee 100% uptime even if external LLM API is unreachable.</a:t>
            </a:r>
          </a:p>
        </p:txBody>
      </p:sp>
      <p:sp>
        <p:nvSpPr>
          <p:cNvPr id="13" name="Rounded Rectangle 12"/>
          <p:cNvSpPr/>
          <p:nvPr/>
        </p:nvSpPr>
        <p:spPr>
          <a:xfrm>
            <a:off x="5486400" y="1691640"/>
            <a:ext cx="5973775" cy="448056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87568" y="1856232"/>
            <a:ext cx="5571439" cy="320040"/>
          </a:xfrm>
          <a:prstGeom prst="rect">
            <a:avLst/>
          </a:prstGeom>
          <a:noFill/>
        </p:spPr>
        <p:txBody>
          <a:bodyPr wrap="square" lIns="0" tIns="0" rIns="0" bIns="0">
            <a:spAutoFit/>
          </a:bodyPr>
          <a:lstStyle/>
          <a:p>
            <a:pPr>
              <a:defRPr sz="1200" b="1">
                <a:solidFill>
                  <a:srgbClr val="0F172A"/>
                </a:solidFill>
                <a:latin typeface="Calibri"/>
              </a:defRPr>
            </a:pPr>
            <a:r>
              <a:t>3-Tier Micro-Architecture &amp; DevOps</a:t>
            </a:r>
          </a:p>
          <a:p>
            <a:pPr>
              <a:defRPr sz="950">
                <a:solidFill>
                  <a:srgbClr val="64748B"/>
                </a:solidFill>
                <a:latin typeface="Calibri"/>
              </a:defRPr>
            </a:pPr>
            <a:r>
              <a:t>Docker multi-stage builds &amp; Render Blueprint</a:t>
            </a:r>
          </a:p>
        </p:txBody>
      </p:sp>
      <p:sp>
        <p:nvSpPr>
          <p:cNvPr id="15" name="Rounded Rectangle 14"/>
          <p:cNvSpPr/>
          <p:nvPr/>
        </p:nvSpPr>
        <p:spPr>
          <a:xfrm>
            <a:off x="5586984" y="2249424"/>
            <a:ext cx="5772607" cy="3035808"/>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docs_system_architecture.png"/>
          <p:cNvPicPr>
            <a:picLocks noChangeAspect="1"/>
          </p:cNvPicPr>
          <p:nvPr/>
        </p:nvPicPr>
        <p:blipFill>
          <a:blip r:embed="rId3"/>
          <a:stretch>
            <a:fillRect/>
          </a:stretch>
        </p:blipFill>
        <p:spPr>
          <a:xfrm>
            <a:off x="5623560" y="2286000"/>
            <a:ext cx="5699455" cy="2743200"/>
          </a:xfrm>
          <a:prstGeom prst="rect">
            <a:avLst/>
          </a:prstGeom>
        </p:spPr>
      </p:pic>
      <p:sp>
        <p:nvSpPr>
          <p:cNvPr id="17" name="TextBox 16"/>
          <p:cNvSpPr txBox="1"/>
          <p:nvPr/>
        </p:nvSpPr>
        <p:spPr>
          <a:xfrm>
            <a:off x="5623560" y="5047488"/>
            <a:ext cx="5699455" cy="256032"/>
          </a:xfrm>
          <a:prstGeom prst="rect">
            <a:avLst/>
          </a:prstGeom>
          <a:noFill/>
        </p:spPr>
        <p:txBody>
          <a:bodyPr wrap="square" lIns="0" tIns="0" rIns="0" bIns="0">
            <a:spAutoFit/>
          </a:bodyPr>
          <a:lstStyle/>
          <a:p>
            <a:pPr algn="ctr">
              <a:defRPr sz="880" b="1">
                <a:solidFill>
                  <a:srgbClr val="FD451B"/>
                </a:solidFill>
                <a:latin typeface="Calibri"/>
              </a:defRPr>
            </a:pPr>
            <a:r>
              <a:t>3-Tier Micro-Architecture: React SPA ➔ Express REST ➔ PostgreSQL &amp; FastAPI Microservice</a:t>
            </a:r>
          </a:p>
        </p:txBody>
      </p:sp>
      <p:sp>
        <p:nvSpPr>
          <p:cNvPr id="18" name="TextBox 17"/>
          <p:cNvSpPr txBox="1"/>
          <p:nvPr/>
        </p:nvSpPr>
        <p:spPr>
          <a:xfrm>
            <a:off x="5623560" y="5257800"/>
            <a:ext cx="5669280" cy="868680"/>
          </a:xfrm>
          <a:prstGeom prst="rect">
            <a:avLst/>
          </a:prstGeom>
          <a:noFill/>
        </p:spPr>
        <p:txBody>
          <a:bodyPr wrap="square" lIns="0" tIns="0" rIns="0" bIns="0">
            <a:spAutoFit/>
          </a:bodyPr>
          <a:lstStyle/>
          <a:p>
            <a:pPr>
              <a:spcBef>
                <a:spcPts val="200"/>
              </a:spcBef>
            </a:pPr>
            <a:r>
              <a:rPr sz="950" b="1">
                <a:solidFill>
                  <a:srgbClr val="0F172A"/>
                </a:solidFill>
                <a:latin typeface="Calibri"/>
              </a:rPr>
              <a:t>•  Stateless JWT &amp; RBAC: </a:t>
            </a:r>
            <a:r>
              <a:rPr sz="950">
                <a:solidFill>
                  <a:srgbClr val="334155"/>
                </a:solidFill>
                <a:latin typeface="Calibri"/>
              </a:rPr>
              <a:t>1-hour Bearer tokens, bcrypt 10 salt rounds, express-rate-limit brute-force protection.</a:t>
            </a:r>
          </a:p>
          <a:p>
            <a:pPr>
              <a:spcBef>
                <a:spcPts val="200"/>
              </a:spcBef>
            </a:pPr>
            <a:r>
              <a:rPr sz="950" b="1">
                <a:solidFill>
                  <a:srgbClr val="0F172A"/>
                </a:solidFill>
                <a:latin typeface="Calibri"/>
              </a:rPr>
              <a:t>•  Docker &amp; Render Blueprint: </a:t>
            </a:r>
            <a:r>
              <a:rPr sz="950">
                <a:solidFill>
                  <a:srgbClr val="334155"/>
                </a:solidFill>
                <a:latin typeface="Calibri"/>
              </a:rPr>
              <a:t>Multi-stage builds (Nginx 25MB, Node 140MB, Python 210MB); 100% automated CI/CD test pass 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FD451B"/>
                </a:solidFill>
                <a:latin typeface="Calibri"/>
              </a:defRPr>
            </a:pPr>
            <a:r>
              <a:t>  BUSINESS IMPACT &amp; ROI</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rPr dirty="0"/>
              <a:t>Business Impact Metrics &amp; Client ROI Handover</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Delivering quantifiable SLA reductions, financial return on investment, and future expansion.</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08 / 08</a:t>
            </a:r>
          </a:p>
        </p:txBody>
      </p:sp>
      <p:sp>
        <p:nvSpPr>
          <p:cNvPr id="9" name="TextBox 8"/>
          <p:cNvSpPr txBox="1"/>
          <p:nvPr/>
        </p:nvSpPr>
        <p:spPr>
          <a:xfrm>
            <a:off x="731520" y="6510528"/>
            <a:ext cx="4692310" cy="233782"/>
          </a:xfrm>
          <a:prstGeom prst="rect">
            <a:avLst/>
          </a:prstGeom>
          <a:noFill/>
        </p:spPr>
        <p:txBody>
          <a:bodyPr wrap="none">
            <a:spAutoFit/>
          </a:bodyPr>
          <a:lstStyle/>
          <a:p>
            <a:pPr>
              <a:defRPr sz="919">
                <a:solidFill>
                  <a:srgbClr val="64748B"/>
                </a:solidFill>
                <a:latin typeface="Calibri"/>
              </a:defRPr>
            </a:pPr>
            <a:r>
              <a:rPr dirty="0" err="1"/>
              <a:t>SupportSense</a:t>
            </a:r>
            <a:r>
              <a:rPr dirty="0"/>
              <a:t> AI — Developer-to-Developer Client Pitch | Persistent Systems Internship | </a:t>
            </a:r>
          </a:p>
        </p:txBody>
      </p:sp>
      <p:sp>
        <p:nvSpPr>
          <p:cNvPr id="10" name="Rounded Rectangle 9"/>
          <p:cNvSpPr/>
          <p:nvPr/>
        </p:nvSpPr>
        <p:spPr>
          <a:xfrm>
            <a:off x="731520" y="1691640"/>
            <a:ext cx="2514600" cy="146304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801368"/>
            <a:ext cx="2185416" cy="1243584"/>
          </a:xfrm>
          <a:prstGeom prst="rect">
            <a:avLst/>
          </a:prstGeom>
          <a:noFill/>
        </p:spPr>
        <p:txBody>
          <a:bodyPr wrap="square" lIns="0" tIns="0" rIns="0" bIns="0">
            <a:spAutoFit/>
          </a:bodyPr>
          <a:lstStyle/>
          <a:p>
            <a:pPr>
              <a:defRPr sz="2800" b="1">
                <a:solidFill>
                  <a:srgbClr val="FD451B"/>
                </a:solidFill>
                <a:latin typeface="Calibri"/>
              </a:defRPr>
            </a:pPr>
            <a:r>
              <a:t>75%</a:t>
            </a:r>
          </a:p>
          <a:p>
            <a:pPr>
              <a:spcBef>
                <a:spcPts val="200"/>
              </a:spcBef>
              <a:defRPr sz="1150" b="1">
                <a:solidFill>
                  <a:srgbClr val="0F172A"/>
                </a:solidFill>
                <a:latin typeface="Calibri"/>
              </a:defRPr>
            </a:pPr>
            <a:r>
              <a:t>FRT Reduction</a:t>
            </a:r>
          </a:p>
          <a:p>
            <a:pPr>
              <a:spcBef>
                <a:spcPts val="200"/>
              </a:spcBef>
              <a:defRPr sz="900">
                <a:solidFill>
                  <a:srgbClr val="64748B"/>
                </a:solidFill>
                <a:latin typeface="Calibri"/>
              </a:defRPr>
            </a:pPr>
            <a:r>
              <a:t>From 8.5 hours to 2.1 mins via instant department acknowledgments</a:t>
            </a:r>
          </a:p>
        </p:txBody>
      </p:sp>
      <p:sp>
        <p:nvSpPr>
          <p:cNvPr id="12" name="Rounded Rectangle 11"/>
          <p:cNvSpPr/>
          <p:nvPr/>
        </p:nvSpPr>
        <p:spPr>
          <a:xfrm>
            <a:off x="3429000" y="1691640"/>
            <a:ext cx="2514600" cy="14630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93592" y="1801368"/>
            <a:ext cx="2185416" cy="1243584"/>
          </a:xfrm>
          <a:prstGeom prst="rect">
            <a:avLst/>
          </a:prstGeom>
          <a:noFill/>
        </p:spPr>
        <p:txBody>
          <a:bodyPr wrap="square" lIns="0" tIns="0" rIns="0" bIns="0">
            <a:spAutoFit/>
          </a:bodyPr>
          <a:lstStyle/>
          <a:p>
            <a:pPr>
              <a:defRPr sz="2800" b="1">
                <a:solidFill>
                  <a:srgbClr val="0284C7"/>
                </a:solidFill>
                <a:latin typeface="Calibri"/>
              </a:defRPr>
            </a:pPr>
            <a:r>
              <a:t>35%</a:t>
            </a:r>
          </a:p>
          <a:p>
            <a:pPr>
              <a:spcBef>
                <a:spcPts val="200"/>
              </a:spcBef>
              <a:defRPr sz="1150" b="1">
                <a:solidFill>
                  <a:srgbClr val="0F172A"/>
                </a:solidFill>
                <a:latin typeface="Calibri"/>
              </a:defRPr>
            </a:pPr>
            <a:r>
              <a:t>Ticket Deflection</a:t>
            </a:r>
          </a:p>
          <a:p>
            <a:pPr>
              <a:spcBef>
                <a:spcPts val="200"/>
              </a:spcBef>
              <a:defRPr sz="900">
                <a:solidFill>
                  <a:srgbClr val="64748B"/>
                </a:solidFill>
                <a:latin typeface="Calibri"/>
              </a:defRPr>
            </a:pPr>
            <a:r>
              <a:t>Real-time Knowledge Base suggestions &amp; duplicate prevention</a:t>
            </a:r>
          </a:p>
        </p:txBody>
      </p:sp>
      <p:sp>
        <p:nvSpPr>
          <p:cNvPr id="14" name="Rounded Rectangle 13"/>
          <p:cNvSpPr/>
          <p:nvPr/>
        </p:nvSpPr>
        <p:spPr>
          <a:xfrm>
            <a:off x="6126480" y="1691640"/>
            <a:ext cx="2514600" cy="14630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91072" y="1801368"/>
            <a:ext cx="2185416" cy="1243584"/>
          </a:xfrm>
          <a:prstGeom prst="rect">
            <a:avLst/>
          </a:prstGeom>
          <a:noFill/>
        </p:spPr>
        <p:txBody>
          <a:bodyPr wrap="square" lIns="0" tIns="0" rIns="0" bIns="0">
            <a:spAutoFit/>
          </a:bodyPr>
          <a:lstStyle/>
          <a:p>
            <a:pPr>
              <a:defRPr sz="2800" b="1">
                <a:solidFill>
                  <a:srgbClr val="059669"/>
                </a:solidFill>
                <a:latin typeface="Calibri"/>
              </a:defRPr>
            </a:pPr>
            <a:r>
              <a:t>96.0%</a:t>
            </a:r>
          </a:p>
          <a:p>
            <a:pPr>
              <a:spcBef>
                <a:spcPts val="200"/>
              </a:spcBef>
              <a:defRPr sz="1150" b="1">
                <a:solidFill>
                  <a:srgbClr val="0F172A"/>
                </a:solidFill>
                <a:latin typeface="Calibri"/>
              </a:defRPr>
            </a:pPr>
            <a:r>
              <a:t>AI Triage Accuracy</a:t>
            </a:r>
          </a:p>
          <a:p>
            <a:pPr>
              <a:spcBef>
                <a:spcPts val="200"/>
              </a:spcBef>
              <a:defRPr sz="900">
                <a:solidFill>
                  <a:srgbClr val="64748B"/>
                </a:solidFill>
                <a:latin typeface="Calibri"/>
              </a:defRPr>
            </a:pPr>
            <a:r>
              <a:t>Calibrated on 100 historical Kaggle and Hugging Face records</a:t>
            </a:r>
          </a:p>
        </p:txBody>
      </p:sp>
      <p:sp>
        <p:nvSpPr>
          <p:cNvPr id="16" name="Rounded Rectangle 15"/>
          <p:cNvSpPr/>
          <p:nvPr/>
        </p:nvSpPr>
        <p:spPr>
          <a:xfrm>
            <a:off x="8823960" y="1691640"/>
            <a:ext cx="2514600" cy="1463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88552" y="1801368"/>
            <a:ext cx="2185416" cy="1243584"/>
          </a:xfrm>
          <a:prstGeom prst="rect">
            <a:avLst/>
          </a:prstGeom>
          <a:noFill/>
        </p:spPr>
        <p:txBody>
          <a:bodyPr wrap="square" lIns="0" tIns="0" rIns="0" bIns="0">
            <a:spAutoFit/>
          </a:bodyPr>
          <a:lstStyle/>
          <a:p>
            <a:pPr>
              <a:defRPr sz="2800" b="1">
                <a:solidFill>
                  <a:srgbClr val="7C3AED"/>
                </a:solidFill>
                <a:latin typeface="Calibri"/>
              </a:defRPr>
            </a:pPr>
            <a:r>
              <a:t>&gt; 80%</a:t>
            </a:r>
          </a:p>
          <a:p>
            <a:pPr>
              <a:spcBef>
                <a:spcPts val="200"/>
              </a:spcBef>
              <a:defRPr sz="1150" b="1">
                <a:solidFill>
                  <a:srgbClr val="0F172A"/>
                </a:solidFill>
                <a:latin typeface="Calibri"/>
              </a:defRPr>
            </a:pPr>
            <a:r>
              <a:t>Licensing Cost Savings</a:t>
            </a:r>
          </a:p>
          <a:p>
            <a:pPr>
              <a:spcBef>
                <a:spcPts val="200"/>
              </a:spcBef>
              <a:defRPr sz="900">
                <a:solidFill>
                  <a:srgbClr val="64748B"/>
                </a:solidFill>
                <a:latin typeface="Calibri"/>
              </a:defRPr>
            </a:pPr>
            <a:r>
              <a:t>Self-hostable Docker vs $36k/yr Zendesk contracts</a:t>
            </a:r>
          </a:p>
        </p:txBody>
      </p:sp>
      <p:sp>
        <p:nvSpPr>
          <p:cNvPr id="18" name="Rounded Rectangle 17"/>
          <p:cNvSpPr/>
          <p:nvPr/>
        </p:nvSpPr>
        <p:spPr>
          <a:xfrm>
            <a:off x="731520" y="3383280"/>
            <a:ext cx="5029200" cy="283464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3547872"/>
            <a:ext cx="4626864" cy="320040"/>
          </a:xfrm>
          <a:prstGeom prst="rect">
            <a:avLst/>
          </a:prstGeom>
          <a:noFill/>
        </p:spPr>
        <p:txBody>
          <a:bodyPr wrap="square" lIns="0" tIns="0" rIns="0" bIns="0">
            <a:spAutoFit/>
          </a:bodyPr>
          <a:lstStyle/>
          <a:p>
            <a:pPr>
              <a:defRPr sz="1200" b="1">
                <a:solidFill>
                  <a:srgbClr val="0F172A"/>
                </a:solidFill>
                <a:latin typeface="Calibri"/>
              </a:defRPr>
            </a:pPr>
            <a:r>
              <a:t>Proven Client ROI &amp; Value</a:t>
            </a:r>
          </a:p>
          <a:p>
            <a:pPr>
              <a:defRPr sz="950">
                <a:solidFill>
                  <a:srgbClr val="64748B"/>
                </a:solidFill>
                <a:latin typeface="Calibri"/>
              </a:defRPr>
            </a:pPr>
            <a:r>
              <a:t>Delivering immediate enterprise benefits</a:t>
            </a:r>
          </a:p>
        </p:txBody>
      </p:sp>
      <p:sp>
        <p:nvSpPr>
          <p:cNvPr id="20" name="TextBox 19"/>
          <p:cNvSpPr txBox="1"/>
          <p:nvPr/>
        </p:nvSpPr>
        <p:spPr>
          <a:xfrm>
            <a:off x="914400" y="3977639"/>
            <a:ext cx="4663440" cy="2103120"/>
          </a:xfrm>
          <a:prstGeom prst="rect">
            <a:avLst/>
          </a:prstGeom>
          <a:noFill/>
        </p:spPr>
        <p:txBody>
          <a:bodyPr wrap="square" lIns="0" tIns="0" rIns="0" bIns="0">
            <a:spAutoFit/>
          </a:bodyPr>
          <a:lstStyle/>
          <a:p>
            <a:pPr>
              <a:spcBef>
                <a:spcPts val="300"/>
              </a:spcBef>
            </a:pPr>
            <a:r>
              <a:rPr sz="980" b="1">
                <a:solidFill>
                  <a:srgbClr val="0F172A"/>
                </a:solidFill>
                <a:latin typeface="Calibri"/>
              </a:rPr>
              <a:t>•  SLA Penalty Immunity: </a:t>
            </a:r>
            <a:r>
              <a:rPr sz="980">
                <a:solidFill>
                  <a:srgbClr val="334155"/>
                </a:solidFill>
                <a:latin typeface="Calibri"/>
              </a:rPr>
              <a:t>Slashing initial response from hours to minutes guarantees 98.4% SLA compliance.</a:t>
            </a:r>
          </a:p>
          <a:p>
            <a:pPr>
              <a:spcBef>
                <a:spcPts val="300"/>
              </a:spcBef>
            </a:pPr>
            <a:r>
              <a:rPr sz="980" b="1">
                <a:solidFill>
                  <a:srgbClr val="0F172A"/>
                </a:solidFill>
                <a:latin typeface="Calibri"/>
              </a:rPr>
              <a:t>•  28% First Contact Resolution Boost: </a:t>
            </a:r>
            <a:r>
              <a:rPr sz="980">
                <a:solidFill>
                  <a:srgbClr val="334155"/>
                </a:solidFill>
                <a:latin typeface="Calibri"/>
              </a:rPr>
              <a:t>Dynamic diagnostic checklists empower tier-1 agents to resolve issues on first contact.</a:t>
            </a:r>
          </a:p>
          <a:p>
            <a:pPr>
              <a:spcBef>
                <a:spcPts val="300"/>
              </a:spcBef>
            </a:pPr>
            <a:r>
              <a:rPr sz="980" b="1">
                <a:solidFill>
                  <a:srgbClr val="0F172A"/>
                </a:solidFill>
                <a:latin typeface="Calibri"/>
              </a:rPr>
              <a:t>•  Upcoming Horizons: </a:t>
            </a:r>
            <a:r>
              <a:rPr sz="980">
                <a:solidFill>
                  <a:srgbClr val="334155"/>
                </a:solidFill>
                <a:latin typeface="Calibri"/>
              </a:rPr>
              <a:t>Multichannel sync (Slack/Teams/WhatsApp), Voice-to-ticket transcription (Whisper), and Vector RAG (pgvector).</a:t>
            </a:r>
          </a:p>
          <a:p>
            <a:pPr>
              <a:spcBef>
                <a:spcPts val="300"/>
              </a:spcBef>
            </a:pPr>
            <a:r>
              <a:rPr sz="980" b="1">
                <a:solidFill>
                  <a:srgbClr val="0F172A"/>
                </a:solidFill>
                <a:latin typeface="Calibri"/>
              </a:rPr>
              <a:t>•  Production Handover Status: </a:t>
            </a:r>
            <a:r>
              <a:rPr sz="980">
                <a:solidFill>
                  <a:srgbClr val="334155"/>
                </a:solidFill>
                <a:latin typeface="Calibri"/>
              </a:rPr>
              <a:t>Fully documented (13 engineering guides), 100% test-verified, and live on Render today.</a:t>
            </a:r>
          </a:p>
        </p:txBody>
      </p:sp>
      <p:sp>
        <p:nvSpPr>
          <p:cNvPr id="21" name="Rounded Rectangle 20"/>
          <p:cNvSpPr/>
          <p:nvPr/>
        </p:nvSpPr>
        <p:spPr>
          <a:xfrm>
            <a:off x="5943600" y="3383280"/>
            <a:ext cx="5516575" cy="283464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44768" y="3547872"/>
            <a:ext cx="5114239" cy="320040"/>
          </a:xfrm>
          <a:prstGeom prst="rect">
            <a:avLst/>
          </a:prstGeom>
          <a:noFill/>
        </p:spPr>
        <p:txBody>
          <a:bodyPr wrap="square" lIns="0" tIns="0" rIns="0" bIns="0">
            <a:spAutoFit/>
          </a:bodyPr>
          <a:lstStyle/>
          <a:p>
            <a:pPr>
              <a:defRPr sz="1200" b="1">
                <a:solidFill>
                  <a:srgbClr val="0F172A"/>
                </a:solidFill>
                <a:latin typeface="Calibri"/>
              </a:defRPr>
            </a:pPr>
            <a:r>
              <a:t>Live Production: Analytics &amp; Operational Telemetry</a:t>
            </a:r>
          </a:p>
          <a:p>
            <a:pPr>
              <a:defRPr sz="950">
                <a:solidFill>
                  <a:srgbClr val="64748B"/>
                </a:solidFill>
                <a:latin typeface="Calibri"/>
              </a:defRPr>
            </a:pPr>
            <a:r>
              <a:t>Render Deployment (AnalyticsPage.jsx)</a:t>
            </a:r>
          </a:p>
        </p:txBody>
      </p:sp>
      <p:sp>
        <p:nvSpPr>
          <p:cNvPr id="23" name="Rounded Rectangle 22"/>
          <p:cNvSpPr/>
          <p:nvPr/>
        </p:nvSpPr>
        <p:spPr>
          <a:xfrm>
            <a:off x="6044184" y="3895344"/>
            <a:ext cx="5315407" cy="244144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analytics_live.png"/>
          <p:cNvPicPr>
            <a:picLocks noChangeAspect="1"/>
          </p:cNvPicPr>
          <p:nvPr/>
        </p:nvPicPr>
        <p:blipFill>
          <a:blip r:embed="rId3"/>
          <a:stretch>
            <a:fillRect/>
          </a:stretch>
        </p:blipFill>
        <p:spPr>
          <a:xfrm>
            <a:off x="6080760" y="3931920"/>
            <a:ext cx="5242255" cy="2148840"/>
          </a:xfrm>
          <a:prstGeom prst="rect">
            <a:avLst/>
          </a:prstGeom>
        </p:spPr>
      </p:pic>
      <p:sp>
        <p:nvSpPr>
          <p:cNvPr id="25" name="TextBox 24"/>
          <p:cNvSpPr txBox="1"/>
          <p:nvPr/>
        </p:nvSpPr>
        <p:spPr>
          <a:xfrm>
            <a:off x="6080760" y="6099048"/>
            <a:ext cx="5242255" cy="256032"/>
          </a:xfrm>
          <a:prstGeom prst="rect">
            <a:avLst/>
          </a:prstGeom>
          <a:noFill/>
        </p:spPr>
        <p:txBody>
          <a:bodyPr wrap="square" lIns="0" tIns="0" rIns="0" bIns="0">
            <a:spAutoFit/>
          </a:bodyPr>
          <a:lstStyle/>
          <a:p>
            <a:pPr algn="ctr">
              <a:defRPr sz="880" b="1">
                <a:solidFill>
                  <a:srgbClr val="FD451B"/>
                </a:solidFill>
                <a:latin typeface="Calibri"/>
              </a:defRPr>
            </a:pPr>
            <a:r>
              <a:t>Live Production: Analytics Dashboard with operational response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2531</Words>
  <Application>Microsoft Office PowerPoint</Application>
  <PresentationFormat>Widescreen</PresentationFormat>
  <Paragraphs>181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 sanikop</cp:lastModifiedBy>
  <cp:revision>4</cp:revision>
  <dcterms:created xsi:type="dcterms:W3CDTF">2013-01-27T09:14:16Z</dcterms:created>
  <dcterms:modified xsi:type="dcterms:W3CDTF">2026-10-05T05:48:06Z</dcterms:modified>
  <cp:category/>
</cp:coreProperties>
</file>