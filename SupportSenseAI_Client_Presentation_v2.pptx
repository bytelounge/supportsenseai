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thrilled to present SupportSense AI, an enterprise-grade AI-assisted customer support ecosystem developed during our Persistent Systems internship. Our team consists of Rohan Salkar as Frontend &amp; UI/UX Lead, Yash Sanikop (Roll No. 23CO76) as Frontend &amp; AI Lead, Shrujan Mitbavkar as Backend &amp; Database Lead, and Aarti Singh as DevOps, QA &amp; Documentation Lead. Together, our 4 leads will take you on a detailed journey from ideation to production. Let us begin with the executive overview of what makes SupportSense AI transformative for modern enterprise support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executive value proposition: Enterprise customer support centers are currently overwhelmed by rising ticket volumes, leading to slow response times and agent burnout. SupportSense AI solves this through an ethical Human-in-the-Loop paradigm: AI Assists, Humans Decide. We achieved a 75% reduction in First Response Time through automated department acknowledgments, a 35% deflection rate using real-time FAQ matching, and a 96% triage accuracy calibrated against real datasets. Critically, our system maintains 100% data consistency through atomic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our ideation phase, we analyzed enterprise customer service workflows and identified four critical bottlenecks. First, First Response Time often takes 8 to 14 hours because human agents must manually read and route every single ticket. Second, queue gaming is rampant: frustrated customers shout 'URGENT' in all caps, which tricks traditional keyword filters into prioritizing trivial issues over real infrastructure downtime. Third, duplicate tickets bloat queues by 30% because customers submit repeated inquiries for issues already fixed. And fourth, when a ticket is reopened, agents suffer context blindness, wasting 15 minutes wading through 25 past messages. SupportSense AI was specifically engineered to eradicate these four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how SupportSense AI compares against established market giants like Zendesk, Freshdesk, and ServiceNow. Unlike commercial SaaS platforms that simply tack on expensive generic OpenAI APIs with token markups, SupportSense AI grounds its LLM inference in historical Kaggle and Hugging Face customer support datasets. We are the only platform offering anti-gaming urgency decoupling, pre-send 4-pillar empathy auditing, and proactive HTTP 409 duplicate interception before tickets are even created. Best of all, our architecture is 100% self-hostable with zero vendor lock-in, saving enterprise clients tens of thousands of dollars in annual licensing fees.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journey from ideation to production followed a disciplined Agile Scrum methodology across four 2-week sprints. As shown in our empirical Jira burndown charts on the left, we maintained zero backlog carryover, burning all 166 story points to zero on schedule. Sprint 1 established our research, requirements, and dataset ingestion. Sprint 2 stood up our 3-tier architecture. Sprint 3 wired the live Gemini triage and decision-support features. And Sprint 4 delivered advanced enterprise capabilities like the AI Concierge, Supabase cloud pooling, and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operated as a cohesive cross-functional unit with clearly delineated technical ownership. Rohan led Frontend &amp; UI/UX architecture; Yash Sanikop (Roll No. 23CO76) engineered the FastAPI AI microservice, Gemini SDK, and conversational AI concierge widgets; Shrujan spearheaded Express REST controllers, PostgreSQL relational schema, and database transactions; and Aarti led Docker containerization, Render Blueprint orchestration, automated Jest/Pytest suites, and security hardening. We are now ready to dive deep into each technical domain.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In this first technical section, Aarti and I will walk you through the client tier, user experience, and security governance. I will cover the React 18 Single Page Application, our MoonRow design system, responsive layouts, the dual-pane agent workbench, and our AI tone polishing modals. Aarti will then demonstrate our security hardening, stateless JWT authentication, role-based access control, the 1-click persona testing framework, and automated QA suites.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Frontend &amp; UI/UX Lead, my primary objective was to deliver an interface with the speed and polish of modern developer tools like Linear and Stripe. We chose React 18 paired with Vite, which achieves an ultra-lean 263 kB bundle (just 87 kB gzipped) that builds in 8.3 seconds. Our custom MoonRow design system provides dark and light modes with zero layout shift and guarantees WCAG 2.1 AA contrast compliance. Furthermore, our Axios client in api.js includes smart mock fallbacks, meaning the entire UI can be demonstrated offline without network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the core workspace where agents spend their day: the Dual-Pane Agent Workbench. On the left, agents view chronological customer conversations with clear visual separation between public customer messages and private internal staff notes, preventing accidental data leaks. On the right, you can see the actual live screenshot taken directly from our production deployment on Render! The AI Decision Drawer delivers real-time customer mood pills, patience scores, dataset-grounded resolution estimates, and interactive troubleshooting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three AI tools directly integrated into the UI. First, our 1-Click Tone Polishing Modals allow hurried agents to draft rough notes and convert them into Empathetic, Concise, Formal, or Technical enterprise communication, cycling through three variations with anti-nesting rules. Second, our Pre-Send Quality Checker evaluates agent drafts across four objective pillars—Professionalism, Empathy, Clarity, and Actionability. And third, as shown in the live screenshot from Render on the right, our Real-Time FAQ Deflection panel scans verified documentation as the user types, successfully deflecting 35% of routine questions before submission. Now, I will hand over to Aarti Singh to cover Security Hardening and Access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Rohan. As DevOps, QA &amp; Documentation Lead, my mandate encompassed security hardening, automated test suites, and technical governance specifications. We implemented stateless JSON Web Token Bearer authentication with 1-hour expiration, backed by bcrypt password hashing with 10 salt rounds. Our Axios interceptors automatically inject authorization headers and seamlessly handle token expiration. Critically, our public registration endpoint strictly sanitizes user input, guaranteeing that external users cannot escalate privileges to Agent or Admin. Combined with Helmet security headers, CORS origin whitelisting, and express rate-limiting, the application is fortified against OWASP Top 10 vulnerabilities.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enterprise support, strict data segregation is critical. We established a granular Role-Based Access Control matrix across three primary roles and four departments. Customers can only access their own tickets and are strictly blocked from viewing internal staff notes. Agents are organized into Technical Support, Finance &amp; Billing, Identity &amp; Access, and API Platform, with access tailored to their queue. To make evaluating this system effortless for our clients, we built the 1-Click Persona Testing Bar. Stakeholders can click a single button to switch between Sarah the Customer, Alex the Tech Agent, Elena the Billing Agent, or the System Administrator without retyping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Frontend &amp; AI Lead, I engineered the bridge connecting user-facing widgets with our Gemini AI pipeline. Non-technical customers often struggle to draft precise technical tickets. On the left, you can see our live production screenshot of the AI Concierge widget in action! A user describes their issue in everyday language; the Concierge asks clarifying questions and compiles a formal enterprise ticket specification ready for 1-click dispatch. On the right, we showcase our Duplicate Ticket Interception mechanism. If a customer tries to submit a ticket for an issue that was already solved for them, our backend intercepts it with an HTTP 409 response, displays the previous resolution steps, and offers an override only if the problem recurred.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highlights our Automated QA Suites, Technical Governance, and Executive SLA Analytics dashboard. As QA &amp; Documentation Lead, I established our automated test pyramid: 89 test specifications across Jest and Pytest running with a 100% pass rate. We also authored 13 comprehensive engineering modules establishing architectural standards and governance. On the right is our actual live production screenshot from Render showing real-time queue health, KPI cards, and department filters. I will now pass the presentation to Shrujan Mitbavkar and Yash Sanikop for the Backend, Database, and AI Microservice deep dive.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Aarti. In this second half of the technical presentation, Shrujan and I will present the backend engine, database architecture, AI microservice, and cloud deployment. Shrujan will explain our Node.js and Express REST controllers, our normalized PostgreSQL schema, atomic SQL transactions, and Supabase cloud pooling. Then I will detail our Python FastAPI AI microservice, Gemini 1.5 Flash SDK integration, model instance pooling, SHA-256 TTL caching, and prompt engineering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Yash. As Backend &amp; Database Lead, my mission was to construct a robust, high-throughput Node.js and Express REST engine that acts as the central brain of SupportSense AI. Our P95 latency remains well under 200 milliseconds. All AI interactions are decoupled through our aiService.js proxy with a strict 5-second AbortSignal timeout. If the upstream LLM ever delays, our fast-fail handler returns safe fallback data so tickets are created without interruption. Our controllers strictly enforce business rules, audit logging, and inter-department forwarding.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the database tier: we implemented a normalized PostgreSQL 15 schema adhering strictly to Third Normal Form. Our schema features six core entities, including tickets, threaded messages, AI metadata, checklists, and weekly insights. We migrated our database to Supabase Cloud with PgBouncer connection pooling, enforcing SSL encryption and sub-50ms query execution through compound B-tree indexes. Our automated dbInit.js script ensures zero-configuration schema creation upon boot.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represents our greatest backend engineering achievement: bulletproof data integrity. Under SCRUM-112, we wrapped ticket creation and initial message creation into an atomic SQL transaction. If a network blip or constraint error interrupts message insertion, the entire ticket rolls back—guaranteeing zero orphaned records. Under SCRUM-111, our status transition state machine strictly enforces valid ticket lifecycle progression. And under SCRUM-110, we subjected our database to 100 concurrent parallel submissions; our sequence generator produced 100% unique ticket numbers with zero race conditions. I will now pass the floor to Yash Sanikop to present our AI Microservice, Model Pooling, TTL Caching, and Prompt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Shrujan. As Frontend &amp; AI Lead, I architected our Python FastAPI AI microservice and integrated the Google Gemini 1.5 Flash SDK. We chose Google Gemini 1.5 Flash for its sub-second latency and low token costs. Directly instantiating LLM clients on every request causes memory thrashing, so I implemented GenerativeModel instance pooling and an SHA-256 in-memory TTL response cache. This drops repeated queries from 1,800 milliseconds down to just 12 milliseconds! All outputs are validated against strict Pydantic v2 JSON schemas, and our deterministic regex fallback handler guarantees that even if the external LLM is offline, our support platform never crashes.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innovation of SupportSense AI is that our model does not generate arbitrary predictions. We ground its reasoning in four major open-source datasets from Kaggle and Hugging Face. Our resolution forecasting is calibrated against historical SLA benchmarks, and our conversational tone is calibrated against Twitter Customer Support records. Furthermore, in templates.py, I authored eight specialized 40-line persona system prompts. Our Anti-Gaming Prompting explicitly separates emotion from priority: if a customer shouts 'URGENT!!!' over a minor UI color preference, the system records Frustrated in customer_mood, but keeps technical priority at LOW, preserving SLA fairness.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showcases two high-impact operational automations. First, our Department Automated Response System evaluates incoming tickets against four department policies. As shown in the live screenshot from Render on the left, each department has handled categories and minimum confidence thresholds. If qualified, it dispatches an instant confirmation message and triggers background diagnostic health checks, slashing First Response Time to two minutes. Second, under SCRUM-113, we built an asynchronous fire-and-forget worker for reopened tickets. When a customer reopens a closed issue, an async worker calls Gemini to condense 20 past conversation bubbles into a 5-bullet executive summary. When the next agent opens the ticket, they see a prominent TL;DR banner, saving 15 minutes of re-reading time. Now, Aarti Singh will present Docker containerization, Render Blueprint orchestration, and CI/CD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seamless client adoption and production stability, I headed our Docker containerization and Render Blueprint cloud orchestration. We built multi-stage Dockerfiles for all tiers, resulting in ultra-compact images: Nginx frontend at 25 MB, Express backend at 140 MB, and FastAPI at 210 MB. A single 'docker compose up' command launches the entire stack locally. For cloud deployment, our render.yaml Blueprint provisions all services on Render with one click, connected to Supabase PostgreSQL over SSL. Furthermore, our GitHub Actions CI/CD pipeline validates every commit by booting a test PostgreSQL container and running all unit and integration tests. Now, our entire team will rejoin for the System Architecture, Empirical Benchmarks, and Client ROI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complete system architecture diagram of SupportSense AI. The Client Tier communicates with the Express Application Tier over HTTPS REST using JWT Bearer authentication. The Express backend handles business logic, state machines, and atomic database persistence to PostgreSQL. When AI triage or decision support is needed, the backend delegates asynchronously to our Python FastAPI AI microservice, which executes specialized role-based prompts grounded in Kaggle and Hugging Face datasets. This decoupled micro-architecture guarantees high availability, modular scaling, and zero single points of failure.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claim we make today is backed by empirical proof. As seen on this slide and verified in our test reports: our ticket classification achieved 96.0% accuracy; customer mood detection reached 94.0% alignment; and our patience score guardrail reached 91.2% calibration. Inference latency averages just 420 milliseconds, dropping to 12 milliseconds on SHA-256 cache hits. Furthermore, our automated test suite achieved a 100% pass rate across 89 unit, integration, concurrency, and transaction rollback test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SupportSense AI delivers transformational business outcomes for enterprise support centers: a 75% reduction in First Response Time, a 35% ticket deflection rate, a 28% increase in First Contact Resolution, and over 80% savings in AI API costs. Our strategic roadmap includes Vector RAG with pgvector, real-time telephony transcription, and predictive SLA alerting. With 13 comprehensive engineering modules, 100% test pass rates, and turnkey Docker orchestration, SupportSense AI is enterprise-ready today. On behalf of Rohan, Aarti, Shrujan, and myself, thank you for your time. We would now be delighted to answer any questions and demonstrate a live walkthrough of the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822960" y="914400"/>
            <a:ext cx="1097280" cy="1172666"/>
          </a:xfrm>
          <a:prstGeom prst="rect">
            <a:avLst/>
          </a:prstGeom>
        </p:spPr>
      </p:pic>
      <p:sp>
        <p:nvSpPr>
          <p:cNvPr id="4" name="TextBox 3"/>
          <p:cNvSpPr txBox="1"/>
          <p:nvPr/>
        </p:nvSpPr>
        <p:spPr>
          <a:xfrm>
            <a:off x="2103120" y="822960"/>
            <a:ext cx="9326880" cy="2011680"/>
          </a:xfrm>
          <a:prstGeom prst="rect">
            <a:avLst/>
          </a:prstGeom>
          <a:noFill/>
        </p:spPr>
        <p:txBody>
          <a:bodyPr wrap="square">
            <a:spAutoFit/>
          </a:bodyPr>
          <a:lstStyle/>
          <a:p>
            <a:pPr>
              <a:defRPr sz="4000" b="1">
                <a:solidFill>
                  <a:srgbClr val="F8FAFC"/>
                </a:solidFill>
                <a:latin typeface="Calibri"/>
              </a:defRPr>
            </a:pPr>
            <a:r>
              <a:t>SupportSense AI</a:t>
            </a:r>
          </a:p>
          <a:p>
            <a:pPr>
              <a:spcBef>
                <a:spcPts val="600"/>
              </a:spcBef>
              <a:defRPr sz="2000" b="1">
                <a:solidFill>
                  <a:srgbClr val="38BDF8"/>
                </a:solidFill>
                <a:latin typeface="Calibri"/>
              </a:defRPr>
            </a:pPr>
            <a:r>
              <a:t>Enterprise AI-Assisted Customer Support Ecosystem</a:t>
            </a:r>
          </a:p>
          <a:p>
            <a:pPr>
              <a:spcBef>
                <a:spcPts val="600"/>
              </a:spcBef>
              <a:defRPr sz="1200">
                <a:solidFill>
                  <a:srgbClr val="94A3B8"/>
                </a:solidFill>
                <a:latin typeface="Calibri"/>
              </a:defRPr>
            </a:pPr>
            <a:r>
              <a:t>Real-Time Triage • Sentiment Monitoring • Dataset-Grounded Resolution Forecasting • Department Automated Replies</a:t>
            </a:r>
          </a:p>
        </p:txBody>
      </p:sp>
      <p:sp>
        <p:nvSpPr>
          <p:cNvPr id="5" name="Rectangle 4"/>
          <p:cNvSpPr/>
          <p:nvPr/>
        </p:nvSpPr>
        <p:spPr>
          <a:xfrm>
            <a:off x="822960" y="2926080"/>
            <a:ext cx="1054577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54680"/>
            <a:ext cx="2514600" cy="29260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337560"/>
            <a:ext cx="2057400" cy="320040"/>
          </a:xfrm>
          <a:prstGeom prst="rect">
            <a:avLst/>
          </a:prstGeom>
          <a:noFill/>
        </p:spPr>
        <p:txBody>
          <a:bodyPr wrap="square" lIns="0" tIns="0" rIns="0" bIns="0">
            <a:spAutoFit/>
          </a:bodyPr>
          <a:lstStyle/>
          <a:p>
            <a:pPr>
              <a:defRPr sz="1250" b="1">
                <a:solidFill>
                  <a:srgbClr val="F8FAFC"/>
                </a:solidFill>
                <a:latin typeface="Calibri"/>
              </a:defRPr>
            </a:pPr>
            <a:r>
              <a:t>Rohan Salkar</a:t>
            </a:r>
          </a:p>
          <a:p>
            <a:pPr>
              <a:defRPr sz="950">
                <a:solidFill>
                  <a:srgbClr val="94A3B8"/>
                </a:solidFill>
                <a:latin typeface="Calibri"/>
              </a:defRPr>
            </a:pPr>
            <a:r>
              <a:t>Frontend &amp; UI/UX Lead</a:t>
            </a:r>
          </a:p>
        </p:txBody>
      </p:sp>
      <p:sp>
        <p:nvSpPr>
          <p:cNvPr id="8" name="TextBox 7"/>
          <p:cNvSpPr txBox="1"/>
          <p:nvPr/>
        </p:nvSpPr>
        <p:spPr>
          <a:xfrm>
            <a:off x="1005840" y="3977639"/>
            <a:ext cx="2148840" cy="1920240"/>
          </a:xfrm>
          <a:prstGeom prst="rect">
            <a:avLst/>
          </a:prstGeom>
          <a:noFill/>
        </p:spPr>
        <p:txBody>
          <a:bodyPr wrap="square" lIns="0" tIns="0" rIns="0" bIns="0">
            <a:spAutoFit/>
          </a:bodyPr>
          <a:lstStyle/>
          <a:p>
            <a:pPr>
              <a:defRPr sz="950">
                <a:solidFill>
                  <a:srgbClr val="94A3B8"/>
                </a:solidFill>
                <a:latin typeface="Calibri"/>
              </a:defRPr>
            </a:pPr>
            <a:r>
              <a:t>Headed the React 18 Single Page Application architecture, Tailwind CSS MoonRow design system, dark/light theme switching, responsive layouts, and tone polishing modals.</a:t>
            </a:r>
          </a:p>
        </p:txBody>
      </p:sp>
      <p:sp>
        <p:nvSpPr>
          <p:cNvPr id="9" name="Rounded Rectangle 8"/>
          <p:cNvSpPr/>
          <p:nvPr/>
        </p:nvSpPr>
        <p:spPr>
          <a:xfrm>
            <a:off x="3520440" y="3154680"/>
            <a:ext cx="2514600" cy="29260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3337560"/>
            <a:ext cx="2057400" cy="320040"/>
          </a:xfrm>
          <a:prstGeom prst="rect">
            <a:avLst/>
          </a:prstGeom>
          <a:noFill/>
        </p:spPr>
        <p:txBody>
          <a:bodyPr wrap="square" lIns="0" tIns="0" rIns="0" bIns="0">
            <a:spAutoFit/>
          </a:bodyPr>
          <a:lstStyle/>
          <a:p>
            <a:pPr>
              <a:defRPr sz="1250" b="1">
                <a:solidFill>
                  <a:srgbClr val="F8FAFC"/>
                </a:solidFill>
                <a:latin typeface="Calibri"/>
              </a:defRPr>
            </a:pPr>
            <a:r>
              <a:t>Yash Sanikop</a:t>
            </a:r>
          </a:p>
          <a:p>
            <a:pPr>
              <a:defRPr sz="950">
                <a:solidFill>
                  <a:srgbClr val="94A3B8"/>
                </a:solidFill>
                <a:latin typeface="Calibri"/>
              </a:defRPr>
            </a:pPr>
            <a:r>
              <a:t>Frontend &amp; AI Lead</a:t>
            </a:r>
            <a:br/>
            <a:r>
              <a:t>(Intern: Roll No. 23CO76)</a:t>
            </a:r>
          </a:p>
        </p:txBody>
      </p:sp>
      <p:sp>
        <p:nvSpPr>
          <p:cNvPr id="11" name="TextBox 10"/>
          <p:cNvSpPr txBox="1"/>
          <p:nvPr/>
        </p:nvSpPr>
        <p:spPr>
          <a:xfrm>
            <a:off x="3703320" y="3977639"/>
            <a:ext cx="2148840" cy="1920240"/>
          </a:xfrm>
          <a:prstGeom prst="rect">
            <a:avLst/>
          </a:prstGeom>
          <a:noFill/>
        </p:spPr>
        <p:txBody>
          <a:bodyPr wrap="square" lIns="0" tIns="0" rIns="0" bIns="0">
            <a:spAutoFit/>
          </a:bodyPr>
          <a:lstStyle/>
          <a:p>
            <a:pPr>
              <a:defRPr sz="950">
                <a:solidFill>
                  <a:srgbClr val="94A3B8"/>
                </a:solidFill>
                <a:latin typeface="Calibri"/>
              </a:defRPr>
            </a:pPr>
            <a:r>
              <a:t>Responsible for FastAPI AI microservice, Gemini 1.5 Flash SDK integration, model instance pooling, TTL caching, prompt engineering, and conversational AI concierge widgets.</a:t>
            </a:r>
          </a:p>
        </p:txBody>
      </p:sp>
      <p:sp>
        <p:nvSpPr>
          <p:cNvPr id="12" name="Rounded Rectangle 11"/>
          <p:cNvSpPr/>
          <p:nvPr/>
        </p:nvSpPr>
        <p:spPr>
          <a:xfrm>
            <a:off x="6217920" y="3154680"/>
            <a:ext cx="2514600" cy="29260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337560"/>
            <a:ext cx="2057400" cy="320040"/>
          </a:xfrm>
          <a:prstGeom prst="rect">
            <a:avLst/>
          </a:prstGeom>
          <a:noFill/>
        </p:spPr>
        <p:txBody>
          <a:bodyPr wrap="square" lIns="0" tIns="0" rIns="0" bIns="0">
            <a:spAutoFit/>
          </a:bodyPr>
          <a:lstStyle/>
          <a:p>
            <a:pPr>
              <a:defRPr sz="1250" b="1">
                <a:solidFill>
                  <a:srgbClr val="F8FAFC"/>
                </a:solidFill>
                <a:latin typeface="Calibri"/>
              </a:defRPr>
            </a:pPr>
            <a:r>
              <a:t>Shrujan Mitbavkar</a:t>
            </a:r>
          </a:p>
          <a:p>
            <a:pPr>
              <a:defRPr sz="950">
                <a:solidFill>
                  <a:srgbClr val="94A3B8"/>
                </a:solidFill>
                <a:latin typeface="Calibri"/>
              </a:defRPr>
            </a:pPr>
            <a:r>
              <a:t>Backend &amp; Database Lead</a:t>
            </a:r>
          </a:p>
        </p:txBody>
      </p:sp>
      <p:sp>
        <p:nvSpPr>
          <p:cNvPr id="14" name="TextBox 13"/>
          <p:cNvSpPr txBox="1"/>
          <p:nvPr/>
        </p:nvSpPr>
        <p:spPr>
          <a:xfrm>
            <a:off x="6400800" y="3977639"/>
            <a:ext cx="2148840" cy="1920240"/>
          </a:xfrm>
          <a:prstGeom prst="rect">
            <a:avLst/>
          </a:prstGeom>
          <a:noFill/>
        </p:spPr>
        <p:txBody>
          <a:bodyPr wrap="square" lIns="0" tIns="0" rIns="0" bIns="0">
            <a:spAutoFit/>
          </a:bodyPr>
          <a:lstStyle/>
          <a:p>
            <a:pPr>
              <a:defRPr sz="950">
                <a:solidFill>
                  <a:srgbClr val="94A3B8"/>
                </a:solidFill>
                <a:latin typeface="Calibri"/>
              </a:defRPr>
            </a:pPr>
            <a:r>
              <a:t>Managed Express REST controllers, PostgreSQL relational schema modeling, database transactions, state machines, and Supabase cloud connection pooling.</a:t>
            </a:r>
          </a:p>
        </p:txBody>
      </p:sp>
      <p:sp>
        <p:nvSpPr>
          <p:cNvPr id="15" name="Rounded Rectangle 14"/>
          <p:cNvSpPr/>
          <p:nvPr/>
        </p:nvSpPr>
        <p:spPr>
          <a:xfrm>
            <a:off x="8915400" y="3154680"/>
            <a:ext cx="2514600" cy="292608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3337560"/>
            <a:ext cx="2057400" cy="320040"/>
          </a:xfrm>
          <a:prstGeom prst="rect">
            <a:avLst/>
          </a:prstGeom>
          <a:noFill/>
        </p:spPr>
        <p:txBody>
          <a:bodyPr wrap="square" lIns="0" tIns="0" rIns="0" bIns="0">
            <a:spAutoFit/>
          </a:bodyPr>
          <a:lstStyle/>
          <a:p>
            <a:pPr>
              <a:defRPr sz="1250" b="1">
                <a:solidFill>
                  <a:srgbClr val="F8FAFC"/>
                </a:solidFill>
                <a:latin typeface="Calibri"/>
              </a:defRPr>
            </a:pPr>
            <a:r>
              <a:t>Aarti Singh</a:t>
            </a:r>
          </a:p>
          <a:p>
            <a:pPr>
              <a:defRPr sz="950">
                <a:solidFill>
                  <a:srgbClr val="94A3B8"/>
                </a:solidFill>
                <a:latin typeface="Calibri"/>
              </a:defRPr>
            </a:pPr>
            <a:r>
              <a:t>DevOps, QA &amp; Doc Lead</a:t>
            </a:r>
          </a:p>
        </p:txBody>
      </p:sp>
      <p:sp>
        <p:nvSpPr>
          <p:cNvPr id="17" name="TextBox 16"/>
          <p:cNvSpPr txBox="1"/>
          <p:nvPr/>
        </p:nvSpPr>
        <p:spPr>
          <a:xfrm>
            <a:off x="9098280" y="3977639"/>
            <a:ext cx="2148840" cy="1920240"/>
          </a:xfrm>
          <a:prstGeom prst="rect">
            <a:avLst/>
          </a:prstGeom>
          <a:noFill/>
        </p:spPr>
        <p:txBody>
          <a:bodyPr wrap="square" lIns="0" tIns="0" rIns="0" bIns="0">
            <a:spAutoFit/>
          </a:bodyPr>
          <a:lstStyle/>
          <a:p>
            <a:pPr>
              <a:defRPr sz="950">
                <a:solidFill>
                  <a:srgbClr val="94A3B8"/>
                </a:solidFill>
                <a:latin typeface="Calibri"/>
              </a:defRPr>
            </a:pPr>
            <a:r>
              <a:t>Headed Docker containerization, Render Blueprint orchestration, automated Jest and Pytest suites, security hardening, and technical governance specifications.</a:t>
            </a:r>
          </a:p>
        </p:txBody>
      </p:sp>
      <p:sp>
        <p:nvSpPr>
          <p:cNvPr id="18" name="TextBox 17"/>
          <p:cNvSpPr txBox="1"/>
          <p:nvPr/>
        </p:nvSpPr>
        <p:spPr>
          <a:xfrm>
            <a:off x="822960" y="6217920"/>
            <a:ext cx="10515600" cy="365760"/>
          </a:xfrm>
          <a:prstGeom prst="rect">
            <a:avLst/>
          </a:prstGeom>
          <a:noFill/>
        </p:spPr>
        <p:txBody>
          <a:bodyPr wrap="none">
            <a:spAutoFit/>
          </a:bodyPr>
          <a:lstStyle/>
          <a:p>
            <a:pPr>
              <a:defRPr sz="950">
                <a:solidFill>
                  <a:srgbClr val="94A3B8"/>
                </a:solidFill>
                <a:latin typeface="Calibri"/>
              </a:defRPr>
            </a:pPr>
            <a:r>
              <a:t>Persistent Systems Ltd. Internship Program | Student Intern: Yash Sanikop (Roll No. 23CO76) | Industry Mentor: Vishal Bidikar | Guide: Prof. Laxmikant Bordekar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EXECUTIVE SUMMARY</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Executive Overview</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Strategic Business Impact &amp; Human-in-the-Loop Value</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Delivering enterprise ROI through intelligent decision-support without risky unverified automations.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02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371600"/>
          </a:xfrm>
          <a:prstGeom prst="rect">
            <a:avLst/>
          </a:prstGeom>
          <a:noFill/>
        </p:spPr>
        <p:txBody>
          <a:bodyPr wrap="square" lIns="0" tIns="0" rIns="0" bIns="0">
            <a:spAutoFit/>
          </a:bodyPr>
          <a:lstStyle/>
          <a:p>
            <a:pPr>
              <a:defRPr sz="3200" b="1">
                <a:solidFill>
                  <a:srgbClr val="38BDF8"/>
                </a:solidFill>
                <a:latin typeface="Calibri"/>
              </a:defRPr>
            </a:pPr>
            <a:r>
              <a:t>75%</a:t>
            </a:r>
          </a:p>
          <a:p>
            <a:pPr>
              <a:spcBef>
                <a:spcPts val="400"/>
              </a:spcBef>
              <a:defRPr sz="1200" b="1">
                <a:solidFill>
                  <a:srgbClr val="F8FAFC"/>
                </a:solidFill>
                <a:latin typeface="Calibri"/>
              </a:defRPr>
            </a:pPr>
            <a:r>
              <a:t>First Response Reduction</a:t>
            </a:r>
          </a:p>
          <a:p>
            <a:pPr>
              <a:spcBef>
                <a:spcPts val="300"/>
              </a:spcBef>
              <a:defRPr sz="950">
                <a:solidFill>
                  <a:srgbClr val="94A3B8"/>
                </a:solidFill>
                <a:latin typeface="Calibri"/>
              </a:defRPr>
            </a:pPr>
            <a:r>
              <a:t>From industry 8.5 hrs to 2.1 mins via instant department confirmations</a:t>
            </a:r>
          </a:p>
        </p:txBody>
      </p:sp>
      <p:sp>
        <p:nvSpPr>
          <p:cNvPr id="12" name="Rounded Rectangle 11"/>
          <p:cNvSpPr/>
          <p:nvPr/>
        </p:nvSpPr>
        <p:spPr>
          <a:xfrm>
            <a:off x="3429000" y="173736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371600"/>
          </a:xfrm>
          <a:prstGeom prst="rect">
            <a:avLst/>
          </a:prstGeom>
          <a:noFill/>
        </p:spPr>
        <p:txBody>
          <a:bodyPr wrap="square" lIns="0" tIns="0" rIns="0" bIns="0">
            <a:spAutoFit/>
          </a:bodyPr>
          <a:lstStyle/>
          <a:p>
            <a:pPr>
              <a:defRPr sz="3200" b="1">
                <a:solidFill>
                  <a:srgbClr val="10B981"/>
                </a:solidFill>
                <a:latin typeface="Calibri"/>
              </a:defRPr>
            </a:pPr>
            <a:r>
              <a:t>35%</a:t>
            </a:r>
          </a:p>
          <a:p>
            <a:pPr>
              <a:spcBef>
                <a:spcPts val="400"/>
              </a:spcBef>
              <a:defRPr sz="1200" b="1">
                <a:solidFill>
                  <a:srgbClr val="F8FAFC"/>
                </a:solidFill>
                <a:latin typeface="Calibri"/>
              </a:defRPr>
            </a:pPr>
            <a:r>
              <a:t>Ticket Deflection Rate</a:t>
            </a:r>
          </a:p>
          <a:p>
            <a:pPr>
              <a:spcBef>
                <a:spcPts val="300"/>
              </a:spcBef>
              <a:defRPr sz="950">
                <a:solidFill>
                  <a:srgbClr val="94A3B8"/>
                </a:solidFill>
                <a:latin typeface="Calibri"/>
              </a:defRPr>
            </a:pPr>
            <a:r>
              <a:t>Real-time Knowledge Base suggestions &amp; HTTP 409 duplicate alerts</a:t>
            </a:r>
          </a:p>
        </p:txBody>
      </p:sp>
      <p:sp>
        <p:nvSpPr>
          <p:cNvPr id="14" name="Rounded Rectangle 13"/>
          <p:cNvSpPr/>
          <p:nvPr/>
        </p:nvSpPr>
        <p:spPr>
          <a:xfrm>
            <a:off x="6126480" y="173736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371600"/>
          </a:xfrm>
          <a:prstGeom prst="rect">
            <a:avLst/>
          </a:prstGeom>
          <a:noFill/>
        </p:spPr>
        <p:txBody>
          <a:bodyPr wrap="square" lIns="0" tIns="0" rIns="0" bIns="0">
            <a:spAutoFit/>
          </a:bodyPr>
          <a:lstStyle/>
          <a:p>
            <a:pPr>
              <a:defRPr sz="3200" b="1">
                <a:solidFill>
                  <a:srgbClr val="F59E0B"/>
                </a:solidFill>
                <a:latin typeface="Calibri"/>
              </a:defRPr>
            </a:pPr>
            <a:r>
              <a:t>96.0%</a:t>
            </a:r>
          </a:p>
          <a:p>
            <a:pPr>
              <a:spcBef>
                <a:spcPts val="400"/>
              </a:spcBef>
              <a:defRPr sz="1200" b="1">
                <a:solidFill>
                  <a:srgbClr val="F8FAFC"/>
                </a:solidFill>
                <a:latin typeface="Calibri"/>
              </a:defRPr>
            </a:pPr>
            <a:r>
              <a:t>AI Triage Accuracy</a:t>
            </a:r>
          </a:p>
          <a:p>
            <a:pPr>
              <a:spcBef>
                <a:spcPts val="300"/>
              </a:spcBef>
              <a:defRPr sz="950">
                <a:solidFill>
                  <a:srgbClr val="94A3B8"/>
                </a:solidFill>
                <a:latin typeface="Calibri"/>
              </a:defRPr>
            </a:pPr>
            <a:r>
              <a:t>Calibrated on 100 historical Kaggle and Hugging Face support records</a:t>
            </a:r>
          </a:p>
        </p:txBody>
      </p:sp>
      <p:sp>
        <p:nvSpPr>
          <p:cNvPr id="16" name="Rounded Rectangle 15"/>
          <p:cNvSpPr/>
          <p:nvPr/>
        </p:nvSpPr>
        <p:spPr>
          <a:xfrm>
            <a:off x="8823960" y="1737360"/>
            <a:ext cx="251460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371600"/>
          </a:xfrm>
          <a:prstGeom prst="rect">
            <a:avLst/>
          </a:prstGeom>
          <a:noFill/>
        </p:spPr>
        <p:txBody>
          <a:bodyPr wrap="square" lIns="0" tIns="0" rIns="0" bIns="0">
            <a:spAutoFit/>
          </a:bodyPr>
          <a:lstStyle/>
          <a:p>
            <a:pPr>
              <a:defRPr sz="3200" b="1">
                <a:solidFill>
                  <a:srgbClr val="A855F7"/>
                </a:solidFill>
                <a:latin typeface="Calibri"/>
              </a:defRPr>
            </a:pPr>
            <a:r>
              <a:t>100%</a:t>
            </a:r>
          </a:p>
          <a:p>
            <a:pPr>
              <a:spcBef>
                <a:spcPts val="400"/>
              </a:spcBef>
              <a:defRPr sz="1200" b="1">
                <a:solidFill>
                  <a:srgbClr val="F8FAFC"/>
                </a:solidFill>
                <a:latin typeface="Calibri"/>
              </a:defRPr>
            </a:pPr>
            <a:r>
              <a:t>Data Consistency</a:t>
            </a:r>
          </a:p>
          <a:p>
            <a:pPr>
              <a:spcBef>
                <a:spcPts val="300"/>
              </a:spcBef>
              <a:defRPr sz="950">
                <a:solidFill>
                  <a:srgbClr val="94A3B8"/>
                </a:solidFill>
                <a:latin typeface="Calibri"/>
              </a:defRPr>
            </a:pPr>
            <a:r>
              <a:t>Atomic PostgreSQL commits with 0 orphaned tickets on message failures</a:t>
            </a:r>
          </a:p>
        </p:txBody>
      </p:sp>
      <p:sp>
        <p:nvSpPr>
          <p:cNvPr id="18" name="Rounded Rectangle 17"/>
          <p:cNvSpPr/>
          <p:nvPr/>
        </p:nvSpPr>
        <p:spPr>
          <a:xfrm>
            <a:off x="731520" y="3566160"/>
            <a:ext cx="338328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49039"/>
            <a:ext cx="2926080" cy="320040"/>
          </a:xfrm>
          <a:prstGeom prst="rect">
            <a:avLst/>
          </a:prstGeom>
          <a:noFill/>
        </p:spPr>
        <p:txBody>
          <a:bodyPr wrap="square" lIns="0" tIns="0" rIns="0" bIns="0">
            <a:spAutoFit/>
          </a:bodyPr>
          <a:lstStyle/>
          <a:p>
            <a:pPr>
              <a:defRPr sz="1250" b="1">
                <a:solidFill>
                  <a:srgbClr val="F8FAFC"/>
                </a:solidFill>
                <a:latin typeface="Calibri"/>
              </a:defRPr>
            </a:pPr>
            <a:r>
              <a:t>Operational Velocity &amp; SLA Guard</a:t>
            </a:r>
          </a:p>
          <a:p>
            <a:pPr>
              <a:defRPr sz="950">
                <a:solidFill>
                  <a:srgbClr val="94A3B8"/>
                </a:solidFill>
                <a:latin typeface="Calibri"/>
              </a:defRPr>
            </a:pPr>
            <a:r>
              <a:t>Slashing triage bottlenecks</a:t>
            </a:r>
          </a:p>
        </p:txBody>
      </p:sp>
      <p:sp>
        <p:nvSpPr>
          <p:cNvPr id="20" name="TextBox 19"/>
          <p:cNvSpPr txBox="1"/>
          <p:nvPr/>
        </p:nvSpPr>
        <p:spPr>
          <a:xfrm>
            <a:off x="914400" y="4206240"/>
            <a:ext cx="3017520" cy="1920240"/>
          </a:xfrm>
          <a:prstGeom prst="rect">
            <a:avLst/>
          </a:prstGeom>
          <a:noFill/>
        </p:spPr>
        <p:txBody>
          <a:bodyPr wrap="square" lIns="0" tIns="0" rIns="0" bIns="0">
            <a:spAutoFit/>
          </a:bodyPr>
          <a:lstStyle/>
          <a:p>
            <a:pPr>
              <a:spcBef>
                <a:spcPts val="400"/>
              </a:spcBef>
            </a:pPr>
            <a:r>
              <a:rPr sz="1100" b="1">
                <a:solidFill>
                  <a:srgbClr val="F8FAFC"/>
                </a:solidFill>
                <a:latin typeface="Calibri"/>
              </a:rPr>
              <a:t>•  Instant Auto-Replies: </a:t>
            </a:r>
            <a:r>
              <a:rPr sz="1100">
                <a:solidFill>
                  <a:srgbClr val="94A3B8"/>
                </a:solidFill>
                <a:latin typeface="Calibri"/>
              </a:rPr>
              <a:t>Non-destructive department replies dispatched in &lt; 2 seconds.</a:t>
            </a:r>
          </a:p>
          <a:p>
            <a:pPr>
              <a:spcBef>
                <a:spcPts val="400"/>
              </a:spcBef>
            </a:pPr>
            <a:r>
              <a:rPr sz="1100" b="1">
                <a:solidFill>
                  <a:srgbClr val="F8FAFC"/>
                </a:solidFill>
                <a:latin typeface="Calibri"/>
              </a:rPr>
              <a:t>•  Dynamic Checklists: </a:t>
            </a:r>
            <a:r>
              <a:rPr sz="1100">
                <a:solidFill>
                  <a:srgbClr val="94A3B8"/>
                </a:solidFill>
                <a:latin typeface="Calibri"/>
              </a:rPr>
              <a:t>3–5 tailored verification steps prevent overlooked troubleshooting.</a:t>
            </a:r>
          </a:p>
          <a:p>
            <a:pPr>
              <a:spcBef>
                <a:spcPts val="400"/>
              </a:spcBef>
            </a:pPr>
            <a:r>
              <a:rPr sz="1100" b="1">
                <a:solidFill>
                  <a:srgbClr val="F8FAFC"/>
                </a:solidFill>
                <a:latin typeface="Calibri"/>
              </a:rPr>
              <a:t>•  Patience Tracking: </a:t>
            </a:r>
            <a:r>
              <a:rPr sz="1100">
                <a:solidFill>
                  <a:srgbClr val="94A3B8"/>
                </a:solidFill>
                <a:latin typeface="Calibri"/>
              </a:rPr>
              <a:t>4-tier customer patience indicators signal SLA escalation risks before breach.</a:t>
            </a:r>
          </a:p>
        </p:txBody>
      </p:sp>
      <p:sp>
        <p:nvSpPr>
          <p:cNvPr id="21" name="Rounded Rectangle 20"/>
          <p:cNvSpPr/>
          <p:nvPr/>
        </p:nvSpPr>
        <p:spPr>
          <a:xfrm>
            <a:off x="4389120" y="3566160"/>
            <a:ext cx="338328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3749039"/>
            <a:ext cx="2926080" cy="320040"/>
          </a:xfrm>
          <a:prstGeom prst="rect">
            <a:avLst/>
          </a:prstGeom>
          <a:noFill/>
        </p:spPr>
        <p:txBody>
          <a:bodyPr wrap="square" lIns="0" tIns="0" rIns="0" bIns="0">
            <a:spAutoFit/>
          </a:bodyPr>
          <a:lstStyle/>
          <a:p>
            <a:pPr>
              <a:defRPr sz="1250" b="1">
                <a:solidFill>
                  <a:srgbClr val="F8FAFC"/>
                </a:solidFill>
                <a:latin typeface="Calibri"/>
              </a:defRPr>
            </a:pPr>
            <a:r>
              <a:t>Human-in-the-Loop (HITL) Safety</a:t>
            </a:r>
          </a:p>
          <a:p>
            <a:pPr>
              <a:defRPr sz="950">
                <a:solidFill>
                  <a:srgbClr val="94A3B8"/>
                </a:solidFill>
                <a:latin typeface="Calibri"/>
              </a:defRPr>
            </a:pPr>
            <a:r>
              <a:t>AI Assists, Humans Decide</a:t>
            </a:r>
          </a:p>
        </p:txBody>
      </p:sp>
      <p:sp>
        <p:nvSpPr>
          <p:cNvPr id="23" name="TextBox 22"/>
          <p:cNvSpPr txBox="1"/>
          <p:nvPr/>
        </p:nvSpPr>
        <p:spPr>
          <a:xfrm>
            <a:off x="4572000" y="4206240"/>
            <a:ext cx="3017520" cy="1920240"/>
          </a:xfrm>
          <a:prstGeom prst="rect">
            <a:avLst/>
          </a:prstGeom>
          <a:noFill/>
        </p:spPr>
        <p:txBody>
          <a:bodyPr wrap="square" lIns="0" tIns="0" rIns="0" bIns="0">
            <a:spAutoFit/>
          </a:bodyPr>
          <a:lstStyle/>
          <a:p>
            <a:pPr>
              <a:spcBef>
                <a:spcPts val="400"/>
              </a:spcBef>
            </a:pPr>
            <a:r>
              <a:rPr sz="1100" b="1">
                <a:solidFill>
                  <a:srgbClr val="F8FAFC"/>
                </a:solidFill>
                <a:latin typeface="Calibri"/>
              </a:rPr>
              <a:t>•  Strict Bounded Automation: </a:t>
            </a:r>
            <a:r>
              <a:rPr sz="1100">
                <a:solidFill>
                  <a:srgbClr val="94A3B8"/>
                </a:solidFill>
                <a:latin typeface="Calibri"/>
              </a:rPr>
              <a:t>AI never issues refunds, edits data, or sends unvetted replies autonomously.</a:t>
            </a:r>
          </a:p>
          <a:p>
            <a:pPr>
              <a:spcBef>
                <a:spcPts val="400"/>
              </a:spcBef>
            </a:pPr>
            <a:r>
              <a:rPr sz="1100" b="1">
                <a:solidFill>
                  <a:srgbClr val="F8FAFC"/>
                </a:solidFill>
                <a:latin typeface="Calibri"/>
              </a:rPr>
              <a:t>•  Pre-Send Quality Audits: </a:t>
            </a:r>
            <a:r>
              <a:rPr sz="1100">
                <a:solidFill>
                  <a:srgbClr val="94A3B8"/>
                </a:solidFill>
                <a:latin typeface="Calibri"/>
              </a:rPr>
              <a:t>4-pillar evaluator scores Professionalism, Empathy, Clarity, Actionability.</a:t>
            </a:r>
          </a:p>
          <a:p>
            <a:pPr>
              <a:spcBef>
                <a:spcPts val="400"/>
              </a:spcBef>
            </a:pPr>
            <a:r>
              <a:rPr sz="1100" b="1">
                <a:solidFill>
                  <a:srgbClr val="F8FAFC"/>
                </a:solidFill>
                <a:latin typeface="Calibri"/>
              </a:rPr>
              <a:t>•  Confidence Fallbacks: </a:t>
            </a:r>
            <a:r>
              <a:rPr sz="1100">
                <a:solidFill>
                  <a:srgbClr val="94A3B8"/>
                </a:solidFill>
                <a:latin typeface="Calibri"/>
              </a:rPr>
              <a:t>If Gemini confidence drops &lt; 60%, warnings prompt human review.</a:t>
            </a:r>
          </a:p>
        </p:txBody>
      </p:sp>
      <p:sp>
        <p:nvSpPr>
          <p:cNvPr id="24" name="Rounded Rectangle 23"/>
          <p:cNvSpPr/>
          <p:nvPr/>
        </p:nvSpPr>
        <p:spPr>
          <a:xfrm>
            <a:off x="8046720" y="3566160"/>
            <a:ext cx="338328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20" y="3749039"/>
            <a:ext cx="2926080" cy="320040"/>
          </a:xfrm>
          <a:prstGeom prst="rect">
            <a:avLst/>
          </a:prstGeom>
          <a:noFill/>
        </p:spPr>
        <p:txBody>
          <a:bodyPr wrap="square" lIns="0" tIns="0" rIns="0" bIns="0">
            <a:spAutoFit/>
          </a:bodyPr>
          <a:lstStyle/>
          <a:p>
            <a:pPr>
              <a:defRPr sz="1250" b="1">
                <a:solidFill>
                  <a:srgbClr val="F8FAFC"/>
                </a:solidFill>
                <a:latin typeface="Calibri"/>
              </a:defRPr>
            </a:pPr>
            <a:r>
              <a:t>Continuous Organizational Learning</a:t>
            </a:r>
          </a:p>
          <a:p>
            <a:pPr>
              <a:defRPr sz="950">
                <a:solidFill>
                  <a:srgbClr val="94A3B8"/>
                </a:solidFill>
                <a:latin typeface="Calibri"/>
              </a:defRPr>
            </a:pPr>
            <a:r>
              <a:t>Turning closed tickets into IP</a:t>
            </a:r>
          </a:p>
        </p:txBody>
      </p:sp>
      <p:sp>
        <p:nvSpPr>
          <p:cNvPr id="26" name="TextBox 25"/>
          <p:cNvSpPr txBox="1"/>
          <p:nvPr/>
        </p:nvSpPr>
        <p:spPr>
          <a:xfrm>
            <a:off x="8229600" y="4206240"/>
            <a:ext cx="3017520" cy="1920240"/>
          </a:xfrm>
          <a:prstGeom prst="rect">
            <a:avLst/>
          </a:prstGeom>
          <a:noFill/>
        </p:spPr>
        <p:txBody>
          <a:bodyPr wrap="square" lIns="0" tIns="0" rIns="0" bIns="0">
            <a:spAutoFit/>
          </a:bodyPr>
          <a:lstStyle/>
          <a:p>
            <a:pPr>
              <a:spcBef>
                <a:spcPts val="400"/>
              </a:spcBef>
            </a:pPr>
            <a:r>
              <a:rPr sz="1100" b="1">
                <a:solidFill>
                  <a:srgbClr val="F8FAFC"/>
                </a:solidFill>
                <a:latin typeface="Calibri"/>
              </a:rPr>
              <a:t>•  Weekly AI Insights: </a:t>
            </a:r>
            <a:r>
              <a:rPr sz="1100">
                <a:solidFill>
                  <a:srgbClr val="94A3B8"/>
                </a:solidFill>
                <a:latin typeface="Calibri"/>
              </a:rPr>
              <a:t>Aggregates recurring failures, agent missteps, and emerging product bugs.</a:t>
            </a:r>
          </a:p>
          <a:p>
            <a:pPr>
              <a:spcBef>
                <a:spcPts val="400"/>
              </a:spcBef>
            </a:pPr>
            <a:r>
              <a:rPr sz="1100" b="1">
                <a:solidFill>
                  <a:srgbClr val="F8FAFC"/>
                </a:solidFill>
                <a:latin typeface="Calibri"/>
              </a:rPr>
              <a:t>•  Auto-Generated FAQs: </a:t>
            </a:r>
            <a:r>
              <a:rPr sz="1100">
                <a:solidFill>
                  <a:srgbClr val="94A3B8"/>
                </a:solidFill>
                <a:latin typeface="Calibri"/>
              </a:rPr>
              <a:t>Recommends new documentation topics based on deflection gaps.</a:t>
            </a:r>
          </a:p>
          <a:p>
            <a:pPr>
              <a:spcBef>
                <a:spcPts val="400"/>
              </a:spcBef>
            </a:pPr>
            <a:r>
              <a:rPr sz="1100" b="1">
                <a:solidFill>
                  <a:srgbClr val="F8FAFC"/>
                </a:solidFill>
                <a:latin typeface="Calibri"/>
              </a:rPr>
              <a:t>•  Zero Vendor Lock-in: </a:t>
            </a:r>
            <a:r>
              <a:rPr sz="1100">
                <a:solidFill>
                  <a:srgbClr val="94A3B8"/>
                </a:solidFill>
                <a:latin typeface="Calibri"/>
              </a:rPr>
              <a:t>Self-hostable Docker architecture with complete client data sovereignty.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IDEATION PHASE</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Ideation &amp; Problem Space</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The Enterprise Support Crisis: 4 Critical Industry Bottlenecks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Why traditional ticketing systems fail high-volume enterprise environments.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03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5257800" cy="210312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800600" cy="320040"/>
          </a:xfrm>
          <a:prstGeom prst="rect">
            <a:avLst/>
          </a:prstGeom>
          <a:noFill/>
        </p:spPr>
        <p:txBody>
          <a:bodyPr wrap="square" lIns="0" tIns="0" rIns="0" bIns="0">
            <a:spAutoFit/>
          </a:bodyPr>
          <a:lstStyle/>
          <a:p>
            <a:pPr>
              <a:defRPr sz="1250" b="1">
                <a:solidFill>
                  <a:srgbClr val="F8FAFC"/>
                </a:solidFill>
                <a:latin typeface="Calibri"/>
              </a:defRPr>
            </a:pPr>
            <a:r>
              <a:t>1. Sluggish First Response Times (FRT)</a:t>
            </a:r>
          </a:p>
        </p:txBody>
      </p:sp>
      <p:sp>
        <p:nvSpPr>
          <p:cNvPr id="12" name="TextBox 11"/>
          <p:cNvSpPr txBox="1"/>
          <p:nvPr/>
        </p:nvSpPr>
        <p:spPr>
          <a:xfrm>
            <a:off x="1005840" y="2331720"/>
            <a:ext cx="4709160" cy="1371600"/>
          </a:xfrm>
          <a:prstGeom prst="rect">
            <a:avLst/>
          </a:prstGeom>
          <a:noFill/>
        </p:spPr>
        <p:txBody>
          <a:bodyPr wrap="square" lIns="0" tIns="0" rIns="0" bIns="0">
            <a:spAutoFit/>
          </a:bodyPr>
          <a:lstStyle/>
          <a:p>
            <a:pPr>
              <a:defRPr sz="1100">
                <a:solidFill>
                  <a:srgbClr val="94A3B8"/>
                </a:solidFill>
                <a:latin typeface="Calibri"/>
              </a:defRPr>
            </a:pPr>
            <a:r>
              <a:t>Enterprise support queues stretch between 8 and 14 hours for initial responses. Manual triage requires reading, classifying, assigning, and drafting from scratch, causing catastrophic SLA breach penalties and customer churn.</a:t>
            </a:r>
          </a:p>
        </p:txBody>
      </p:sp>
      <p:sp>
        <p:nvSpPr>
          <p:cNvPr id="13" name="Rounded Rectangle 12"/>
          <p:cNvSpPr/>
          <p:nvPr/>
        </p:nvSpPr>
        <p:spPr>
          <a:xfrm>
            <a:off x="6172200" y="1737360"/>
            <a:ext cx="5257800" cy="2103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920240"/>
            <a:ext cx="4800600" cy="320040"/>
          </a:xfrm>
          <a:prstGeom prst="rect">
            <a:avLst/>
          </a:prstGeom>
          <a:noFill/>
        </p:spPr>
        <p:txBody>
          <a:bodyPr wrap="square" lIns="0" tIns="0" rIns="0" bIns="0">
            <a:spAutoFit/>
          </a:bodyPr>
          <a:lstStyle/>
          <a:p>
            <a:pPr>
              <a:defRPr sz="1250" b="1">
                <a:solidFill>
                  <a:srgbClr val="F8FAFC"/>
                </a:solidFill>
                <a:latin typeface="Calibri"/>
              </a:defRPr>
            </a:pPr>
            <a:r>
              <a:t>2. Queue Gaming &amp; Shouting Hijacking</a:t>
            </a:r>
          </a:p>
        </p:txBody>
      </p:sp>
      <p:sp>
        <p:nvSpPr>
          <p:cNvPr id="15" name="TextBox 14"/>
          <p:cNvSpPr txBox="1"/>
          <p:nvPr/>
        </p:nvSpPr>
        <p:spPr>
          <a:xfrm>
            <a:off x="6446520" y="2331720"/>
            <a:ext cx="4709160" cy="1371600"/>
          </a:xfrm>
          <a:prstGeom prst="rect">
            <a:avLst/>
          </a:prstGeom>
          <a:noFill/>
        </p:spPr>
        <p:txBody>
          <a:bodyPr wrap="square" lIns="0" tIns="0" rIns="0" bIns="0">
            <a:spAutoFit/>
          </a:bodyPr>
          <a:lstStyle/>
          <a:p>
            <a:pPr>
              <a:defRPr sz="1100">
                <a:solidFill>
                  <a:srgbClr val="94A3B8"/>
                </a:solidFill>
                <a:latin typeface="Calibri"/>
              </a:defRPr>
            </a:pPr>
            <a:r>
              <a:t>Customers type 'URGENT!!!' or 'EMERGENCY' for minor inquiries, distorting ticket priority queues. Traditional systems lack emotional decoupling, burying genuinely critical enterprise outages beneath shouting users.</a:t>
            </a:r>
          </a:p>
        </p:txBody>
      </p:sp>
      <p:sp>
        <p:nvSpPr>
          <p:cNvPr id="16" name="Rounded Rectangle 15"/>
          <p:cNvSpPr/>
          <p:nvPr/>
        </p:nvSpPr>
        <p:spPr>
          <a:xfrm>
            <a:off x="731520" y="4023360"/>
            <a:ext cx="5257800" cy="21031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206240"/>
            <a:ext cx="4800600" cy="320040"/>
          </a:xfrm>
          <a:prstGeom prst="rect">
            <a:avLst/>
          </a:prstGeom>
          <a:noFill/>
        </p:spPr>
        <p:txBody>
          <a:bodyPr wrap="square" lIns="0" tIns="0" rIns="0" bIns="0">
            <a:spAutoFit/>
          </a:bodyPr>
          <a:lstStyle/>
          <a:p>
            <a:pPr>
              <a:defRPr sz="1250" b="1">
                <a:solidFill>
                  <a:srgbClr val="F8FAFC"/>
                </a:solidFill>
                <a:latin typeface="Calibri"/>
              </a:defRPr>
            </a:pPr>
            <a:r>
              <a:t>3. Queue Fragmentation &amp; Duplication Bloat</a:t>
            </a:r>
          </a:p>
        </p:txBody>
      </p:sp>
      <p:sp>
        <p:nvSpPr>
          <p:cNvPr id="18" name="TextBox 17"/>
          <p:cNvSpPr txBox="1"/>
          <p:nvPr/>
        </p:nvSpPr>
        <p:spPr>
          <a:xfrm>
            <a:off x="1005840" y="4617720"/>
            <a:ext cx="4709160" cy="1371600"/>
          </a:xfrm>
          <a:prstGeom prst="rect">
            <a:avLst/>
          </a:prstGeom>
          <a:noFill/>
        </p:spPr>
        <p:txBody>
          <a:bodyPr wrap="square" lIns="0" tIns="0" rIns="0" bIns="0">
            <a:spAutoFit/>
          </a:bodyPr>
          <a:lstStyle/>
          <a:p>
            <a:pPr>
              <a:defRPr sz="1100">
                <a:solidFill>
                  <a:srgbClr val="94A3B8"/>
                </a:solidFill>
                <a:latin typeface="Calibri"/>
              </a:defRPr>
            </a:pPr>
            <a:r>
              <a:t>Customers repeatedly submit new tickets for issues that were already resolved, or create multiple threads for the same incident. This bloats queues by over 30% and forces agents to re-diagnose already solved problems.</a:t>
            </a:r>
          </a:p>
        </p:txBody>
      </p:sp>
      <p:sp>
        <p:nvSpPr>
          <p:cNvPr id="19" name="Rounded Rectangle 18"/>
          <p:cNvSpPr/>
          <p:nvPr/>
        </p:nvSpPr>
        <p:spPr>
          <a:xfrm>
            <a:off x="6172200" y="4023360"/>
            <a:ext cx="5257800" cy="2103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206240"/>
            <a:ext cx="4800600" cy="320040"/>
          </a:xfrm>
          <a:prstGeom prst="rect">
            <a:avLst/>
          </a:prstGeom>
          <a:noFill/>
        </p:spPr>
        <p:txBody>
          <a:bodyPr wrap="square" lIns="0" tIns="0" rIns="0" bIns="0">
            <a:spAutoFit/>
          </a:bodyPr>
          <a:lstStyle/>
          <a:p>
            <a:pPr>
              <a:defRPr sz="1250" b="1">
                <a:solidFill>
                  <a:srgbClr val="F8FAFC"/>
                </a:solidFill>
                <a:latin typeface="Calibri"/>
              </a:defRPr>
            </a:pPr>
            <a:r>
              <a:t>4. Reopened Ticket Context Blindness</a:t>
            </a:r>
          </a:p>
        </p:txBody>
      </p:sp>
      <p:sp>
        <p:nvSpPr>
          <p:cNvPr id="21" name="TextBox 20"/>
          <p:cNvSpPr txBox="1"/>
          <p:nvPr/>
        </p:nvSpPr>
        <p:spPr>
          <a:xfrm>
            <a:off x="6446520" y="4617720"/>
            <a:ext cx="4709160" cy="1371600"/>
          </a:xfrm>
          <a:prstGeom prst="rect">
            <a:avLst/>
          </a:prstGeom>
          <a:noFill/>
        </p:spPr>
        <p:txBody>
          <a:bodyPr wrap="square" lIns="0" tIns="0" rIns="0" bIns="0">
            <a:spAutoFit/>
          </a:bodyPr>
          <a:lstStyle/>
          <a:p>
            <a:pPr>
              <a:defRPr sz="1100">
                <a:solidFill>
                  <a:srgbClr val="94A3B8"/>
                </a:solidFill>
                <a:latin typeface="Calibri"/>
              </a:defRPr>
            </a:pPr>
            <a:r>
              <a:t>When customers reopen previously resolved tickets, newly assigned agents must read through 20 to 30 past conversation bubbles to understand context, introducing 15+ minutes of delay per reopened ticket.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MARKET ANALYSIS</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Market Comparison</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Competitive Advantage: SupportSense AI vs. Market Alternatives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How our grounded, domain-specific architecture outperforms legacy enterprise SaaS solutions.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04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graphicFrame>
        <p:nvGraphicFramePr>
          <p:cNvPr id="10" name="Table 9"/>
          <p:cNvGraphicFramePr>
            <a:graphicFrameLocks noGrp="1"/>
          </p:cNvGraphicFramePr>
          <p:nvPr/>
        </p:nvGraphicFramePr>
        <p:xfrm>
          <a:off x="731520" y="1737360"/>
          <a:ext cx="10728655" cy="4389120"/>
        </p:xfrm>
        <a:graphic>
          <a:graphicData uri="http://schemas.openxmlformats.org/drawingml/2006/table">
            <a:tbl>
              <a:tblPr firstRow="1" bandRow="1">
                <a:tableStyleId>{5C22544A-7EE6-4342-B048-85BDC9FD1C3A}</a:tableStyleId>
              </a:tblPr>
              <a:tblGrid>
                <a:gridCol w="2103120"/>
                <a:gridCol w="2560320"/>
                <a:gridCol w="2011680"/>
                <a:gridCol w="2011680"/>
                <a:gridCol w="2041855"/>
              </a:tblGrid>
              <a:tr h="627017">
                <a:tc>
                  <a:txBody>
                    <a:bodyPr/>
                    <a:lstStyle/>
                    <a:p>
                      <a:pPr algn="l">
                        <a:defRPr sz="1100" b="1">
                          <a:solidFill>
                            <a:srgbClr val="F8FAFC"/>
                          </a:solidFill>
                          <a:latin typeface="Calibri"/>
                        </a:defRPr>
                      </a:pPr>
                      <a:r>
                        <a:t>Evaluation Criteria</a:t>
                      </a:r>
                    </a:p>
                  </a:txBody>
                  <a:tcPr anchor="ctr">
                    <a:solidFill>
                      <a:srgbClr val="1E3A8A"/>
                    </a:solidFill>
                  </a:tcPr>
                </a:tc>
                <a:tc>
                  <a:txBody>
                    <a:bodyPr/>
                    <a:lstStyle/>
                    <a:p>
                      <a:pPr algn="l">
                        <a:defRPr sz="1100" b="1">
                          <a:solidFill>
                            <a:srgbClr val="F8FAFC"/>
                          </a:solidFill>
                          <a:latin typeface="Calibri"/>
                        </a:defRPr>
                      </a:pPr>
                      <a:r>
                        <a:t>SupportSense AI</a:t>
                      </a:r>
                    </a:p>
                  </a:txBody>
                  <a:tcPr anchor="ctr">
                    <a:solidFill>
                      <a:srgbClr val="1E3A8A"/>
                    </a:solidFill>
                  </a:tcPr>
                </a:tc>
                <a:tc>
                  <a:txBody>
                    <a:bodyPr/>
                    <a:lstStyle/>
                    <a:p>
                      <a:pPr algn="l">
                        <a:defRPr sz="1100" b="1">
                          <a:solidFill>
                            <a:srgbClr val="F8FAFC"/>
                          </a:solidFill>
                          <a:latin typeface="Calibri"/>
                        </a:defRPr>
                      </a:pPr>
                      <a:r>
                        <a:t>Zendesk Enterprise</a:t>
                      </a:r>
                    </a:p>
                  </a:txBody>
                  <a:tcPr anchor="ctr">
                    <a:solidFill>
                      <a:srgbClr val="1E3A8A"/>
                    </a:solidFill>
                  </a:tcPr>
                </a:tc>
                <a:tc>
                  <a:txBody>
                    <a:bodyPr/>
                    <a:lstStyle/>
                    <a:p>
                      <a:pPr algn="l">
                        <a:defRPr sz="1100" b="1">
                          <a:solidFill>
                            <a:srgbClr val="F8FAFC"/>
                          </a:solidFill>
                          <a:latin typeface="Calibri"/>
                        </a:defRPr>
                      </a:pPr>
                      <a:r>
                        <a:t>Freshdesk Pro</a:t>
                      </a:r>
                    </a:p>
                  </a:txBody>
                  <a:tcPr anchor="ctr">
                    <a:solidFill>
                      <a:srgbClr val="1E3A8A"/>
                    </a:solidFill>
                  </a:tcPr>
                </a:tc>
                <a:tc>
                  <a:txBody>
                    <a:bodyPr/>
                    <a:lstStyle/>
                    <a:p>
                      <a:pPr algn="l">
                        <a:defRPr sz="1100" b="1">
                          <a:solidFill>
                            <a:srgbClr val="F8FAFC"/>
                          </a:solidFill>
                          <a:latin typeface="Calibri"/>
                        </a:defRPr>
                      </a:pPr>
                      <a:r>
                        <a:t>ServiceNow IT</a:t>
                      </a:r>
                    </a:p>
                  </a:txBody>
                  <a:tcPr anchor="ctr">
                    <a:solidFill>
                      <a:srgbClr val="1E3A8A"/>
                    </a:solidFill>
                  </a:tcPr>
                </a:tc>
              </a:tr>
              <a:tr h="627017">
                <a:tc>
                  <a:txBody>
                    <a:bodyPr/>
                    <a:lstStyle/>
                    <a:p>
                      <a:pPr algn="l">
                        <a:defRPr sz="1000">
                          <a:solidFill>
                            <a:srgbClr val="F8FAFC"/>
                          </a:solidFill>
                          <a:latin typeface="Calibri"/>
                        </a:defRPr>
                      </a:pPr>
                      <a:r>
                        <a:t>AI Grounding &amp; Benchmarks</a:t>
                      </a:r>
                    </a:p>
                  </a:txBody>
                  <a:tcPr anchor="ctr">
                    <a:solidFill>
                      <a:srgbClr val="1E293B"/>
                    </a:solidFill>
                  </a:tcPr>
                </a:tc>
                <a:tc>
                  <a:txBody>
                    <a:bodyPr/>
                    <a:lstStyle/>
                    <a:p>
                      <a:pPr algn="l">
                        <a:defRPr sz="1000">
                          <a:solidFill>
                            <a:srgbClr val="94A3B8"/>
                          </a:solidFill>
                          <a:latin typeface="Calibri"/>
                        </a:defRPr>
                      </a:pPr>
                      <a:r>
                        <a:t>Kaggle &amp; HuggingFace Datasets (Empirical SLAs)</a:t>
                      </a:r>
                    </a:p>
                  </a:txBody>
                  <a:tcPr anchor="ctr">
                    <a:solidFill>
                      <a:srgbClr val="1E293B"/>
                    </a:solidFill>
                  </a:tcPr>
                </a:tc>
                <a:tc>
                  <a:txBody>
                    <a:bodyPr/>
                    <a:lstStyle/>
                    <a:p>
                      <a:pPr algn="l">
                        <a:defRPr sz="1000">
                          <a:solidFill>
                            <a:srgbClr val="94A3B8"/>
                          </a:solidFill>
                          <a:latin typeface="Calibri"/>
                        </a:defRPr>
                      </a:pPr>
                      <a:r>
                        <a:t>Generic Zero-Shot OpenAI Add-on</a:t>
                      </a:r>
                    </a:p>
                  </a:txBody>
                  <a:tcPr anchor="ctr">
                    <a:solidFill>
                      <a:srgbClr val="1E293B"/>
                    </a:solidFill>
                  </a:tcPr>
                </a:tc>
                <a:tc>
                  <a:txBody>
                    <a:bodyPr/>
                    <a:lstStyle/>
                    <a:p>
                      <a:pPr algn="l">
                        <a:defRPr sz="1000">
                          <a:solidFill>
                            <a:srgbClr val="94A3B8"/>
                          </a:solidFill>
                          <a:latin typeface="Calibri"/>
                        </a:defRPr>
                      </a:pPr>
                      <a:r>
                        <a:t>Basic Keyword Auto-Tagging</a:t>
                      </a:r>
                    </a:p>
                  </a:txBody>
                  <a:tcPr anchor="ctr">
                    <a:solidFill>
                      <a:srgbClr val="1E293B"/>
                    </a:solidFill>
                  </a:tcPr>
                </a:tc>
                <a:tc>
                  <a:txBody>
                    <a:bodyPr/>
                    <a:lstStyle/>
                    <a:p>
                      <a:pPr algn="l">
                        <a:defRPr sz="1000">
                          <a:solidFill>
                            <a:srgbClr val="94A3B8"/>
                          </a:solidFill>
                          <a:latin typeface="Calibri"/>
                        </a:defRPr>
                      </a:pPr>
                      <a:r>
                        <a:t>Custom Scripted ML Rules</a:t>
                      </a:r>
                    </a:p>
                  </a:txBody>
                  <a:tcPr anchor="ctr">
                    <a:solidFill>
                      <a:srgbClr val="1E293B"/>
                    </a:solidFill>
                  </a:tcPr>
                </a:tc>
              </a:tr>
              <a:tr h="627017">
                <a:tc>
                  <a:txBody>
                    <a:bodyPr/>
                    <a:lstStyle/>
                    <a:p>
                      <a:pPr algn="l">
                        <a:defRPr sz="1000">
                          <a:solidFill>
                            <a:srgbClr val="F8FAFC"/>
                          </a:solidFill>
                          <a:latin typeface="Calibri"/>
                        </a:defRPr>
                      </a:pPr>
                      <a:r>
                        <a:t>Anti-Gaming Triage</a:t>
                      </a:r>
                    </a:p>
                  </a:txBody>
                  <a:tcPr anchor="ctr">
                    <a:solidFill>
                      <a:srgbClr val="182234"/>
                    </a:solidFill>
                  </a:tcPr>
                </a:tc>
                <a:tc>
                  <a:txBody>
                    <a:bodyPr/>
                    <a:lstStyle/>
                    <a:p>
                      <a:pPr algn="l">
                        <a:defRPr sz="1000">
                          <a:solidFill>
                            <a:srgbClr val="94A3B8"/>
                          </a:solidFill>
                          <a:latin typeface="Calibri"/>
                        </a:defRPr>
                      </a:pPr>
                      <a:r>
                        <a:t>Decouples emotion from technical SLA priority</a:t>
                      </a:r>
                    </a:p>
                  </a:txBody>
                  <a:tcPr anchor="ctr">
                    <a:solidFill>
                      <a:srgbClr val="182234"/>
                    </a:solidFill>
                  </a:tcPr>
                </a:tc>
                <a:tc>
                  <a:txBody>
                    <a:bodyPr/>
                    <a:lstStyle/>
                    <a:p>
                      <a:pPr algn="l">
                        <a:defRPr sz="1000">
                          <a:solidFill>
                            <a:srgbClr val="94A3B8"/>
                          </a:solidFill>
                          <a:latin typeface="Calibri"/>
                        </a:defRPr>
                      </a:pPr>
                      <a:r>
                        <a:t>Prone to keyword urgency gaming</a:t>
                      </a:r>
                    </a:p>
                  </a:txBody>
                  <a:tcPr anchor="ctr">
                    <a:solidFill>
                      <a:srgbClr val="182234"/>
                    </a:solidFill>
                  </a:tcPr>
                </a:tc>
                <a:tc>
                  <a:txBody>
                    <a:bodyPr/>
                    <a:lstStyle/>
                    <a:p>
                      <a:pPr algn="l">
                        <a:defRPr sz="1000">
                          <a:solidFill>
                            <a:srgbClr val="94A3B8"/>
                          </a:solidFill>
                          <a:latin typeface="Calibri"/>
                        </a:defRPr>
                      </a:pPr>
                      <a:r>
                        <a:t>Prone to keyword urgency gaming</a:t>
                      </a:r>
                    </a:p>
                  </a:txBody>
                  <a:tcPr anchor="ctr">
                    <a:solidFill>
                      <a:srgbClr val="182234"/>
                    </a:solidFill>
                  </a:tcPr>
                </a:tc>
                <a:tc>
                  <a:txBody>
                    <a:bodyPr/>
                    <a:lstStyle/>
                    <a:p>
                      <a:pPr algn="l">
                        <a:defRPr sz="1000">
                          <a:solidFill>
                            <a:srgbClr val="94A3B8"/>
                          </a:solidFill>
                          <a:latin typeface="Calibri"/>
                        </a:defRPr>
                      </a:pPr>
                      <a:r>
                        <a:t>Manual priority matrix</a:t>
                      </a:r>
                    </a:p>
                  </a:txBody>
                  <a:tcPr anchor="ctr">
                    <a:solidFill>
                      <a:srgbClr val="182234"/>
                    </a:solidFill>
                  </a:tcPr>
                </a:tc>
              </a:tr>
              <a:tr h="627017">
                <a:tc>
                  <a:txBody>
                    <a:bodyPr/>
                    <a:lstStyle/>
                    <a:p>
                      <a:pPr algn="l">
                        <a:defRPr sz="1000">
                          <a:solidFill>
                            <a:srgbClr val="F8FAFC"/>
                          </a:solidFill>
                          <a:latin typeface="Calibri"/>
                        </a:defRPr>
                      </a:pPr>
                      <a:r>
                        <a:t>Tone Polishing &amp; QA</a:t>
                      </a:r>
                    </a:p>
                  </a:txBody>
                  <a:tcPr anchor="ctr">
                    <a:solidFill>
                      <a:srgbClr val="1E293B"/>
                    </a:solidFill>
                  </a:tcPr>
                </a:tc>
                <a:tc>
                  <a:txBody>
                    <a:bodyPr/>
                    <a:lstStyle/>
                    <a:p>
                      <a:pPr algn="l">
                        <a:defRPr sz="1000">
                          <a:solidFill>
                            <a:srgbClr val="94A3B8"/>
                          </a:solidFill>
                          <a:latin typeface="Calibri"/>
                        </a:defRPr>
                      </a:pPr>
                      <a:r>
                        <a:t>1-Click 3-Variation Cycling + 4-Pillar QA Modal</a:t>
                      </a:r>
                    </a:p>
                  </a:txBody>
                  <a:tcPr anchor="ctr">
                    <a:solidFill>
                      <a:srgbClr val="1E293B"/>
                    </a:solidFill>
                  </a:tcPr>
                </a:tc>
                <a:tc>
                  <a:txBody>
                    <a:bodyPr/>
                    <a:lstStyle/>
                    <a:p>
                      <a:pPr algn="l">
                        <a:defRPr sz="1000">
                          <a:solidFill>
                            <a:srgbClr val="94A3B8"/>
                          </a:solidFill>
                          <a:latin typeface="Calibri"/>
                        </a:defRPr>
                      </a:pPr>
                      <a:r>
                        <a:t>Grammar check add-on only</a:t>
                      </a:r>
                    </a:p>
                  </a:txBody>
                  <a:tcPr anchor="ctr">
                    <a:solidFill>
                      <a:srgbClr val="1E293B"/>
                    </a:solidFill>
                  </a:tcPr>
                </a:tc>
                <a:tc>
                  <a:txBody>
                    <a:bodyPr/>
                    <a:lstStyle/>
                    <a:p>
                      <a:pPr algn="l">
                        <a:defRPr sz="1000">
                          <a:solidFill>
                            <a:srgbClr val="94A3B8"/>
                          </a:solidFill>
                          <a:latin typeface="Calibri"/>
                        </a:defRPr>
                      </a:pPr>
                      <a:r>
                        <a:t>Static canned templates</a:t>
                      </a:r>
                    </a:p>
                  </a:txBody>
                  <a:tcPr anchor="ctr">
                    <a:solidFill>
                      <a:srgbClr val="1E293B"/>
                    </a:solidFill>
                  </a:tcPr>
                </a:tc>
                <a:tc>
                  <a:txBody>
                    <a:bodyPr/>
                    <a:lstStyle/>
                    <a:p>
                      <a:pPr algn="l">
                        <a:defRPr sz="1000">
                          <a:solidFill>
                            <a:srgbClr val="94A3B8"/>
                          </a:solidFill>
                          <a:latin typeface="Calibri"/>
                        </a:defRPr>
                      </a:pPr>
                      <a:r>
                        <a:t>None (Manual agent review)</a:t>
                      </a:r>
                    </a:p>
                  </a:txBody>
                  <a:tcPr anchor="ctr">
                    <a:solidFill>
                      <a:srgbClr val="1E293B"/>
                    </a:solidFill>
                  </a:tcPr>
                </a:tc>
              </a:tr>
              <a:tr h="627017">
                <a:tc>
                  <a:txBody>
                    <a:bodyPr/>
                    <a:lstStyle/>
                    <a:p>
                      <a:pPr algn="l">
                        <a:defRPr sz="1000">
                          <a:solidFill>
                            <a:srgbClr val="F8FAFC"/>
                          </a:solidFill>
                          <a:latin typeface="Calibri"/>
                        </a:defRPr>
                      </a:pPr>
                      <a:r>
                        <a:t>Duplicate Interception</a:t>
                      </a:r>
                    </a:p>
                  </a:txBody>
                  <a:tcPr anchor="ctr">
                    <a:solidFill>
                      <a:srgbClr val="182234"/>
                    </a:solidFill>
                  </a:tcPr>
                </a:tc>
                <a:tc>
                  <a:txBody>
                    <a:bodyPr/>
                    <a:lstStyle/>
                    <a:p>
                      <a:pPr algn="l">
                        <a:defRPr sz="1000">
                          <a:solidFill>
                            <a:srgbClr val="94A3B8"/>
                          </a:solidFill>
                          <a:latin typeface="Calibri"/>
                        </a:defRPr>
                      </a:pPr>
                      <a:r>
                        <a:t>HTTP 409 Interception with past resolution notes</a:t>
                      </a:r>
                    </a:p>
                  </a:txBody>
                  <a:tcPr anchor="ctr">
                    <a:solidFill>
                      <a:srgbClr val="182234"/>
                    </a:solidFill>
                  </a:tcPr>
                </a:tc>
                <a:tc>
                  <a:txBody>
                    <a:bodyPr/>
                    <a:lstStyle/>
                    <a:p>
                      <a:pPr algn="l">
                        <a:defRPr sz="1000">
                          <a:solidFill>
                            <a:srgbClr val="94A3B8"/>
                          </a:solidFill>
                          <a:latin typeface="Calibri"/>
                        </a:defRPr>
                      </a:pPr>
                      <a:r>
                        <a:t>Passive duplicate merging post-facto</a:t>
                      </a:r>
                    </a:p>
                  </a:txBody>
                  <a:tcPr anchor="ctr">
                    <a:solidFill>
                      <a:srgbClr val="182234"/>
                    </a:solidFill>
                  </a:tcPr>
                </a:tc>
                <a:tc>
                  <a:txBody>
                    <a:bodyPr/>
                    <a:lstStyle/>
                    <a:p>
                      <a:pPr algn="l">
                        <a:defRPr sz="1000">
                          <a:solidFill>
                            <a:srgbClr val="94A3B8"/>
                          </a:solidFill>
                          <a:latin typeface="Calibri"/>
                        </a:defRPr>
                      </a:pPr>
                      <a:r>
                        <a:t>Passive thread merging</a:t>
                      </a:r>
                    </a:p>
                  </a:txBody>
                  <a:tcPr anchor="ctr">
                    <a:solidFill>
                      <a:srgbClr val="182234"/>
                    </a:solidFill>
                  </a:tcPr>
                </a:tc>
                <a:tc>
                  <a:txBody>
                    <a:bodyPr/>
                    <a:lstStyle/>
                    <a:p>
                      <a:pPr algn="l">
                        <a:defRPr sz="1000">
                          <a:solidFill>
                            <a:srgbClr val="94A3B8"/>
                          </a:solidFill>
                          <a:latin typeface="Calibri"/>
                        </a:defRPr>
                      </a:pPr>
                      <a:r>
                        <a:t>Complex ITIL incident linking</a:t>
                      </a:r>
                    </a:p>
                  </a:txBody>
                  <a:tcPr anchor="ctr">
                    <a:solidFill>
                      <a:srgbClr val="182234"/>
                    </a:solidFill>
                  </a:tcPr>
                </a:tc>
              </a:tr>
              <a:tr h="627017">
                <a:tc>
                  <a:txBody>
                    <a:bodyPr/>
                    <a:lstStyle/>
                    <a:p>
                      <a:pPr algn="l">
                        <a:defRPr sz="1000">
                          <a:solidFill>
                            <a:srgbClr val="F8FAFC"/>
                          </a:solidFill>
                          <a:latin typeface="Calibri"/>
                        </a:defRPr>
                      </a:pPr>
                      <a:r>
                        <a:t>Reopened Ticket Summary</a:t>
                      </a:r>
                    </a:p>
                  </a:txBody>
                  <a:tcPr anchor="ctr">
                    <a:solidFill>
                      <a:srgbClr val="1E293B"/>
                    </a:solidFill>
                  </a:tcPr>
                </a:tc>
                <a:tc>
                  <a:txBody>
                    <a:bodyPr/>
                    <a:lstStyle/>
                    <a:p>
                      <a:pPr algn="l">
                        <a:defRPr sz="1000">
                          <a:solidFill>
                            <a:srgbClr val="94A3B8"/>
                          </a:solidFill>
                          <a:latin typeface="Calibri"/>
                        </a:defRPr>
                      </a:pPr>
                      <a:r>
                        <a:t>Async 5-bullet Executive TL;DR Banner</a:t>
                      </a:r>
                    </a:p>
                  </a:txBody>
                  <a:tcPr anchor="ctr">
                    <a:solidFill>
                      <a:srgbClr val="1E293B"/>
                    </a:solidFill>
                  </a:tcPr>
                </a:tc>
                <a:tc>
                  <a:txBody>
                    <a:bodyPr/>
                    <a:lstStyle/>
                    <a:p>
                      <a:pPr algn="l">
                        <a:defRPr sz="1000">
                          <a:solidFill>
                            <a:srgbClr val="94A3B8"/>
                          </a:solidFill>
                          <a:latin typeface="Calibri"/>
                        </a:defRPr>
                      </a:pPr>
                      <a:r>
                        <a:t>Full message re-read required</a:t>
                      </a:r>
                    </a:p>
                  </a:txBody>
                  <a:tcPr anchor="ctr">
                    <a:solidFill>
                      <a:srgbClr val="1E293B"/>
                    </a:solidFill>
                  </a:tcPr>
                </a:tc>
                <a:tc>
                  <a:txBody>
                    <a:bodyPr/>
                    <a:lstStyle/>
                    <a:p>
                      <a:pPr algn="l">
                        <a:defRPr sz="1000">
                          <a:solidFill>
                            <a:srgbClr val="94A3B8"/>
                          </a:solidFill>
                          <a:latin typeface="Calibri"/>
                        </a:defRPr>
                      </a:pPr>
                      <a:r>
                        <a:t>Full message re-read required</a:t>
                      </a:r>
                    </a:p>
                  </a:txBody>
                  <a:tcPr anchor="ctr">
                    <a:solidFill>
                      <a:srgbClr val="1E293B"/>
                    </a:solidFill>
                  </a:tcPr>
                </a:tc>
                <a:tc>
                  <a:txBody>
                    <a:bodyPr/>
                    <a:lstStyle/>
                    <a:p>
                      <a:pPr algn="l">
                        <a:defRPr sz="1000">
                          <a:solidFill>
                            <a:srgbClr val="94A3B8"/>
                          </a:solidFill>
                          <a:latin typeface="Calibri"/>
                        </a:defRPr>
                      </a:pPr>
                      <a:r>
                        <a:t>Lengthy audit log inspection</a:t>
                      </a:r>
                    </a:p>
                  </a:txBody>
                  <a:tcPr anchor="ctr">
                    <a:solidFill>
                      <a:srgbClr val="1E293B"/>
                    </a:solidFill>
                  </a:tcPr>
                </a:tc>
              </a:tr>
              <a:tr h="627018">
                <a:tc>
                  <a:txBody>
                    <a:bodyPr/>
                    <a:lstStyle/>
                    <a:p>
                      <a:pPr algn="l">
                        <a:defRPr sz="1000">
                          <a:solidFill>
                            <a:srgbClr val="F8FAFC"/>
                          </a:solidFill>
                          <a:latin typeface="Calibri"/>
                        </a:defRPr>
                      </a:pPr>
                      <a:r>
                        <a:t>Licensing &amp; Ownership</a:t>
                      </a:r>
                    </a:p>
                  </a:txBody>
                  <a:tcPr anchor="ctr">
                    <a:solidFill>
                      <a:srgbClr val="182234"/>
                    </a:solidFill>
                  </a:tcPr>
                </a:tc>
                <a:tc>
                  <a:txBody>
                    <a:bodyPr/>
                    <a:lstStyle/>
                    <a:p>
                      <a:pPr algn="l">
                        <a:defRPr sz="1000">
                          <a:solidFill>
                            <a:srgbClr val="94A3B8"/>
                          </a:solidFill>
                          <a:latin typeface="Calibri"/>
                        </a:defRPr>
                      </a:pPr>
                      <a:r>
                        <a:t>Self-Hostable Docker / Free Render Blueprint</a:t>
                      </a:r>
                    </a:p>
                  </a:txBody>
                  <a:tcPr anchor="ctr">
                    <a:solidFill>
                      <a:srgbClr val="182234"/>
                    </a:solidFill>
                  </a:tcPr>
                </a:tc>
                <a:tc>
                  <a:txBody>
                    <a:bodyPr/>
                    <a:lstStyle/>
                    <a:p>
                      <a:pPr algn="l">
                        <a:defRPr sz="1000">
                          <a:solidFill>
                            <a:srgbClr val="94A3B8"/>
                          </a:solidFill>
                          <a:latin typeface="Calibri"/>
                        </a:defRPr>
                      </a:pPr>
                      <a:r>
                        <a:t>$115+ per agent / month</a:t>
                      </a:r>
                    </a:p>
                  </a:txBody>
                  <a:tcPr anchor="ctr">
                    <a:solidFill>
                      <a:srgbClr val="182234"/>
                    </a:solidFill>
                  </a:tcPr>
                </a:tc>
                <a:tc>
                  <a:txBody>
                    <a:bodyPr/>
                    <a:lstStyle/>
                    <a:p>
                      <a:pPr algn="l">
                        <a:defRPr sz="1000">
                          <a:solidFill>
                            <a:srgbClr val="94A3B8"/>
                          </a:solidFill>
                          <a:latin typeface="Calibri"/>
                        </a:defRPr>
                      </a:pPr>
                      <a:r>
                        <a:t>$79+ per agent / month</a:t>
                      </a:r>
                    </a:p>
                  </a:txBody>
                  <a:tcPr anchor="ctr">
                    <a:solidFill>
                      <a:srgbClr val="182234"/>
                    </a:solidFill>
                  </a:tcPr>
                </a:tc>
                <a:tc>
                  <a:txBody>
                    <a:bodyPr/>
                    <a:lstStyle/>
                    <a:p>
                      <a:pPr algn="l">
                        <a:defRPr sz="1000">
                          <a:solidFill>
                            <a:srgbClr val="94A3B8"/>
                          </a:solidFill>
                          <a:latin typeface="Calibri"/>
                        </a:defRPr>
                      </a:pPr>
                      <a:r>
                        <a:t>$100k+ annual enterprise contract</a:t>
                      </a:r>
                    </a:p>
                  </a:txBody>
                  <a:tcPr anchor="ctr">
                    <a:solidFill>
                      <a:srgbClr val="182234"/>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PRODUCT DEVELOPMENT</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Agile Execution</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From Ideation to Production: 4-Sprint Agile Delivery</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Delivering 166 Story Points with 100% Jira burndown compliance across 8 weeks.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05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pic>
        <p:nvPicPr>
          <p:cNvPr id="10" name="Picture 9" descr="docs_sprint_burndown_charts.png"/>
          <p:cNvPicPr>
            <a:picLocks noChangeAspect="1"/>
          </p:cNvPicPr>
          <p:nvPr/>
        </p:nvPicPr>
        <p:blipFill>
          <a:blip r:embed="rId2"/>
          <a:stretch>
            <a:fillRect/>
          </a:stretch>
        </p:blipFill>
        <p:spPr>
          <a:xfrm>
            <a:off x="731520" y="1737360"/>
            <a:ext cx="5852160" cy="4125983"/>
          </a:xfrm>
          <a:prstGeom prst="rect">
            <a:avLst/>
          </a:prstGeom>
        </p:spPr>
      </p:pic>
      <p:sp>
        <p:nvSpPr>
          <p:cNvPr id="11" name="Rounded Rectangle 10"/>
          <p:cNvSpPr/>
          <p:nvPr/>
        </p:nvSpPr>
        <p:spPr>
          <a:xfrm>
            <a:off x="6766560" y="1737360"/>
            <a:ext cx="4693615" cy="102412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920240"/>
            <a:ext cx="4236415" cy="320040"/>
          </a:xfrm>
          <a:prstGeom prst="rect">
            <a:avLst/>
          </a:prstGeom>
          <a:noFill/>
        </p:spPr>
        <p:txBody>
          <a:bodyPr wrap="square" lIns="0" tIns="0" rIns="0" bIns="0">
            <a:spAutoFit/>
          </a:bodyPr>
          <a:lstStyle/>
          <a:p>
            <a:pPr>
              <a:defRPr sz="1250" b="1">
                <a:solidFill>
                  <a:srgbClr val="F8FAFC"/>
                </a:solidFill>
                <a:latin typeface="Calibri"/>
              </a:defRPr>
            </a:pPr>
            <a:r>
              <a:t>Sprint 1: Research, PRD &amp; AI Datasets</a:t>
            </a:r>
          </a:p>
          <a:p>
            <a:pPr>
              <a:defRPr sz="950">
                <a:solidFill>
                  <a:srgbClr val="94A3B8"/>
                </a:solidFill>
                <a:latin typeface="Calibri"/>
              </a:defRPr>
            </a:pPr>
            <a:r>
              <a:t>Weeks 1–2 | 18 pts burned (100%)</a:t>
            </a:r>
          </a:p>
        </p:txBody>
      </p:sp>
      <p:sp>
        <p:nvSpPr>
          <p:cNvPr id="13" name="TextBox 12"/>
          <p:cNvSpPr txBox="1"/>
          <p:nvPr/>
        </p:nvSpPr>
        <p:spPr>
          <a:xfrm>
            <a:off x="6949440" y="2212848"/>
            <a:ext cx="4343400" cy="502920"/>
          </a:xfrm>
          <a:prstGeom prst="rect">
            <a:avLst/>
          </a:prstGeom>
          <a:noFill/>
        </p:spPr>
        <p:txBody>
          <a:bodyPr wrap="square" lIns="0" tIns="0" rIns="0" bIns="0">
            <a:spAutoFit/>
          </a:bodyPr>
          <a:lstStyle/>
          <a:p>
            <a:pPr>
              <a:defRPr sz="950">
                <a:solidFill>
                  <a:srgbClr val="94A3B8"/>
                </a:solidFill>
                <a:latin typeface="Calibri"/>
              </a:defRPr>
            </a:pPr>
            <a:r>
              <a:t>Benchmarked Zendesk &amp; Freshdesk; evaluated Gemini 1.5 Flash latency; collected Kaggle TWCS &amp; HuggingFace datasets; drafted 3-tier architecture and PRD.</a:t>
            </a:r>
          </a:p>
        </p:txBody>
      </p:sp>
      <p:sp>
        <p:nvSpPr>
          <p:cNvPr id="14" name="Rounded Rectangle 13"/>
          <p:cNvSpPr/>
          <p:nvPr/>
        </p:nvSpPr>
        <p:spPr>
          <a:xfrm>
            <a:off x="6766560" y="2834639"/>
            <a:ext cx="4693615" cy="102412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017520"/>
            <a:ext cx="4236415" cy="320040"/>
          </a:xfrm>
          <a:prstGeom prst="rect">
            <a:avLst/>
          </a:prstGeom>
          <a:noFill/>
        </p:spPr>
        <p:txBody>
          <a:bodyPr wrap="square" lIns="0" tIns="0" rIns="0" bIns="0">
            <a:spAutoFit/>
          </a:bodyPr>
          <a:lstStyle/>
          <a:p>
            <a:pPr>
              <a:defRPr sz="1250" b="1">
                <a:solidFill>
                  <a:srgbClr val="F8FAFC"/>
                </a:solidFill>
                <a:latin typeface="Calibri"/>
              </a:defRPr>
            </a:pPr>
            <a:r>
              <a:t>Sprint 2: Prototype Architecture &amp; DB</a:t>
            </a:r>
          </a:p>
          <a:p>
            <a:pPr>
              <a:defRPr sz="950">
                <a:solidFill>
                  <a:srgbClr val="94A3B8"/>
                </a:solidFill>
                <a:latin typeface="Calibri"/>
              </a:defRPr>
            </a:pPr>
            <a:r>
              <a:t>Weeks 3–4 | 59 pts burned (100%)</a:t>
            </a:r>
          </a:p>
        </p:txBody>
      </p:sp>
      <p:sp>
        <p:nvSpPr>
          <p:cNvPr id="16" name="TextBox 15"/>
          <p:cNvSpPr txBox="1"/>
          <p:nvPr/>
        </p:nvSpPr>
        <p:spPr>
          <a:xfrm>
            <a:off x="6949440" y="3310127"/>
            <a:ext cx="4343400" cy="502920"/>
          </a:xfrm>
          <a:prstGeom prst="rect">
            <a:avLst/>
          </a:prstGeom>
          <a:noFill/>
        </p:spPr>
        <p:txBody>
          <a:bodyPr wrap="square" lIns="0" tIns="0" rIns="0" bIns="0">
            <a:spAutoFit/>
          </a:bodyPr>
          <a:lstStyle/>
          <a:p>
            <a:pPr>
              <a:defRPr sz="950">
                <a:solidFill>
                  <a:srgbClr val="94A3B8"/>
                </a:solidFill>
                <a:latin typeface="Calibri"/>
              </a:defRPr>
            </a:pPr>
            <a:r>
              <a:t>Built React 18 SPA frame, dark/light theme, Express REST backend, JWT auth, PostgreSQL 15 schema, and FastAPI AI microservice scaffold.</a:t>
            </a:r>
          </a:p>
        </p:txBody>
      </p:sp>
      <p:sp>
        <p:nvSpPr>
          <p:cNvPr id="17" name="Rounded Rectangle 16"/>
          <p:cNvSpPr/>
          <p:nvPr/>
        </p:nvSpPr>
        <p:spPr>
          <a:xfrm>
            <a:off x="6766560" y="3931920"/>
            <a:ext cx="4693615" cy="102412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4114800"/>
            <a:ext cx="4236415" cy="320040"/>
          </a:xfrm>
          <a:prstGeom prst="rect">
            <a:avLst/>
          </a:prstGeom>
          <a:noFill/>
        </p:spPr>
        <p:txBody>
          <a:bodyPr wrap="square" lIns="0" tIns="0" rIns="0" bIns="0">
            <a:spAutoFit/>
          </a:bodyPr>
          <a:lstStyle/>
          <a:p>
            <a:pPr>
              <a:defRPr sz="1250" b="1">
                <a:solidFill>
                  <a:srgbClr val="F8FAFC"/>
                </a:solidFill>
                <a:latin typeface="Calibri"/>
              </a:defRPr>
            </a:pPr>
            <a:r>
              <a:t>Sprint 3: Live Integration &amp; Decision Assist</a:t>
            </a:r>
          </a:p>
          <a:p>
            <a:pPr>
              <a:defRPr sz="950">
                <a:solidFill>
                  <a:srgbClr val="94A3B8"/>
                </a:solidFill>
                <a:latin typeface="Calibri"/>
              </a:defRPr>
            </a:pPr>
            <a:r>
              <a:t>Weeks 5–6 | 38 pts burned (100%)</a:t>
            </a:r>
          </a:p>
        </p:txBody>
      </p:sp>
      <p:sp>
        <p:nvSpPr>
          <p:cNvPr id="19" name="TextBox 18"/>
          <p:cNvSpPr txBox="1"/>
          <p:nvPr/>
        </p:nvSpPr>
        <p:spPr>
          <a:xfrm>
            <a:off x="6949440" y="4407408"/>
            <a:ext cx="4343400" cy="502920"/>
          </a:xfrm>
          <a:prstGeom prst="rect">
            <a:avLst/>
          </a:prstGeom>
          <a:noFill/>
        </p:spPr>
        <p:txBody>
          <a:bodyPr wrap="square" lIns="0" tIns="0" rIns="0" bIns="0">
            <a:spAutoFit/>
          </a:bodyPr>
          <a:lstStyle/>
          <a:p>
            <a:pPr>
              <a:defRPr sz="950">
                <a:solidFill>
                  <a:srgbClr val="94A3B8"/>
                </a:solidFill>
                <a:latin typeface="Calibri"/>
              </a:defRPr>
            </a:pPr>
            <a:r>
              <a:t>Connected live Gemini AI triage, customer mood detection, interactive checklists, pre-send tone checker, and status transition state machine.</a:t>
            </a:r>
          </a:p>
        </p:txBody>
      </p:sp>
      <p:sp>
        <p:nvSpPr>
          <p:cNvPr id="20" name="Rounded Rectangle 19"/>
          <p:cNvSpPr/>
          <p:nvPr/>
        </p:nvSpPr>
        <p:spPr>
          <a:xfrm>
            <a:off x="6766560" y="5029200"/>
            <a:ext cx="4693615" cy="102412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5212080"/>
            <a:ext cx="4236415" cy="320040"/>
          </a:xfrm>
          <a:prstGeom prst="rect">
            <a:avLst/>
          </a:prstGeom>
          <a:noFill/>
        </p:spPr>
        <p:txBody>
          <a:bodyPr wrap="square" lIns="0" tIns="0" rIns="0" bIns="0">
            <a:spAutoFit/>
          </a:bodyPr>
          <a:lstStyle/>
          <a:p>
            <a:pPr>
              <a:defRPr sz="1250" b="1">
                <a:solidFill>
                  <a:srgbClr val="F8FAFC"/>
                </a:solidFill>
                <a:latin typeface="Calibri"/>
              </a:defRPr>
            </a:pPr>
            <a:r>
              <a:t>Sprint 4: Advanced AI &amp; Cloud Hardening</a:t>
            </a:r>
          </a:p>
          <a:p>
            <a:pPr>
              <a:defRPr sz="950">
                <a:solidFill>
                  <a:srgbClr val="94A3B8"/>
                </a:solidFill>
                <a:latin typeface="Calibri"/>
              </a:defRPr>
            </a:pPr>
            <a:r>
              <a:t>Weeks 7–8 | 51 pts burned (100%)</a:t>
            </a:r>
          </a:p>
        </p:txBody>
      </p:sp>
      <p:sp>
        <p:nvSpPr>
          <p:cNvPr id="22" name="TextBox 21"/>
          <p:cNvSpPr txBox="1"/>
          <p:nvPr/>
        </p:nvSpPr>
        <p:spPr>
          <a:xfrm>
            <a:off x="6949440" y="5504688"/>
            <a:ext cx="4343400" cy="502920"/>
          </a:xfrm>
          <a:prstGeom prst="rect">
            <a:avLst/>
          </a:prstGeom>
          <a:noFill/>
        </p:spPr>
        <p:txBody>
          <a:bodyPr wrap="square" lIns="0" tIns="0" rIns="0" bIns="0">
            <a:spAutoFit/>
          </a:bodyPr>
          <a:lstStyle/>
          <a:p>
            <a:pPr>
              <a:defRPr sz="950">
                <a:solidFill>
                  <a:srgbClr val="94A3B8"/>
                </a:solidFill>
                <a:latin typeface="Calibri"/>
              </a:defRPr>
            </a:pPr>
            <a:r>
              <a:t>Built AI Concierge chatbot, 1-click tone polisher, Supabase cloud migration, duplicate deflection (HTTP 409), Docker Compose &amp; Render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PROJECT GOVERNANCE</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Team Organization</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Team Structure &amp; Cross-Functional Engineering Matrix</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Four dedicated leads collaborating across frontend, backend, AI, and security governance.</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06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pic>
        <p:nvPicPr>
          <p:cNvPr id="10" name="Picture 9" descr="docs_org_chart.png"/>
          <p:cNvPicPr>
            <a:picLocks noChangeAspect="1"/>
          </p:cNvPicPr>
          <p:nvPr/>
        </p:nvPicPr>
        <p:blipFill>
          <a:blip r:embed="rId2"/>
          <a:stretch>
            <a:fillRect/>
          </a:stretch>
        </p:blipFill>
        <p:spPr>
          <a:xfrm>
            <a:off x="731520" y="1737360"/>
            <a:ext cx="5852160" cy="3218688"/>
          </a:xfrm>
          <a:prstGeom prst="rect">
            <a:avLst/>
          </a:prstGeom>
        </p:spPr>
      </p:pic>
      <p:sp>
        <p:nvSpPr>
          <p:cNvPr id="11" name="Rounded Rectangle 10"/>
          <p:cNvSpPr/>
          <p:nvPr/>
        </p:nvSpPr>
        <p:spPr>
          <a:xfrm>
            <a:off x="6766560" y="1737360"/>
            <a:ext cx="4693615"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920240"/>
            <a:ext cx="4236415" cy="320040"/>
          </a:xfrm>
          <a:prstGeom prst="rect">
            <a:avLst/>
          </a:prstGeom>
          <a:noFill/>
        </p:spPr>
        <p:txBody>
          <a:bodyPr wrap="square" lIns="0" tIns="0" rIns="0" bIns="0">
            <a:spAutoFit/>
          </a:bodyPr>
          <a:lstStyle/>
          <a:p>
            <a:pPr>
              <a:defRPr sz="1250" b="1">
                <a:solidFill>
                  <a:srgbClr val="F8FAFC"/>
                </a:solidFill>
                <a:latin typeface="Calibri"/>
              </a:defRPr>
            </a:pPr>
            <a:r>
              <a:t>Cross-Functional Role Ownership</a:t>
            </a:r>
          </a:p>
          <a:p>
            <a:pPr>
              <a:defRPr sz="950">
                <a:solidFill>
                  <a:srgbClr val="94A3B8"/>
                </a:solidFill>
                <a:latin typeface="Calibri"/>
              </a:defRPr>
            </a:pPr>
            <a:r>
              <a:t>Balanced 166-Story-Point Workload</a:t>
            </a:r>
          </a:p>
        </p:txBody>
      </p:sp>
      <p:sp>
        <p:nvSpPr>
          <p:cNvPr id="13" name="TextBox 12"/>
          <p:cNvSpPr txBox="1"/>
          <p:nvPr/>
        </p:nvSpPr>
        <p:spPr>
          <a:xfrm>
            <a:off x="6995160" y="2286000"/>
            <a:ext cx="4251960" cy="3657600"/>
          </a:xfrm>
          <a:prstGeom prst="rect">
            <a:avLst/>
          </a:prstGeom>
          <a:noFill/>
        </p:spPr>
        <p:txBody>
          <a:bodyPr wrap="square" lIns="0" tIns="0" rIns="0" bIns="0">
            <a:spAutoFit/>
          </a:bodyPr>
          <a:lstStyle/>
          <a:p>
            <a:pPr>
              <a:spcBef>
                <a:spcPts val="500"/>
              </a:spcBef>
            </a:pPr>
            <a:r>
              <a:rPr sz="1000" b="1">
                <a:solidFill>
                  <a:srgbClr val="F8FAFC"/>
                </a:solidFill>
                <a:latin typeface="Calibri"/>
              </a:rPr>
              <a:t>•  Rohan Salkar — Frontend &amp; UI/UX Lead: </a:t>
            </a:r>
            <a:r>
              <a:rPr sz="1000">
                <a:solidFill>
                  <a:srgbClr val="94A3B8"/>
                </a:solidFill>
                <a:latin typeface="Calibri"/>
              </a:rPr>
              <a:t>38 Story Points. Headed React 18 Single Page Application architecture, Tailwind CSS MoonRow design system, dark/light theme switching, responsive layouts, and tone polishing modals.</a:t>
            </a:r>
          </a:p>
          <a:p>
            <a:pPr>
              <a:spcBef>
                <a:spcPts val="500"/>
              </a:spcBef>
            </a:pPr>
            <a:r>
              <a:rPr sz="1000" b="1">
                <a:solidFill>
                  <a:srgbClr val="F8FAFC"/>
                </a:solidFill>
                <a:latin typeface="Calibri"/>
              </a:rPr>
              <a:t>•  Yash Sanikop — Frontend &amp; AI Lead (Roll No. 23CO76): </a:t>
            </a:r>
            <a:r>
              <a:rPr sz="1000">
                <a:solidFill>
                  <a:srgbClr val="94A3B8"/>
                </a:solidFill>
                <a:latin typeface="Calibri"/>
              </a:rPr>
              <a:t>45 Story Points (Student Intern). Responsible for FastAPI AI microservice, Gemini 1.5 Flash SDK integration, model instance pooling, TTL caching, prompt engineering, and conversational AI concierge widgets.</a:t>
            </a:r>
          </a:p>
          <a:p>
            <a:pPr>
              <a:spcBef>
                <a:spcPts val="500"/>
              </a:spcBef>
            </a:pPr>
            <a:r>
              <a:rPr sz="1000" b="1">
                <a:solidFill>
                  <a:srgbClr val="F8FAFC"/>
                </a:solidFill>
                <a:latin typeface="Calibri"/>
              </a:rPr>
              <a:t>•  Shrujan Mitbavkar — Backend &amp; Database Lead: </a:t>
            </a:r>
            <a:r>
              <a:rPr sz="1000">
                <a:solidFill>
                  <a:srgbClr val="94A3B8"/>
                </a:solidFill>
                <a:latin typeface="Calibri"/>
              </a:rPr>
              <a:t>35 Story Points. Managed Express REST controllers, PostgreSQL relational schema modeling, database transactions, state machines, and Supabase cloud connection pooling.</a:t>
            </a:r>
          </a:p>
          <a:p>
            <a:pPr>
              <a:spcBef>
                <a:spcPts val="500"/>
              </a:spcBef>
            </a:pPr>
            <a:r>
              <a:rPr sz="1000" b="1">
                <a:solidFill>
                  <a:srgbClr val="F8FAFC"/>
                </a:solidFill>
                <a:latin typeface="Calibri"/>
              </a:rPr>
              <a:t>•  Aarti Singh — DevOps, QA &amp; Doc Lead: </a:t>
            </a:r>
            <a:r>
              <a:rPr sz="1000">
                <a:solidFill>
                  <a:srgbClr val="94A3B8"/>
                </a:solidFill>
                <a:latin typeface="Calibri"/>
              </a:rPr>
              <a:t>38 Story Points. Headed Docker containerization, Render Blueprint orchestration, automated Jest and Pytest suites, security hardening, and technical governance specifications.</a:t>
            </a:r>
          </a:p>
          <a:p>
            <a:pPr>
              <a:spcBef>
                <a:spcPts val="500"/>
              </a:spcBef>
            </a:pPr>
            <a:r>
              <a:rPr sz="1000" b="1">
                <a:solidFill>
                  <a:srgbClr val="F8FAFC"/>
                </a:solidFill>
                <a:latin typeface="Calibri"/>
              </a:rPr>
              <a:t>•  Mentorship &amp; Governance: </a:t>
            </a:r>
            <a:r>
              <a:rPr sz="1000">
                <a:solidFill>
                  <a:srgbClr val="94A3B8"/>
                </a:solidFill>
                <a:latin typeface="Calibri"/>
              </a:rPr>
              <a:t>Guided by Industry Mentor Vishal Bidikar (Senior Software Engineer, Persistent Systems Ltd.) and Academic Guide Prof. Laxmikant Bordekar.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TECHNICAL DEEP DIVE</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&amp; Aarti Singh  |  Technical Transition</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Part 1: Frontend Architecture, UI/UX &amp; Security Hardening</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Presented by Rohan Salkar (Frontend &amp; UI/UX Lead) &amp; Aarti Singh (DevOps, QA &amp; Doc Lead)</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07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828800"/>
            <a:ext cx="5257800" cy="4206240"/>
          </a:xfrm>
          <a:prstGeom prst="round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11680"/>
            <a:ext cx="4800600" cy="320040"/>
          </a:xfrm>
          <a:prstGeom prst="rect">
            <a:avLst/>
          </a:prstGeom>
          <a:noFill/>
        </p:spPr>
        <p:txBody>
          <a:bodyPr wrap="square" lIns="0" tIns="0" rIns="0" bIns="0">
            <a:spAutoFit/>
          </a:bodyPr>
          <a:lstStyle/>
          <a:p>
            <a:pPr>
              <a:defRPr sz="1250" b="1">
                <a:solidFill>
                  <a:srgbClr val="F8FAFC"/>
                </a:solidFill>
                <a:latin typeface="Calibri"/>
              </a:defRPr>
            </a:pPr>
            <a:r>
              <a:t>Rohan Salkar — Frontend &amp; UI/UX Lead</a:t>
            </a:r>
          </a:p>
          <a:p>
            <a:pPr>
              <a:defRPr sz="950">
                <a:solidFill>
                  <a:srgbClr val="94A3B8"/>
                </a:solidFill>
                <a:latin typeface="Calibri"/>
              </a:defRPr>
            </a:pPr>
            <a:r>
              <a:t>React 18 SPA, MoonRow Design &amp; Workbenches</a:t>
            </a:r>
          </a:p>
        </p:txBody>
      </p:sp>
      <p:sp>
        <p:nvSpPr>
          <p:cNvPr id="12" name="TextBox 11"/>
          <p:cNvSpPr txBox="1"/>
          <p:nvPr/>
        </p:nvSpPr>
        <p:spPr>
          <a:xfrm>
            <a:off x="1005840" y="2560320"/>
            <a:ext cx="4709160" cy="3200400"/>
          </a:xfrm>
          <a:prstGeom prst="rect">
            <a:avLst/>
          </a:prstGeom>
          <a:noFill/>
        </p:spPr>
        <p:txBody>
          <a:bodyPr wrap="square" lIns="0" tIns="0" rIns="0" bIns="0">
            <a:spAutoFit/>
          </a:bodyPr>
          <a:lstStyle/>
          <a:p>
            <a:pPr>
              <a:spcBef>
                <a:spcPts val="800"/>
              </a:spcBef>
            </a:pPr>
            <a:r>
              <a:rPr sz="1050" b="1">
                <a:solidFill>
                  <a:srgbClr val="F8FAFC"/>
                </a:solidFill>
                <a:latin typeface="Calibri"/>
              </a:rPr>
              <a:t>•  React 18 Single Page Architecture: </a:t>
            </a:r>
            <a:r>
              <a:rPr sz="1050">
                <a:solidFill>
                  <a:srgbClr val="94A3B8"/>
                </a:solidFill>
                <a:latin typeface="Calibri"/>
              </a:rPr>
              <a:t>Vite build toolchain delivering sub-second HMR and 8.3s production compilation.</a:t>
            </a:r>
          </a:p>
          <a:p>
            <a:pPr>
              <a:spcBef>
                <a:spcPts val="800"/>
              </a:spcBef>
            </a:pPr>
            <a:r>
              <a:rPr sz="1050" b="1">
                <a:solidFill>
                  <a:srgbClr val="F8FAFC"/>
                </a:solidFill>
                <a:latin typeface="Calibri"/>
              </a:rPr>
              <a:t>•  Tailwind CSS MoonRow Design System: </a:t>
            </a:r>
            <a:r>
              <a:rPr sz="1050">
                <a:solidFill>
                  <a:srgbClr val="94A3B8"/>
                </a:solidFill>
                <a:latin typeface="Calibri"/>
              </a:rPr>
              <a:t>High-contrast enterprise aesthetic inspired by Linear and Stripe, with full WCAG 2.1 AA accessibility.</a:t>
            </a:r>
          </a:p>
          <a:p>
            <a:pPr>
              <a:spcBef>
                <a:spcPts val="800"/>
              </a:spcBef>
            </a:pPr>
            <a:r>
              <a:rPr sz="1050" b="1">
                <a:solidFill>
                  <a:srgbClr val="F8FAFC"/>
                </a:solidFill>
                <a:latin typeface="Calibri"/>
              </a:rPr>
              <a:t>•  Dark / Light Theme Switching: </a:t>
            </a:r>
            <a:r>
              <a:rPr sz="1050">
                <a:solidFill>
                  <a:srgbClr val="94A3B8"/>
                </a:solidFill>
                <a:latin typeface="Calibri"/>
              </a:rPr>
              <a:t>Persistent theme switcher with zero layout shift synced to browser preferences.</a:t>
            </a:r>
          </a:p>
          <a:p>
            <a:pPr>
              <a:spcBef>
                <a:spcPts val="800"/>
              </a:spcBef>
            </a:pPr>
            <a:r>
              <a:rPr sz="1050" b="1">
                <a:solidFill>
                  <a:srgbClr val="F8FAFC"/>
                </a:solidFill>
                <a:latin typeface="Calibri"/>
              </a:rPr>
              <a:t>•  Dual-Pane Agent Workbench: </a:t>
            </a:r>
            <a:r>
              <a:rPr sz="1050">
                <a:solidFill>
                  <a:srgbClr val="94A3B8"/>
                </a:solidFill>
                <a:latin typeface="Calibri"/>
              </a:rPr>
              <a:t>Threaded customer communication paired with live AI decision-support drawer.</a:t>
            </a:r>
          </a:p>
          <a:p>
            <a:pPr>
              <a:spcBef>
                <a:spcPts val="800"/>
              </a:spcBef>
            </a:pPr>
            <a:r>
              <a:rPr sz="1050" b="1">
                <a:solidFill>
                  <a:srgbClr val="F8FAFC"/>
                </a:solidFill>
                <a:latin typeface="Calibri"/>
              </a:rPr>
              <a:t>•  1-Click Tone Polishing Modals: </a:t>
            </a:r>
            <a:r>
              <a:rPr sz="1050">
                <a:solidFill>
                  <a:srgbClr val="94A3B8"/>
                </a:solidFill>
                <a:latin typeface="Calibri"/>
              </a:rPr>
              <a:t>3-variation cycling across Empathetic, Concise, Formal, and Technical styles with anti-nesting.</a:t>
            </a:r>
          </a:p>
        </p:txBody>
      </p:sp>
      <p:sp>
        <p:nvSpPr>
          <p:cNvPr id="13" name="Rounded Rectangle 12"/>
          <p:cNvSpPr/>
          <p:nvPr/>
        </p:nvSpPr>
        <p:spPr>
          <a:xfrm>
            <a:off x="6172200" y="1828800"/>
            <a:ext cx="5257800" cy="4206240"/>
          </a:xfrm>
          <a:prstGeom prst="roundRect">
            <a:avLst/>
          </a:prstGeom>
          <a:solidFill>
            <a:srgbClr val="1E293B"/>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011680"/>
            <a:ext cx="4800600" cy="320040"/>
          </a:xfrm>
          <a:prstGeom prst="rect">
            <a:avLst/>
          </a:prstGeom>
          <a:noFill/>
        </p:spPr>
        <p:txBody>
          <a:bodyPr wrap="square" lIns="0" tIns="0" rIns="0" bIns="0">
            <a:spAutoFit/>
          </a:bodyPr>
          <a:lstStyle/>
          <a:p>
            <a:pPr>
              <a:defRPr sz="1250" b="1">
                <a:solidFill>
                  <a:srgbClr val="F8FAFC"/>
                </a:solidFill>
                <a:latin typeface="Calibri"/>
              </a:defRPr>
            </a:pPr>
            <a:r>
              <a:t>Aarti Singh — DevOps, QA &amp; Doc Lead</a:t>
            </a:r>
          </a:p>
          <a:p>
            <a:pPr>
              <a:defRPr sz="950">
                <a:solidFill>
                  <a:srgbClr val="94A3B8"/>
                </a:solidFill>
                <a:latin typeface="Calibri"/>
              </a:defRPr>
            </a:pPr>
            <a:r>
              <a:t>Security Hardening, RBAC &amp; Governance</a:t>
            </a:r>
          </a:p>
        </p:txBody>
      </p:sp>
      <p:sp>
        <p:nvSpPr>
          <p:cNvPr id="15" name="TextBox 14"/>
          <p:cNvSpPr txBox="1"/>
          <p:nvPr/>
        </p:nvSpPr>
        <p:spPr>
          <a:xfrm>
            <a:off x="6446520" y="2560320"/>
            <a:ext cx="4709160" cy="3200400"/>
          </a:xfrm>
          <a:prstGeom prst="rect">
            <a:avLst/>
          </a:prstGeom>
          <a:noFill/>
        </p:spPr>
        <p:txBody>
          <a:bodyPr wrap="square" lIns="0" tIns="0" rIns="0" bIns="0">
            <a:spAutoFit/>
          </a:bodyPr>
          <a:lstStyle/>
          <a:p>
            <a:pPr>
              <a:spcBef>
                <a:spcPts val="800"/>
              </a:spcBef>
            </a:pPr>
            <a:r>
              <a:rPr sz="1050" b="1">
                <a:solidFill>
                  <a:srgbClr val="F8FAFC"/>
                </a:solidFill>
                <a:latin typeface="Calibri"/>
              </a:rPr>
              <a:t>•  Security Hardening &amp; Stateless JWT: </a:t>
            </a:r>
            <a:r>
              <a:rPr sz="1050">
                <a:solidFill>
                  <a:srgbClr val="94A3B8"/>
                </a:solidFill>
                <a:latin typeface="Calibri"/>
              </a:rPr>
              <a:t>Bearer token authentication with 1-hour expiration and bcrypt password hashing (10 rounds).</a:t>
            </a:r>
          </a:p>
          <a:p>
            <a:pPr>
              <a:spcBef>
                <a:spcPts val="800"/>
              </a:spcBef>
            </a:pPr>
            <a:r>
              <a:rPr sz="1050" b="1">
                <a:solidFill>
                  <a:srgbClr val="F8FAFC"/>
                </a:solidFill>
                <a:latin typeface="Calibri"/>
              </a:rPr>
              <a:t>•  Role-Based Access Control (RBAC): </a:t>
            </a:r>
            <a:r>
              <a:rPr sz="1050">
                <a:solidFill>
                  <a:srgbClr val="94A3B8"/>
                </a:solidFill>
                <a:latin typeface="Calibri"/>
              </a:rPr>
              <a:t>Strict three-tier permissions (Customer, Agent, Admin) across 4 operational departments.</a:t>
            </a:r>
          </a:p>
          <a:p>
            <a:pPr>
              <a:spcBef>
                <a:spcPts val="800"/>
              </a:spcBef>
            </a:pPr>
            <a:r>
              <a:rPr sz="1050" b="1">
                <a:solidFill>
                  <a:srgbClr val="F8FAFC"/>
                </a:solidFill>
                <a:latin typeface="Calibri"/>
              </a:rPr>
              <a:t>•  1-Click Persona Testing Bar: </a:t>
            </a:r>
            <a:r>
              <a:rPr sz="1050">
                <a:solidFill>
                  <a:srgbClr val="94A3B8"/>
                </a:solidFill>
                <a:latin typeface="Calibri"/>
              </a:rPr>
              <a:t>Interactive demo bar enabling instant persona evaluation without manual typing.</a:t>
            </a:r>
          </a:p>
          <a:p>
            <a:pPr>
              <a:spcBef>
                <a:spcPts val="800"/>
              </a:spcBef>
            </a:pPr>
            <a:r>
              <a:rPr sz="1050" b="1">
                <a:solidFill>
                  <a:srgbClr val="F8FAFC"/>
                </a:solidFill>
                <a:latin typeface="Calibri"/>
              </a:rPr>
              <a:t>•  Automated QA Suites: </a:t>
            </a:r>
            <a:r>
              <a:rPr sz="1050">
                <a:solidFill>
                  <a:srgbClr val="94A3B8"/>
                </a:solidFill>
                <a:latin typeface="Calibri"/>
              </a:rPr>
              <a:t>Comprehensive Jest and Pytest suites verifying 100% test pass rate across all endpoints.</a:t>
            </a:r>
          </a:p>
          <a:p>
            <a:pPr>
              <a:spcBef>
                <a:spcPts val="800"/>
              </a:spcBef>
            </a:pPr>
            <a:r>
              <a:rPr sz="1050" b="1">
                <a:solidFill>
                  <a:srgbClr val="F8FAFC"/>
                </a:solidFill>
                <a:latin typeface="Calibri"/>
              </a:rPr>
              <a:t>•  Technical Governance Specifications: </a:t>
            </a:r>
            <a:r>
              <a:rPr sz="1050">
                <a:solidFill>
                  <a:srgbClr val="94A3B8"/>
                </a:solidFill>
                <a:latin typeface="Calibri"/>
              </a:rPr>
              <a:t>13 engineering modules establishing production governance and operational standards.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FRONTEND ARCHITECTURE</a:t>
            </a:r>
          </a:p>
        </p:txBody>
      </p:sp>
      <p:sp>
        <p:nvSpPr>
          <p:cNvPr id="4" name="Rounded Rectangle 3"/>
          <p:cNvSpPr/>
          <p:nvPr/>
        </p:nvSpPr>
        <p:spPr>
          <a:xfrm>
            <a:off x="7315200" y="365760"/>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React 18 SPA Architecture &amp; Tailwind CSS MoonRow Design</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Engineered for sub-second responsiveness, accessibility, and zero-layout-shift theming.</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08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188720"/>
          </a:xfrm>
          <a:prstGeom prst="rect">
            <a:avLst/>
          </a:prstGeom>
          <a:noFill/>
        </p:spPr>
        <p:txBody>
          <a:bodyPr wrap="square" lIns="0" tIns="0" rIns="0" bIns="0">
            <a:spAutoFit/>
          </a:bodyPr>
          <a:lstStyle/>
          <a:p>
            <a:pPr>
              <a:defRPr sz="3200" b="1">
                <a:solidFill>
                  <a:srgbClr val="38BDF8"/>
                </a:solidFill>
                <a:latin typeface="Calibri"/>
              </a:defRPr>
            </a:pPr>
            <a:r>
              <a:t>8.34s</a:t>
            </a:r>
          </a:p>
          <a:p>
            <a:pPr>
              <a:spcBef>
                <a:spcPts val="400"/>
              </a:spcBef>
              <a:defRPr sz="1200" b="1">
                <a:solidFill>
                  <a:srgbClr val="F8FAFC"/>
                </a:solidFill>
                <a:latin typeface="Calibri"/>
              </a:defRPr>
            </a:pPr>
            <a:r>
              <a:t>Production Build Time</a:t>
            </a:r>
          </a:p>
          <a:p>
            <a:pPr>
              <a:spcBef>
                <a:spcPts val="300"/>
              </a:spcBef>
              <a:defRPr sz="950">
                <a:solidFill>
                  <a:srgbClr val="94A3B8"/>
                </a:solidFill>
                <a:latin typeface="Calibri"/>
              </a:defRPr>
            </a:pPr>
            <a:r>
              <a:t>Vite 5 bundling 1,581 modules with tree-shaking</a:t>
            </a:r>
          </a:p>
        </p:txBody>
      </p:sp>
      <p:sp>
        <p:nvSpPr>
          <p:cNvPr id="12" name="Rounded Rectangle 11"/>
          <p:cNvSpPr/>
          <p:nvPr/>
        </p:nvSpPr>
        <p:spPr>
          <a:xfrm>
            <a:off x="342900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188720"/>
          </a:xfrm>
          <a:prstGeom prst="rect">
            <a:avLst/>
          </a:prstGeom>
          <a:noFill/>
        </p:spPr>
        <p:txBody>
          <a:bodyPr wrap="square" lIns="0" tIns="0" rIns="0" bIns="0">
            <a:spAutoFit/>
          </a:bodyPr>
          <a:lstStyle/>
          <a:p>
            <a:pPr>
              <a:defRPr sz="3200" b="1">
                <a:solidFill>
                  <a:srgbClr val="10B981"/>
                </a:solidFill>
                <a:latin typeface="Calibri"/>
              </a:defRPr>
            </a:pPr>
            <a:r>
              <a:t>263 kB</a:t>
            </a:r>
          </a:p>
          <a:p>
            <a:pPr>
              <a:spcBef>
                <a:spcPts val="400"/>
              </a:spcBef>
              <a:defRPr sz="1200" b="1">
                <a:solidFill>
                  <a:srgbClr val="F8FAFC"/>
                </a:solidFill>
                <a:latin typeface="Calibri"/>
              </a:defRPr>
            </a:pPr>
            <a:r>
              <a:t>Total Bundle Size</a:t>
            </a:r>
          </a:p>
          <a:p>
            <a:pPr>
              <a:spcBef>
                <a:spcPts val="300"/>
              </a:spcBef>
              <a:defRPr sz="950">
                <a:solidFill>
                  <a:srgbClr val="94A3B8"/>
                </a:solidFill>
                <a:latin typeface="Calibri"/>
              </a:defRPr>
            </a:pPr>
            <a:r>
              <a:t>87 kB gzipped JavaScript; optimal initial page load</a:t>
            </a:r>
          </a:p>
        </p:txBody>
      </p:sp>
      <p:sp>
        <p:nvSpPr>
          <p:cNvPr id="14" name="Rounded Rectangle 13"/>
          <p:cNvSpPr/>
          <p:nvPr/>
        </p:nvSpPr>
        <p:spPr>
          <a:xfrm>
            <a:off x="612648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188720"/>
          </a:xfrm>
          <a:prstGeom prst="rect">
            <a:avLst/>
          </a:prstGeom>
          <a:noFill/>
        </p:spPr>
        <p:txBody>
          <a:bodyPr wrap="square" lIns="0" tIns="0" rIns="0" bIns="0">
            <a:spAutoFit/>
          </a:bodyPr>
          <a:lstStyle/>
          <a:p>
            <a:pPr>
              <a:defRPr sz="3200" b="1">
                <a:solidFill>
                  <a:srgbClr val="F59E0B"/>
                </a:solidFill>
                <a:latin typeface="Calibri"/>
              </a:defRPr>
            </a:pPr>
            <a:r>
              <a:t>4.5:1</a:t>
            </a:r>
          </a:p>
          <a:p>
            <a:pPr>
              <a:spcBef>
                <a:spcPts val="400"/>
              </a:spcBef>
              <a:defRPr sz="1200" b="1">
                <a:solidFill>
                  <a:srgbClr val="F8FAFC"/>
                </a:solidFill>
                <a:latin typeface="Calibri"/>
              </a:defRPr>
            </a:pPr>
            <a:r>
              <a:t>Contrast Compliance</a:t>
            </a:r>
          </a:p>
          <a:p>
            <a:pPr>
              <a:spcBef>
                <a:spcPts val="300"/>
              </a:spcBef>
              <a:defRPr sz="950">
                <a:solidFill>
                  <a:srgbClr val="94A3B8"/>
                </a:solidFill>
                <a:latin typeface="Calibri"/>
              </a:defRPr>
            </a:pPr>
            <a:r>
              <a:t>Strict WCAG 2.1 AA accessibility across all UI components</a:t>
            </a:r>
          </a:p>
        </p:txBody>
      </p:sp>
      <p:sp>
        <p:nvSpPr>
          <p:cNvPr id="16" name="Rounded Rectangle 15"/>
          <p:cNvSpPr/>
          <p:nvPr/>
        </p:nvSpPr>
        <p:spPr>
          <a:xfrm>
            <a:off x="882396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188720"/>
          </a:xfrm>
          <a:prstGeom prst="rect">
            <a:avLst/>
          </a:prstGeom>
          <a:noFill/>
        </p:spPr>
        <p:txBody>
          <a:bodyPr wrap="square" lIns="0" tIns="0" rIns="0" bIns="0">
            <a:spAutoFit/>
          </a:bodyPr>
          <a:lstStyle/>
          <a:p>
            <a:pPr>
              <a:defRPr sz="3200" b="1">
                <a:solidFill>
                  <a:srgbClr val="3B82F6"/>
                </a:solidFill>
                <a:latin typeface="Calibri"/>
              </a:defRPr>
            </a:pPr>
            <a:r>
              <a:t>0 ms</a:t>
            </a:r>
          </a:p>
          <a:p>
            <a:pPr>
              <a:spcBef>
                <a:spcPts val="400"/>
              </a:spcBef>
              <a:defRPr sz="1200" b="1">
                <a:solidFill>
                  <a:srgbClr val="F8FAFC"/>
                </a:solidFill>
                <a:latin typeface="Calibri"/>
              </a:defRPr>
            </a:pPr>
            <a:r>
              <a:t>Theme Shift Delay</a:t>
            </a:r>
          </a:p>
          <a:p>
            <a:pPr>
              <a:spcBef>
                <a:spcPts val="300"/>
              </a:spcBef>
              <a:defRPr sz="950">
                <a:solidFill>
                  <a:srgbClr val="94A3B8"/>
                </a:solidFill>
                <a:latin typeface="Calibri"/>
              </a:defRPr>
            </a:pPr>
            <a:r>
              <a:t>Persistent dark/light mode synced with OS preference</a:t>
            </a:r>
          </a:p>
        </p:txBody>
      </p:sp>
      <p:sp>
        <p:nvSpPr>
          <p:cNvPr id="18" name="Rounded Rectangle 17"/>
          <p:cNvSpPr/>
          <p:nvPr/>
        </p:nvSpPr>
        <p:spPr>
          <a:xfrm>
            <a:off x="73152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11880"/>
            <a:ext cx="4800600" cy="320040"/>
          </a:xfrm>
          <a:prstGeom prst="rect">
            <a:avLst/>
          </a:prstGeom>
          <a:noFill/>
        </p:spPr>
        <p:txBody>
          <a:bodyPr wrap="square" lIns="0" tIns="0" rIns="0" bIns="0">
            <a:spAutoFit/>
          </a:bodyPr>
          <a:lstStyle/>
          <a:p>
            <a:pPr>
              <a:defRPr sz="1250" b="1">
                <a:solidFill>
                  <a:srgbClr val="F8FAFC"/>
                </a:solidFill>
                <a:latin typeface="Calibri"/>
              </a:defRPr>
            </a:pPr>
            <a:r>
              <a:t>Frontend Stack &amp; State Management</a:t>
            </a:r>
          </a:p>
          <a:p>
            <a:pPr>
              <a:defRPr sz="950">
                <a:solidFill>
                  <a:srgbClr val="94A3B8"/>
                </a:solidFill>
                <a:latin typeface="Calibri"/>
              </a:defRPr>
            </a:pPr>
            <a:r>
              <a:t>Clean, decoupled component hierarchy</a:t>
            </a:r>
          </a:p>
        </p:txBody>
      </p:sp>
      <p:sp>
        <p:nvSpPr>
          <p:cNvPr id="20" name="TextBox 19"/>
          <p:cNvSpPr txBox="1"/>
          <p:nvPr/>
        </p:nvSpPr>
        <p:spPr>
          <a:xfrm>
            <a:off x="91440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React 18 + Vite: </a:t>
            </a:r>
            <a:r>
              <a:rPr sz="1100">
                <a:solidFill>
                  <a:srgbClr val="94A3B8"/>
                </a:solidFill>
                <a:latin typeface="Calibri"/>
              </a:rPr>
              <a:t>High-performance SPA utilizing React Router v6 and route lazy loading via React.lazy() and Suspense.</a:t>
            </a:r>
          </a:p>
          <a:p>
            <a:pPr>
              <a:spcBef>
                <a:spcPts val="400"/>
              </a:spcBef>
            </a:pPr>
            <a:r>
              <a:rPr sz="1100" b="1">
                <a:solidFill>
                  <a:srgbClr val="F8FAFC"/>
                </a:solidFill>
                <a:latin typeface="Calibri"/>
              </a:rPr>
              <a:t>•  Global Context Architecture: </a:t>
            </a:r>
            <a:r>
              <a:rPr sz="1100">
                <a:solidFill>
                  <a:srgbClr val="94A3B8"/>
                </a:solidFill>
                <a:latin typeface="Calibri"/>
              </a:rPr>
              <a:t>AuthContext (JWT &amp; persona sessions), ThemeContext (theme persistence), ToastContext (non-blocking notifications).</a:t>
            </a:r>
          </a:p>
          <a:p>
            <a:pPr>
              <a:spcBef>
                <a:spcPts val="400"/>
              </a:spcBef>
            </a:pPr>
            <a:r>
              <a:rPr sz="1100" b="1">
                <a:solidFill>
                  <a:srgbClr val="F8FAFC"/>
                </a:solidFill>
                <a:latin typeface="Calibri"/>
              </a:rPr>
              <a:t>•  Axios API Client Layer: </a:t>
            </a:r>
            <a:r>
              <a:rPr sz="1100">
                <a:solidFill>
                  <a:srgbClr val="94A3B8"/>
                </a:solidFill>
                <a:latin typeface="Calibri"/>
              </a:rPr>
              <a:t>Centralized interceptors injecting Bearer tokens, catching 401s, and providing offline mock fallbacks in api.js.</a:t>
            </a:r>
          </a:p>
        </p:txBody>
      </p:sp>
      <p:sp>
        <p:nvSpPr>
          <p:cNvPr id="21" name="Rounded Rectangle 20"/>
          <p:cNvSpPr/>
          <p:nvPr/>
        </p:nvSpPr>
        <p:spPr>
          <a:xfrm>
            <a:off x="617220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11880"/>
            <a:ext cx="4800600" cy="320040"/>
          </a:xfrm>
          <a:prstGeom prst="rect">
            <a:avLst/>
          </a:prstGeom>
          <a:noFill/>
        </p:spPr>
        <p:txBody>
          <a:bodyPr wrap="square" lIns="0" tIns="0" rIns="0" bIns="0">
            <a:spAutoFit/>
          </a:bodyPr>
          <a:lstStyle/>
          <a:p>
            <a:pPr>
              <a:defRPr sz="1250" b="1">
                <a:solidFill>
                  <a:srgbClr val="F8FAFC"/>
                </a:solidFill>
                <a:latin typeface="Calibri"/>
              </a:defRPr>
            </a:pPr>
            <a:r>
              <a:t>Tailwind CSS MoonRow Design System</a:t>
            </a:r>
          </a:p>
          <a:p>
            <a:pPr>
              <a:defRPr sz="950">
                <a:solidFill>
                  <a:srgbClr val="94A3B8"/>
                </a:solidFill>
                <a:latin typeface="Calibri"/>
              </a:defRPr>
            </a:pPr>
            <a:r>
              <a:t>Enterprise clarity inspired by Linear &amp; Stripe</a:t>
            </a:r>
          </a:p>
        </p:txBody>
      </p:sp>
      <p:sp>
        <p:nvSpPr>
          <p:cNvPr id="23" name="TextBox 22"/>
          <p:cNvSpPr txBox="1"/>
          <p:nvPr/>
        </p:nvSpPr>
        <p:spPr>
          <a:xfrm>
            <a:off x="635508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High-Density Component Library: </a:t>
            </a:r>
            <a:r>
              <a:rPr sz="1100">
                <a:solidFill>
                  <a:srgbClr val="94A3B8"/>
                </a:solidFill>
                <a:latin typeface="Calibri"/>
              </a:rPr>
              <a:t>Reusable Buttons, Cards, Status Pills, Modals, Loading Skeletons, and Paginated Data Tables.</a:t>
            </a:r>
          </a:p>
          <a:p>
            <a:pPr>
              <a:spcBef>
                <a:spcPts val="400"/>
              </a:spcBef>
            </a:pPr>
            <a:r>
              <a:rPr sz="1100" b="1">
                <a:solidFill>
                  <a:srgbClr val="F8FAFC"/>
                </a:solidFill>
                <a:latin typeface="Calibri"/>
              </a:rPr>
              <a:t>•  Accessibility by Default: </a:t>
            </a:r>
            <a:r>
              <a:rPr sz="1100">
                <a:solidFill>
                  <a:srgbClr val="94A3B8"/>
                </a:solidFill>
                <a:latin typeface="Calibri"/>
              </a:rPr>
              <a:t>Full keyboard navigation, ARIA live regions for async alerts, and screen-reader labeled controls.</a:t>
            </a:r>
          </a:p>
          <a:p>
            <a:pPr>
              <a:spcBef>
                <a:spcPts val="400"/>
              </a:spcBef>
            </a:pPr>
            <a:r>
              <a:rPr sz="1100" b="1">
                <a:solidFill>
                  <a:srgbClr val="F8FAFC"/>
                </a:solidFill>
                <a:latin typeface="Calibri"/>
              </a:rPr>
              <a:t>•  Responsive Layout Shell: </a:t>
            </a:r>
            <a:r>
              <a:rPr sz="1100">
                <a:solidFill>
                  <a:srgbClr val="94A3B8"/>
                </a:solidFill>
                <a:latin typeface="Calibri"/>
              </a:rPr>
              <a:t>Collapsible navigation sidebar, dynamic breadcrumbs, and mobile-friendly drawer navigation.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AGENT WORKBENCH UI</a:t>
            </a:r>
          </a:p>
        </p:txBody>
      </p:sp>
      <p:sp>
        <p:nvSpPr>
          <p:cNvPr id="4" name="Rounded Rectangle 3"/>
          <p:cNvSpPr/>
          <p:nvPr/>
        </p:nvSpPr>
        <p:spPr>
          <a:xfrm>
            <a:off x="7315200" y="365760"/>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The Agent Workbench: Dual-Pane Operational Interface</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Empowering support specialists with live context, sentiment telemetry, and dynamic checklists.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09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502920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572000" cy="320040"/>
          </a:xfrm>
          <a:prstGeom prst="rect">
            <a:avLst/>
          </a:prstGeom>
          <a:noFill/>
        </p:spPr>
        <p:txBody>
          <a:bodyPr wrap="square" lIns="0" tIns="0" rIns="0" bIns="0">
            <a:spAutoFit/>
          </a:bodyPr>
          <a:lstStyle/>
          <a:p>
            <a:pPr>
              <a:defRPr sz="1250" b="1">
                <a:solidFill>
                  <a:srgbClr val="F8FAFC"/>
                </a:solidFill>
                <a:latin typeface="Calibri"/>
              </a:defRPr>
            </a:pPr>
            <a:r>
              <a:t>Left Pane: Customer Thread &amp; Private Staff Notes</a:t>
            </a:r>
          </a:p>
          <a:p>
            <a:pPr>
              <a:defRPr sz="950">
                <a:solidFill>
                  <a:srgbClr val="94A3B8"/>
                </a:solidFill>
                <a:latin typeface="Calibri"/>
              </a:defRPr>
            </a:pPr>
            <a:r>
              <a:t>Operational clarity with strict visual isolation</a:t>
            </a:r>
          </a:p>
        </p:txBody>
      </p:sp>
      <p:sp>
        <p:nvSpPr>
          <p:cNvPr id="12" name="TextBox 11"/>
          <p:cNvSpPr txBox="1"/>
          <p:nvPr/>
        </p:nvSpPr>
        <p:spPr>
          <a:xfrm>
            <a:off x="914400" y="2331720"/>
            <a:ext cx="4663440" cy="3566160"/>
          </a:xfrm>
          <a:prstGeom prst="rect">
            <a:avLst/>
          </a:prstGeom>
          <a:noFill/>
        </p:spPr>
        <p:txBody>
          <a:bodyPr wrap="square" lIns="0" tIns="0" rIns="0" bIns="0">
            <a:spAutoFit/>
          </a:bodyPr>
          <a:lstStyle/>
          <a:p>
            <a:pPr>
              <a:spcBef>
                <a:spcPts val="600"/>
              </a:spcBef>
            </a:pPr>
            <a:r>
              <a:rPr sz="1050" b="1">
                <a:solidFill>
                  <a:srgbClr val="F8FAFC"/>
                </a:solidFill>
                <a:latin typeface="Calibri"/>
              </a:rPr>
              <a:t>•  Chronological Conversation Stream: </a:t>
            </a:r>
            <a:r>
              <a:rPr sz="1050">
                <a:solidFill>
                  <a:srgbClr val="94A3B8"/>
                </a:solidFill>
                <a:latin typeface="Calibri"/>
              </a:rPr>
              <a:t>Renders customer messages and agent responses with relative timestamps and status badges.</a:t>
            </a:r>
          </a:p>
          <a:p>
            <a:pPr>
              <a:spcBef>
                <a:spcPts val="600"/>
              </a:spcBef>
            </a:pPr>
            <a:r>
              <a:rPr sz="1050" b="1">
                <a:solidFill>
                  <a:srgbClr val="F8FAFC"/>
                </a:solidFill>
                <a:latin typeface="Calibri"/>
              </a:rPr>
              <a:t>•  🔒 Isolated Internal Staff Notes: </a:t>
            </a:r>
            <a:r>
              <a:rPr sz="1050">
                <a:solidFill>
                  <a:srgbClr val="94A3B8"/>
                </a:solidFill>
                <a:latin typeface="Calibri"/>
              </a:rPr>
              <a:t>Staff-only notes styled with distinct amber borders, strictly hidden from customer view to prevent accidental data leaks.</a:t>
            </a:r>
          </a:p>
          <a:p>
            <a:pPr>
              <a:spcBef>
                <a:spcPts val="600"/>
              </a:spcBef>
            </a:pPr>
            <a:r>
              <a:rPr sz="1050" b="1">
                <a:solidFill>
                  <a:srgbClr val="F8FAFC"/>
                </a:solidFill>
                <a:latin typeface="Calibri"/>
              </a:rPr>
              <a:t>•  Quick Reply Mode Selector: </a:t>
            </a:r>
            <a:r>
              <a:rPr sz="1050">
                <a:solidFill>
                  <a:srgbClr val="94A3B8"/>
                </a:solidFill>
                <a:latin typeface="Calibri"/>
              </a:rPr>
              <a:t>Seamless 1-click toggle between Public Reply and Internal Staff Note with keyboard shortcuts.</a:t>
            </a:r>
          </a:p>
          <a:p>
            <a:pPr>
              <a:spcBef>
                <a:spcPts val="600"/>
              </a:spcBef>
            </a:pPr>
            <a:r>
              <a:rPr sz="1050" b="1">
                <a:solidFill>
                  <a:srgbClr val="F8FAFC"/>
                </a:solidFill>
                <a:latin typeface="Calibri"/>
              </a:rPr>
              <a:t>•  1-Click AI Tool Triggers: </a:t>
            </a:r>
            <a:r>
              <a:rPr sz="1050">
                <a:solidFill>
                  <a:srgbClr val="94A3B8"/>
                </a:solidFill>
                <a:latin typeface="Calibri"/>
              </a:rPr>
              <a:t>Direct action buttons for 1-Click Tone Polishing, Pre-Send Response Quality Verification, and Department Forwarding.</a:t>
            </a:r>
          </a:p>
        </p:txBody>
      </p:sp>
      <p:sp>
        <p:nvSpPr>
          <p:cNvPr id="13" name="Rounded Rectangle 12"/>
          <p:cNvSpPr/>
          <p:nvPr/>
        </p:nvSpPr>
        <p:spPr>
          <a:xfrm>
            <a:off x="5943600" y="1737360"/>
            <a:ext cx="5486400" cy="4389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920240"/>
            <a:ext cx="5029200" cy="320040"/>
          </a:xfrm>
          <a:prstGeom prst="rect">
            <a:avLst/>
          </a:prstGeom>
          <a:noFill/>
        </p:spPr>
        <p:txBody>
          <a:bodyPr wrap="square" lIns="0" tIns="0" rIns="0" bIns="0">
            <a:spAutoFit/>
          </a:bodyPr>
          <a:lstStyle/>
          <a:p>
            <a:pPr>
              <a:defRPr sz="1250" b="1">
                <a:solidFill>
                  <a:srgbClr val="F8FAFC"/>
                </a:solidFill>
                <a:latin typeface="Calibri"/>
              </a:defRPr>
            </a:pPr>
            <a:r>
              <a:t>Right Pane: AI Decision Drawer (Live Production)</a:t>
            </a:r>
          </a:p>
          <a:p>
            <a:pPr>
              <a:defRPr sz="950">
                <a:solidFill>
                  <a:srgbClr val="94A3B8"/>
                </a:solidFill>
                <a:latin typeface="Calibri"/>
              </a:defRPr>
            </a:pPr>
            <a:r>
              <a:t>Real-time AI telemetry, mood pills, and resolution forecasting</a:t>
            </a:r>
          </a:p>
        </p:txBody>
      </p:sp>
      <p:sp>
        <p:nvSpPr>
          <p:cNvPr id="15" name="Rounded Rectangle 14"/>
          <p:cNvSpPr/>
          <p:nvPr/>
        </p:nvSpPr>
        <p:spPr>
          <a:xfrm>
            <a:off x="6035040" y="2331720"/>
            <a:ext cx="5303520" cy="3794759"/>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gent_workbench_live.png"/>
          <p:cNvPicPr>
            <a:picLocks noChangeAspect="1"/>
          </p:cNvPicPr>
          <p:nvPr/>
        </p:nvPicPr>
        <p:blipFill>
          <a:blip r:embed="rId2"/>
          <a:stretch>
            <a:fillRect/>
          </a:stretch>
        </p:blipFill>
        <p:spPr>
          <a:xfrm>
            <a:off x="6080760" y="2377440"/>
            <a:ext cx="5212080" cy="3474720"/>
          </a:xfrm>
          <a:prstGeom prst="rect">
            <a:avLst/>
          </a:prstGeom>
        </p:spPr>
      </p:pic>
      <p:sp>
        <p:nvSpPr>
          <p:cNvPr id="17" name="TextBox 16"/>
          <p:cNvSpPr txBox="1"/>
          <p:nvPr/>
        </p:nvSpPr>
        <p:spPr>
          <a:xfrm>
            <a:off x="6080760" y="5870448"/>
            <a:ext cx="5212080" cy="274320"/>
          </a:xfrm>
          <a:prstGeom prst="rect">
            <a:avLst/>
          </a:prstGeom>
          <a:noFill/>
        </p:spPr>
        <p:txBody>
          <a:bodyPr wrap="square" lIns="0" tIns="0" rIns="0" bIns="0">
            <a:spAutoFit/>
          </a:bodyPr>
          <a:lstStyle/>
          <a:p>
            <a:pPr algn="ctr">
              <a:defRPr sz="900">
                <a:solidFill>
                  <a:srgbClr val="38BDF8"/>
                </a:solidFill>
                <a:latin typeface="Calibri"/>
              </a:defRPr>
            </a:pPr>
            <a:r>
              <a:t>Live Production: Dual-Pane Agent Workbench with AI Decision Drawer (Render Deployed)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AI-POWERED UI TOOLS</a:t>
            </a:r>
          </a:p>
        </p:txBody>
      </p:sp>
      <p:sp>
        <p:nvSpPr>
          <p:cNvPr id="4" name="Rounded Rectangle 3"/>
          <p:cNvSpPr/>
          <p:nvPr/>
        </p:nvSpPr>
        <p:spPr>
          <a:xfrm>
            <a:off x="7315200" y="365760"/>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Real-Time Deflection, 1-Click Tone Polishing &amp; Quality QA</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Empowering agents to communicate with empathy, clarity, and consistency.</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10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3291840" cy="43891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2834640" cy="320040"/>
          </a:xfrm>
          <a:prstGeom prst="rect">
            <a:avLst/>
          </a:prstGeom>
          <a:noFill/>
        </p:spPr>
        <p:txBody>
          <a:bodyPr wrap="square" lIns="0" tIns="0" rIns="0" bIns="0">
            <a:spAutoFit/>
          </a:bodyPr>
          <a:lstStyle/>
          <a:p>
            <a:pPr>
              <a:defRPr sz="1250" b="1">
                <a:solidFill>
                  <a:srgbClr val="F8FAFC"/>
                </a:solidFill>
                <a:latin typeface="Calibri"/>
              </a:defRPr>
            </a:pPr>
            <a:r>
              <a:t>1. 1-Click Tone Polishing Modals</a:t>
            </a:r>
          </a:p>
          <a:p>
            <a:pPr>
              <a:defRPr sz="950">
                <a:solidFill>
                  <a:srgbClr val="94A3B8"/>
                </a:solidFill>
                <a:latin typeface="Calibri"/>
              </a:defRPr>
            </a:pPr>
            <a:r>
              <a:t>SSAI-407 3-Variation Cycling</a:t>
            </a:r>
          </a:p>
        </p:txBody>
      </p:sp>
      <p:sp>
        <p:nvSpPr>
          <p:cNvPr id="12" name="TextBox 11"/>
          <p:cNvSpPr txBox="1"/>
          <p:nvPr/>
        </p:nvSpPr>
        <p:spPr>
          <a:xfrm>
            <a:off x="914400" y="2377440"/>
            <a:ext cx="2926080" cy="3474720"/>
          </a:xfrm>
          <a:prstGeom prst="rect">
            <a:avLst/>
          </a:prstGeom>
          <a:noFill/>
        </p:spPr>
        <p:txBody>
          <a:bodyPr wrap="square" lIns="0" tIns="0" rIns="0" bIns="0">
            <a:spAutoFit/>
          </a:bodyPr>
          <a:lstStyle/>
          <a:p>
            <a:pPr>
              <a:spcBef>
                <a:spcPts val="500"/>
              </a:spcBef>
            </a:pPr>
            <a:r>
              <a:rPr sz="1000" b="1">
                <a:solidFill>
                  <a:srgbClr val="F8FAFC"/>
                </a:solidFill>
                <a:latin typeface="Calibri"/>
              </a:rPr>
              <a:t>•  4 Specialized Tones: </a:t>
            </a:r>
            <a:r>
              <a:rPr sz="1000">
                <a:solidFill>
                  <a:srgbClr val="94A3B8"/>
                </a:solidFill>
                <a:latin typeface="Calibri"/>
              </a:rPr>
              <a:t>Rewrites draft replies into Empathetic, Concise, Formal, or Technical styles with 1 click.</a:t>
            </a:r>
          </a:p>
          <a:p>
            <a:pPr>
              <a:spcBef>
                <a:spcPts val="500"/>
              </a:spcBef>
            </a:pPr>
            <a:r>
              <a:rPr sz="1000" b="1">
                <a:solidFill>
                  <a:srgbClr val="F8FAFC"/>
                </a:solidFill>
                <a:latin typeface="Calibri"/>
              </a:rPr>
              <a:t>•  3-Variation Cycling: </a:t>
            </a:r>
            <a:r>
              <a:rPr sz="1000">
                <a:solidFill>
                  <a:srgbClr val="94A3B8"/>
                </a:solidFill>
                <a:latin typeface="Calibri"/>
              </a:rPr>
              <a:t>Agents can click repeatedly to cycle through variations v1, v2, and v3 without rewriting from scratch.</a:t>
            </a:r>
          </a:p>
          <a:p>
            <a:pPr>
              <a:spcBef>
                <a:spcPts val="500"/>
              </a:spcBef>
            </a:pPr>
            <a:r>
              <a:rPr sz="1000" b="1">
                <a:solidFill>
                  <a:srgbClr val="F8FAFC"/>
                </a:solidFill>
                <a:latin typeface="Calibri"/>
              </a:rPr>
              <a:t>•  Anti-Nesting Greeting Rules: </a:t>
            </a:r>
            <a:r>
              <a:rPr sz="1000">
                <a:solidFill>
                  <a:srgbClr val="94A3B8"/>
                </a:solidFill>
                <a:latin typeface="Calibri"/>
              </a:rPr>
              <a:t>System prompt strips duplicate salutations ('Hi Sarah, Dear Sarah') and repetitive sign-offs.</a:t>
            </a:r>
          </a:p>
          <a:p>
            <a:pPr>
              <a:spcBef>
                <a:spcPts val="500"/>
              </a:spcBef>
            </a:pPr>
            <a:r>
              <a:rPr sz="1000" b="1">
                <a:solidFill>
                  <a:srgbClr val="F8FAFC"/>
                </a:solidFill>
                <a:latin typeface="Calibri"/>
              </a:rPr>
              <a:t>•  Agent Review &amp; Apply: </a:t>
            </a:r>
            <a:r>
              <a:rPr sz="1000">
                <a:solidFill>
                  <a:srgbClr val="94A3B8"/>
                </a:solidFill>
                <a:latin typeface="Calibri"/>
              </a:rPr>
              <a:t>Provides side-by-side diff with an 'Apply to Reply' button to maintain human decision authority.</a:t>
            </a:r>
          </a:p>
        </p:txBody>
      </p:sp>
      <p:sp>
        <p:nvSpPr>
          <p:cNvPr id="13" name="Rounded Rectangle 12"/>
          <p:cNvSpPr/>
          <p:nvPr/>
        </p:nvSpPr>
        <p:spPr>
          <a:xfrm>
            <a:off x="4206240" y="1737360"/>
            <a:ext cx="3291840" cy="4389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920240"/>
            <a:ext cx="2834640" cy="320040"/>
          </a:xfrm>
          <a:prstGeom prst="rect">
            <a:avLst/>
          </a:prstGeom>
          <a:noFill/>
        </p:spPr>
        <p:txBody>
          <a:bodyPr wrap="square" lIns="0" tIns="0" rIns="0" bIns="0">
            <a:spAutoFit/>
          </a:bodyPr>
          <a:lstStyle/>
          <a:p>
            <a:pPr>
              <a:defRPr sz="1250" b="1">
                <a:solidFill>
                  <a:srgbClr val="F8FAFC"/>
                </a:solidFill>
                <a:latin typeface="Calibri"/>
              </a:defRPr>
            </a:pPr>
            <a:r>
              <a:t>2. Pre-Send Quality Auditing</a:t>
            </a:r>
          </a:p>
          <a:p>
            <a:pPr>
              <a:defRPr sz="950">
                <a:solidFill>
                  <a:srgbClr val="94A3B8"/>
                </a:solidFill>
                <a:latin typeface="Calibri"/>
              </a:defRPr>
            </a:pPr>
            <a:r>
              <a:t>SSAI-304 4-Pillar Quality Modal</a:t>
            </a:r>
          </a:p>
        </p:txBody>
      </p:sp>
      <p:sp>
        <p:nvSpPr>
          <p:cNvPr id="15" name="TextBox 14"/>
          <p:cNvSpPr txBox="1"/>
          <p:nvPr/>
        </p:nvSpPr>
        <p:spPr>
          <a:xfrm>
            <a:off x="4389120" y="2377440"/>
            <a:ext cx="2926080" cy="3474720"/>
          </a:xfrm>
          <a:prstGeom prst="rect">
            <a:avLst/>
          </a:prstGeom>
          <a:noFill/>
        </p:spPr>
        <p:txBody>
          <a:bodyPr wrap="square" lIns="0" tIns="0" rIns="0" bIns="0">
            <a:spAutoFit/>
          </a:bodyPr>
          <a:lstStyle/>
          <a:p>
            <a:pPr>
              <a:spcBef>
                <a:spcPts val="500"/>
              </a:spcBef>
            </a:pPr>
            <a:r>
              <a:rPr sz="1000" b="1">
                <a:solidFill>
                  <a:srgbClr val="F8FAFC"/>
                </a:solidFill>
                <a:latin typeface="Calibri"/>
              </a:rPr>
              <a:t>•  Professionalism (0-100): </a:t>
            </a:r>
            <a:r>
              <a:rPr sz="1000">
                <a:solidFill>
                  <a:srgbClr val="94A3B8"/>
                </a:solidFill>
                <a:latin typeface="Calibri"/>
              </a:rPr>
              <a:t>Verifies corporate communication standards and respectful enterprise tone.</a:t>
            </a:r>
          </a:p>
          <a:p>
            <a:pPr>
              <a:spcBef>
                <a:spcPts val="500"/>
              </a:spcBef>
            </a:pPr>
            <a:r>
              <a:rPr sz="1000" b="1">
                <a:solidFill>
                  <a:srgbClr val="F8FAFC"/>
                </a:solidFill>
                <a:latin typeface="Calibri"/>
              </a:rPr>
              <a:t>•  Empathy (0-100): </a:t>
            </a:r>
            <a:r>
              <a:rPr sz="1000">
                <a:solidFill>
                  <a:srgbClr val="94A3B8"/>
                </a:solidFill>
                <a:latin typeface="Calibri"/>
              </a:rPr>
              <a:t>Audits acknowledgment of customer frustration and validation of their business urgency.</a:t>
            </a:r>
          </a:p>
          <a:p>
            <a:pPr>
              <a:spcBef>
                <a:spcPts val="500"/>
              </a:spcBef>
            </a:pPr>
            <a:r>
              <a:rPr sz="1000" b="1">
                <a:solidFill>
                  <a:srgbClr val="F8FAFC"/>
                </a:solidFill>
                <a:latin typeface="Calibri"/>
              </a:rPr>
              <a:t>•  Clarity (0-100): </a:t>
            </a:r>
            <a:r>
              <a:rPr sz="1000">
                <a:solidFill>
                  <a:srgbClr val="94A3B8"/>
                </a:solidFill>
                <a:latin typeface="Calibri"/>
              </a:rPr>
              <a:t>Checks readability and ensures technical explanations avoid opaque jargon.</a:t>
            </a:r>
          </a:p>
          <a:p>
            <a:pPr>
              <a:spcBef>
                <a:spcPts val="500"/>
              </a:spcBef>
            </a:pPr>
            <a:r>
              <a:rPr sz="1000" b="1">
                <a:solidFill>
                  <a:srgbClr val="F8FAFC"/>
                </a:solidFill>
                <a:latin typeface="Calibri"/>
              </a:rPr>
              <a:t>•  Actionability (0-100): </a:t>
            </a:r>
            <a:r>
              <a:rPr sz="1000">
                <a:solidFill>
                  <a:srgbClr val="94A3B8"/>
                </a:solidFill>
                <a:latin typeface="Calibri"/>
              </a:rPr>
              <a:t>Ensures concrete next steps, deadlines, and instructions are clearly stated.</a:t>
            </a:r>
          </a:p>
        </p:txBody>
      </p:sp>
      <p:sp>
        <p:nvSpPr>
          <p:cNvPr id="16" name="Rounded Rectangle 15"/>
          <p:cNvSpPr/>
          <p:nvPr/>
        </p:nvSpPr>
        <p:spPr>
          <a:xfrm>
            <a:off x="7680960" y="1737360"/>
            <a:ext cx="3779215" cy="4389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1920240"/>
            <a:ext cx="3322015" cy="320040"/>
          </a:xfrm>
          <a:prstGeom prst="rect">
            <a:avLst/>
          </a:prstGeom>
          <a:noFill/>
        </p:spPr>
        <p:txBody>
          <a:bodyPr wrap="square" lIns="0" tIns="0" rIns="0" bIns="0">
            <a:spAutoFit/>
          </a:bodyPr>
          <a:lstStyle/>
          <a:p>
            <a:pPr>
              <a:defRPr sz="1250" b="1">
                <a:solidFill>
                  <a:srgbClr val="F8FAFC"/>
                </a:solidFill>
                <a:latin typeface="Calibri"/>
              </a:defRPr>
            </a:pPr>
            <a:r>
              <a:t>3. Real-Time FAQ Deflection</a:t>
            </a:r>
          </a:p>
          <a:p>
            <a:pPr>
              <a:defRPr sz="950">
                <a:solidFill>
                  <a:srgbClr val="94A3B8"/>
                </a:solidFill>
                <a:latin typeface="Calibri"/>
              </a:defRPr>
            </a:pPr>
            <a:r>
              <a:t>SSAI-410 Deflection Engine</a:t>
            </a:r>
          </a:p>
        </p:txBody>
      </p:sp>
      <p:sp>
        <p:nvSpPr>
          <p:cNvPr id="18" name="Rounded Rectangle 17"/>
          <p:cNvSpPr/>
          <p:nvPr/>
        </p:nvSpPr>
        <p:spPr>
          <a:xfrm>
            <a:off x="7772400" y="2286000"/>
            <a:ext cx="3596335" cy="2606040"/>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q_deflection_live.png"/>
          <p:cNvPicPr>
            <a:picLocks noChangeAspect="1"/>
          </p:cNvPicPr>
          <p:nvPr/>
        </p:nvPicPr>
        <p:blipFill>
          <a:blip r:embed="rId2"/>
          <a:stretch>
            <a:fillRect/>
          </a:stretch>
        </p:blipFill>
        <p:spPr>
          <a:xfrm>
            <a:off x="7818120" y="2331720"/>
            <a:ext cx="3504895" cy="2286000"/>
          </a:xfrm>
          <a:prstGeom prst="rect">
            <a:avLst/>
          </a:prstGeom>
        </p:spPr>
      </p:pic>
      <p:sp>
        <p:nvSpPr>
          <p:cNvPr id="20" name="TextBox 19"/>
          <p:cNvSpPr txBox="1"/>
          <p:nvPr/>
        </p:nvSpPr>
        <p:spPr>
          <a:xfrm>
            <a:off x="7818120" y="4636007"/>
            <a:ext cx="3504895" cy="274320"/>
          </a:xfrm>
          <a:prstGeom prst="rect">
            <a:avLst/>
          </a:prstGeom>
          <a:noFill/>
        </p:spPr>
        <p:txBody>
          <a:bodyPr wrap="square" lIns="0" tIns="0" rIns="0" bIns="0">
            <a:spAutoFit/>
          </a:bodyPr>
          <a:lstStyle/>
          <a:p>
            <a:pPr algn="ctr">
              <a:defRPr sz="900">
                <a:solidFill>
                  <a:srgbClr val="38BDF8"/>
                </a:solidFill>
                <a:latin typeface="Calibri"/>
              </a:defRPr>
            </a:pPr>
            <a:r>
              <a:t>Live Production: Debounced FAQ Deflection Panel during Ticket Creation</a:t>
            </a:r>
          </a:p>
        </p:txBody>
      </p:sp>
      <p:sp>
        <p:nvSpPr>
          <p:cNvPr id="21" name="TextBox 20"/>
          <p:cNvSpPr txBox="1"/>
          <p:nvPr/>
        </p:nvSpPr>
        <p:spPr>
          <a:xfrm>
            <a:off x="7818120" y="4892040"/>
            <a:ext cx="3474720" cy="1097280"/>
          </a:xfrm>
          <a:prstGeom prst="rect">
            <a:avLst/>
          </a:prstGeom>
          <a:noFill/>
        </p:spPr>
        <p:txBody>
          <a:bodyPr wrap="square" lIns="0" tIns="0" rIns="0" bIns="0">
            <a:spAutoFit/>
          </a:bodyPr>
          <a:lstStyle/>
          <a:p>
            <a:pPr>
              <a:spcBef>
                <a:spcPts val="300"/>
              </a:spcBef>
            </a:pPr>
            <a:r>
              <a:rPr sz="950" b="1">
                <a:solidFill>
                  <a:srgbClr val="F8FAFC"/>
                </a:solidFill>
                <a:latin typeface="Calibri"/>
              </a:rPr>
              <a:t>•  Debounced Client Search: </a:t>
            </a:r>
            <a:r>
              <a:rPr sz="950">
                <a:solidFill>
                  <a:srgbClr val="94A3B8"/>
                </a:solidFill>
                <a:latin typeface="Calibri"/>
              </a:rPr>
              <a:t>300ms scanner matches KB articles while user types.</a:t>
            </a:r>
          </a:p>
          <a:p>
            <a:pPr>
              <a:spcBef>
                <a:spcPts val="300"/>
              </a:spcBef>
            </a:pPr>
            <a:r>
              <a:rPr sz="950" b="1">
                <a:solidFill>
                  <a:srgbClr val="F8FAFC"/>
                </a:solidFill>
                <a:latin typeface="Calibri"/>
              </a:rPr>
              <a:t>•  35% Deflection Impact: </a:t>
            </a:r>
            <a:r>
              <a:rPr sz="950">
                <a:solidFill>
                  <a:srgbClr val="94A3B8"/>
                </a:solidFill>
                <a:latin typeface="Calibri"/>
              </a:rPr>
              <a:t>Instant self-service answers deflect routine tickets.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SECURITY &amp; AUTHENTICATION</a:t>
            </a:r>
          </a:p>
        </p:txBody>
      </p:sp>
      <p:sp>
        <p:nvSpPr>
          <p:cNvPr id="4" name="Rounded Rectangle 3"/>
          <p:cNvSpPr/>
          <p:nvPr/>
        </p:nvSpPr>
        <p:spPr>
          <a:xfrm>
            <a:off x="7315200" y="365760"/>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Security Hardening: Stateless JWT Architecture &amp; Guardrails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Zero-trust credential verification with strict privilege escalation prevention.</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11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188720"/>
          </a:xfrm>
          <a:prstGeom prst="rect">
            <a:avLst/>
          </a:prstGeom>
          <a:noFill/>
        </p:spPr>
        <p:txBody>
          <a:bodyPr wrap="square" lIns="0" tIns="0" rIns="0" bIns="0">
            <a:spAutoFit/>
          </a:bodyPr>
          <a:lstStyle/>
          <a:p>
            <a:pPr>
              <a:defRPr sz="3200" b="1">
                <a:solidFill>
                  <a:srgbClr val="A855F7"/>
                </a:solidFill>
                <a:latin typeface="Calibri"/>
              </a:defRPr>
            </a:pPr>
            <a:r>
              <a:t>1 Hour</a:t>
            </a:r>
          </a:p>
          <a:p>
            <a:pPr>
              <a:spcBef>
                <a:spcPts val="400"/>
              </a:spcBef>
              <a:defRPr sz="1200" b="1">
                <a:solidFill>
                  <a:srgbClr val="F8FAFC"/>
                </a:solidFill>
                <a:latin typeface="Calibri"/>
              </a:defRPr>
            </a:pPr>
            <a:r>
              <a:t>JWT Token Expiration</a:t>
            </a:r>
          </a:p>
          <a:p>
            <a:pPr>
              <a:spcBef>
                <a:spcPts val="300"/>
              </a:spcBef>
              <a:defRPr sz="950">
                <a:solidFill>
                  <a:srgbClr val="94A3B8"/>
                </a:solidFill>
                <a:latin typeface="Calibri"/>
              </a:defRPr>
            </a:pPr>
            <a:r>
              <a:t>Short-lived stateless Bearer tokens minimize hijack surface</a:t>
            </a:r>
          </a:p>
        </p:txBody>
      </p:sp>
      <p:sp>
        <p:nvSpPr>
          <p:cNvPr id="12" name="Rounded Rectangle 11"/>
          <p:cNvSpPr/>
          <p:nvPr/>
        </p:nvSpPr>
        <p:spPr>
          <a:xfrm>
            <a:off x="342900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188720"/>
          </a:xfrm>
          <a:prstGeom prst="rect">
            <a:avLst/>
          </a:prstGeom>
          <a:noFill/>
        </p:spPr>
        <p:txBody>
          <a:bodyPr wrap="square" lIns="0" tIns="0" rIns="0" bIns="0">
            <a:spAutoFit/>
          </a:bodyPr>
          <a:lstStyle/>
          <a:p>
            <a:pPr>
              <a:defRPr sz="3200" b="1">
                <a:solidFill>
                  <a:srgbClr val="3B82F6"/>
                </a:solidFill>
                <a:latin typeface="Calibri"/>
              </a:defRPr>
            </a:pPr>
            <a:r>
              <a:t>10 Rounds</a:t>
            </a:r>
          </a:p>
          <a:p>
            <a:pPr>
              <a:spcBef>
                <a:spcPts val="400"/>
              </a:spcBef>
              <a:defRPr sz="1200" b="1">
                <a:solidFill>
                  <a:srgbClr val="F8FAFC"/>
                </a:solidFill>
                <a:latin typeface="Calibri"/>
              </a:defRPr>
            </a:pPr>
            <a:r>
              <a:t>Bcrypt Hashing Salt</a:t>
            </a:r>
          </a:p>
          <a:p>
            <a:pPr>
              <a:spcBef>
                <a:spcPts val="300"/>
              </a:spcBef>
              <a:defRPr sz="950">
                <a:solidFill>
                  <a:srgbClr val="94A3B8"/>
                </a:solidFill>
                <a:latin typeface="Calibri"/>
              </a:defRPr>
            </a:pPr>
            <a:r>
              <a:t>Cryptographically salted password hashes; 0 plaintext storage</a:t>
            </a:r>
          </a:p>
        </p:txBody>
      </p:sp>
      <p:sp>
        <p:nvSpPr>
          <p:cNvPr id="14" name="Rounded Rectangle 13"/>
          <p:cNvSpPr/>
          <p:nvPr/>
        </p:nvSpPr>
        <p:spPr>
          <a:xfrm>
            <a:off x="612648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188720"/>
          </a:xfrm>
          <a:prstGeom prst="rect">
            <a:avLst/>
          </a:prstGeom>
          <a:noFill/>
        </p:spPr>
        <p:txBody>
          <a:bodyPr wrap="square" lIns="0" tIns="0" rIns="0" bIns="0">
            <a:spAutoFit/>
          </a:bodyPr>
          <a:lstStyle/>
          <a:p>
            <a:pPr>
              <a:defRPr sz="3200" b="1">
                <a:solidFill>
                  <a:srgbClr val="F43F5E"/>
                </a:solidFill>
                <a:latin typeface="Calibri"/>
              </a:defRPr>
            </a:pPr>
            <a:r>
              <a:t>100 req</a:t>
            </a:r>
          </a:p>
          <a:p>
            <a:pPr>
              <a:spcBef>
                <a:spcPts val="400"/>
              </a:spcBef>
              <a:defRPr sz="1200" b="1">
                <a:solidFill>
                  <a:srgbClr val="F8FAFC"/>
                </a:solidFill>
                <a:latin typeface="Calibri"/>
              </a:defRPr>
            </a:pPr>
            <a:r>
              <a:t>Rate Limiter Threshold</a:t>
            </a:r>
          </a:p>
          <a:p>
            <a:pPr>
              <a:spcBef>
                <a:spcPts val="300"/>
              </a:spcBef>
              <a:defRPr sz="950">
                <a:solidFill>
                  <a:srgbClr val="94A3B8"/>
                </a:solidFill>
                <a:latin typeface="Calibri"/>
              </a:defRPr>
            </a:pPr>
            <a:r>
              <a:t>100 requests per 15 mins per IP prevents brute-force attacks</a:t>
            </a:r>
          </a:p>
        </p:txBody>
      </p:sp>
      <p:sp>
        <p:nvSpPr>
          <p:cNvPr id="16" name="Rounded Rectangle 15"/>
          <p:cNvSpPr/>
          <p:nvPr/>
        </p:nvSpPr>
        <p:spPr>
          <a:xfrm>
            <a:off x="882396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188720"/>
          </a:xfrm>
          <a:prstGeom prst="rect">
            <a:avLst/>
          </a:prstGeom>
          <a:noFill/>
        </p:spPr>
        <p:txBody>
          <a:bodyPr wrap="square" lIns="0" tIns="0" rIns="0" bIns="0">
            <a:spAutoFit/>
          </a:bodyPr>
          <a:lstStyle/>
          <a:p>
            <a:pPr>
              <a:defRPr sz="3200" b="1">
                <a:solidFill>
                  <a:srgbClr val="10B981"/>
                </a:solidFill>
                <a:latin typeface="Calibri"/>
              </a:defRPr>
            </a:pPr>
            <a:r>
              <a:t>100%</a:t>
            </a:r>
          </a:p>
          <a:p>
            <a:pPr>
              <a:spcBef>
                <a:spcPts val="400"/>
              </a:spcBef>
              <a:defRPr sz="1200" b="1">
                <a:solidFill>
                  <a:srgbClr val="F8FAFC"/>
                </a:solidFill>
                <a:latin typeface="Calibri"/>
              </a:defRPr>
            </a:pPr>
            <a:r>
              <a:t>OWASP Compliance</a:t>
            </a:r>
          </a:p>
          <a:p>
            <a:pPr>
              <a:spcBef>
                <a:spcPts val="300"/>
              </a:spcBef>
              <a:defRPr sz="950">
                <a:solidFill>
                  <a:srgbClr val="94A3B8"/>
                </a:solidFill>
                <a:latin typeface="Calibri"/>
              </a:defRPr>
            </a:pPr>
            <a:r>
              <a:t>Helmet HTTP headers, CORS whitelisting, strict input sanitization</a:t>
            </a:r>
          </a:p>
        </p:txBody>
      </p:sp>
      <p:sp>
        <p:nvSpPr>
          <p:cNvPr id="18" name="Rounded Rectangle 17"/>
          <p:cNvSpPr/>
          <p:nvPr/>
        </p:nvSpPr>
        <p:spPr>
          <a:xfrm>
            <a:off x="73152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11880"/>
            <a:ext cx="4800600" cy="320040"/>
          </a:xfrm>
          <a:prstGeom prst="rect">
            <a:avLst/>
          </a:prstGeom>
          <a:noFill/>
        </p:spPr>
        <p:txBody>
          <a:bodyPr wrap="square" lIns="0" tIns="0" rIns="0" bIns="0">
            <a:spAutoFit/>
          </a:bodyPr>
          <a:lstStyle/>
          <a:p>
            <a:pPr>
              <a:defRPr sz="1250" b="1">
                <a:solidFill>
                  <a:srgbClr val="F8FAFC"/>
                </a:solidFill>
                <a:latin typeface="Calibri"/>
              </a:defRPr>
            </a:pPr>
            <a:r>
              <a:t>Stateless Token Lifecycle &amp; Axios Interceptors</a:t>
            </a:r>
          </a:p>
          <a:p>
            <a:pPr>
              <a:defRPr sz="950">
                <a:solidFill>
                  <a:srgbClr val="94A3B8"/>
                </a:solidFill>
                <a:latin typeface="Calibri"/>
              </a:defRPr>
            </a:pPr>
            <a:r>
              <a:t>Automated header attachment and session recovery</a:t>
            </a:r>
          </a:p>
        </p:txBody>
      </p:sp>
      <p:sp>
        <p:nvSpPr>
          <p:cNvPr id="20" name="TextBox 19"/>
          <p:cNvSpPr txBox="1"/>
          <p:nvPr/>
        </p:nvSpPr>
        <p:spPr>
          <a:xfrm>
            <a:off x="91440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Login &amp; Signature: </a:t>
            </a:r>
            <a:r>
              <a:rPr sz="1100">
                <a:solidFill>
                  <a:srgbClr val="94A3B8"/>
                </a:solidFill>
                <a:latin typeface="Calibri"/>
              </a:rPr>
              <a:t>Backend verifies bcrypt hash, signs JWT payload (id, email, role, department), and returns token.</a:t>
            </a:r>
          </a:p>
          <a:p>
            <a:pPr>
              <a:spcBef>
                <a:spcPts val="400"/>
              </a:spcBef>
            </a:pPr>
            <a:r>
              <a:rPr sz="1100" b="1">
                <a:solidFill>
                  <a:srgbClr val="F8FAFC"/>
                </a:solidFill>
                <a:latin typeface="Calibri"/>
              </a:rPr>
              <a:t>•  Automatic Header Injection: </a:t>
            </a:r>
            <a:r>
              <a:rPr sz="1100">
                <a:solidFill>
                  <a:srgbClr val="94A3B8"/>
                </a:solidFill>
                <a:latin typeface="Calibri"/>
              </a:rPr>
              <a:t>Axios request interceptor automatically attaches 'Authorization: Bearer &lt;token&gt;' to all outgoing calls.</a:t>
            </a:r>
          </a:p>
          <a:p>
            <a:pPr>
              <a:spcBef>
                <a:spcPts val="400"/>
              </a:spcBef>
            </a:pPr>
            <a:r>
              <a:rPr sz="1100" b="1">
                <a:solidFill>
                  <a:srgbClr val="F8FAFC"/>
                </a:solidFill>
                <a:latin typeface="Calibri"/>
              </a:rPr>
              <a:t>•  Session Expiry Handling: </a:t>
            </a:r>
            <a:r>
              <a:rPr sz="1100">
                <a:solidFill>
                  <a:srgbClr val="94A3B8"/>
                </a:solidFill>
                <a:latin typeface="Calibri"/>
              </a:rPr>
              <a:t>Response interceptor catches HTTP 401 Unauthorized, automatically clears localStorage, and redirects to login.</a:t>
            </a:r>
          </a:p>
        </p:txBody>
      </p:sp>
      <p:sp>
        <p:nvSpPr>
          <p:cNvPr id="21" name="Rounded Rectangle 20"/>
          <p:cNvSpPr/>
          <p:nvPr/>
        </p:nvSpPr>
        <p:spPr>
          <a:xfrm>
            <a:off x="617220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11880"/>
            <a:ext cx="4800600" cy="320040"/>
          </a:xfrm>
          <a:prstGeom prst="rect">
            <a:avLst/>
          </a:prstGeom>
          <a:noFill/>
        </p:spPr>
        <p:txBody>
          <a:bodyPr wrap="square" lIns="0" tIns="0" rIns="0" bIns="0">
            <a:spAutoFit/>
          </a:bodyPr>
          <a:lstStyle/>
          <a:p>
            <a:pPr>
              <a:defRPr sz="1250" b="1">
                <a:solidFill>
                  <a:srgbClr val="F8FAFC"/>
                </a:solidFill>
                <a:latin typeface="Calibri"/>
              </a:defRPr>
            </a:pPr>
            <a:r>
              <a:t>Privilege Escalation Prevention &amp; Hardening</a:t>
            </a:r>
          </a:p>
          <a:p>
            <a:pPr>
              <a:defRPr sz="950">
                <a:solidFill>
                  <a:srgbClr val="94A3B8"/>
                </a:solidFill>
                <a:latin typeface="Calibri"/>
              </a:defRPr>
            </a:pPr>
            <a:r>
              <a:t>Strict public registration boundaries</a:t>
            </a:r>
          </a:p>
        </p:txBody>
      </p:sp>
      <p:sp>
        <p:nvSpPr>
          <p:cNvPr id="23" name="TextBox 22"/>
          <p:cNvSpPr txBox="1"/>
          <p:nvPr/>
        </p:nvSpPr>
        <p:spPr>
          <a:xfrm>
            <a:off x="635508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Sanitized Registration: </a:t>
            </a:r>
            <a:r>
              <a:rPr sz="1100">
                <a:solidFill>
                  <a:srgbClr val="94A3B8"/>
                </a:solidFill>
                <a:latin typeface="Calibri"/>
              </a:rPr>
              <a:t>Public self-registration strictly forces role='CUSTOMER'. Any payload attempts to claim 'AGENT' or 'ADMIN' are sanitized.</a:t>
            </a:r>
          </a:p>
          <a:p>
            <a:pPr>
              <a:spcBef>
                <a:spcPts val="400"/>
              </a:spcBef>
            </a:pPr>
            <a:r>
              <a:rPr sz="1100" b="1">
                <a:solidFill>
                  <a:srgbClr val="F8FAFC"/>
                </a:solidFill>
                <a:latin typeface="Calibri"/>
              </a:rPr>
              <a:t>•  Admin-Only Role Promotion: </a:t>
            </a:r>
            <a:r>
              <a:rPr sz="1100">
                <a:solidFill>
                  <a:srgbClr val="94A3B8"/>
                </a:solidFill>
                <a:latin typeface="Calibri"/>
              </a:rPr>
              <a:t>Role modifications require authentication and role='ADMIN' via PATCH /api/v1/auth/users/:id/role.</a:t>
            </a:r>
          </a:p>
          <a:p>
            <a:pPr>
              <a:spcBef>
                <a:spcPts val="400"/>
              </a:spcBef>
            </a:pPr>
            <a:r>
              <a:rPr sz="1100" b="1">
                <a:solidFill>
                  <a:srgbClr val="F8FAFC"/>
                </a:solidFill>
                <a:latin typeface="Calibri"/>
              </a:rPr>
              <a:t>•  Secure Production Secrets: </a:t>
            </a:r>
            <a:r>
              <a:rPr sz="1100">
                <a:solidFill>
                  <a:srgbClr val="94A3B8"/>
                </a:solidFill>
                <a:latin typeface="Calibri"/>
              </a:rPr>
              <a:t>Enforces non-default JWT_SECRET in production environments, crashing on startup if insecure defaults are 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ACCESS CONTROL &amp; GOVERNANCE</a:t>
            </a:r>
          </a:p>
        </p:txBody>
      </p:sp>
      <p:sp>
        <p:nvSpPr>
          <p:cNvPr id="4" name="Rounded Rectangle 3"/>
          <p:cNvSpPr/>
          <p:nvPr/>
        </p:nvSpPr>
        <p:spPr>
          <a:xfrm>
            <a:off x="7315200" y="365760"/>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Role-Based Access Control (RBAC) &amp; 9 Test Personas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Multi-department access matrix with 1-click persona testing for client evaluations.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12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graphicFrame>
        <p:nvGraphicFramePr>
          <p:cNvPr id="10" name="Table 9"/>
          <p:cNvGraphicFramePr>
            <a:graphicFrameLocks noGrp="1"/>
          </p:cNvGraphicFramePr>
          <p:nvPr/>
        </p:nvGraphicFramePr>
        <p:xfrm>
          <a:off x="731520" y="1737360"/>
          <a:ext cx="10728655" cy="2468880"/>
        </p:xfrm>
        <a:graphic>
          <a:graphicData uri="http://schemas.openxmlformats.org/drawingml/2006/table">
            <a:tbl>
              <a:tblPr firstRow="1" bandRow="1">
                <a:tableStyleId>{5C22544A-7EE6-4342-B048-85BDC9FD1C3A}</a:tableStyleId>
              </a:tblPr>
              <a:tblGrid>
                <a:gridCol w="1645920"/>
                <a:gridCol w="2011680"/>
                <a:gridCol w="2926080"/>
                <a:gridCol w="1645920"/>
                <a:gridCol w="2499055"/>
              </a:tblGrid>
              <a:tr h="352697">
                <a:tc>
                  <a:txBody>
                    <a:bodyPr/>
                    <a:lstStyle/>
                    <a:p>
                      <a:pPr algn="l">
                        <a:defRPr sz="1100" b="1">
                          <a:solidFill>
                            <a:srgbClr val="F8FAFC"/>
                          </a:solidFill>
                          <a:latin typeface="Calibri"/>
                        </a:defRPr>
                      </a:pPr>
                      <a:r>
                        <a:t>User Role</a:t>
                      </a:r>
                    </a:p>
                  </a:txBody>
                  <a:tcPr anchor="ctr">
                    <a:solidFill>
                      <a:srgbClr val="1E3A8A"/>
                    </a:solidFill>
                  </a:tcPr>
                </a:tc>
                <a:tc>
                  <a:txBody>
                    <a:bodyPr/>
                    <a:lstStyle/>
                    <a:p>
                      <a:pPr algn="l">
                        <a:defRPr sz="1100" b="1">
                          <a:solidFill>
                            <a:srgbClr val="F8FAFC"/>
                          </a:solidFill>
                          <a:latin typeface="Calibri"/>
                        </a:defRPr>
                      </a:pPr>
                      <a:r>
                        <a:t>Department Assignment</a:t>
                      </a:r>
                    </a:p>
                  </a:txBody>
                  <a:tcPr anchor="ctr">
                    <a:solidFill>
                      <a:srgbClr val="1E3A8A"/>
                    </a:solidFill>
                  </a:tcPr>
                </a:tc>
                <a:tc>
                  <a:txBody>
                    <a:bodyPr/>
                    <a:lstStyle/>
                    <a:p>
                      <a:pPr algn="l">
                        <a:defRPr sz="1100" b="1">
                          <a:solidFill>
                            <a:srgbClr val="F8FAFC"/>
                          </a:solidFill>
                          <a:latin typeface="Calibri"/>
                        </a:defRPr>
                      </a:pPr>
                      <a:r>
                        <a:t>Queue Access Level</a:t>
                      </a:r>
                    </a:p>
                  </a:txBody>
                  <a:tcPr anchor="ctr">
                    <a:solidFill>
                      <a:srgbClr val="1E3A8A"/>
                    </a:solidFill>
                  </a:tcPr>
                </a:tc>
                <a:tc>
                  <a:txBody>
                    <a:bodyPr/>
                    <a:lstStyle/>
                    <a:p>
                      <a:pPr algn="l">
                        <a:defRPr sz="1100" b="1">
                          <a:solidFill>
                            <a:srgbClr val="F8FAFC"/>
                          </a:solidFill>
                          <a:latin typeface="Calibri"/>
                        </a:defRPr>
                      </a:pPr>
                      <a:r>
                        <a:t>Internal Notes</a:t>
                      </a:r>
                    </a:p>
                  </a:txBody>
                  <a:tcPr anchor="ctr">
                    <a:solidFill>
                      <a:srgbClr val="1E3A8A"/>
                    </a:solidFill>
                  </a:tcPr>
                </a:tc>
                <a:tc>
                  <a:txBody>
                    <a:bodyPr/>
                    <a:lstStyle/>
                    <a:p>
                      <a:pPr algn="l">
                        <a:defRPr sz="1100" b="1">
                          <a:solidFill>
                            <a:srgbClr val="F8FAFC"/>
                          </a:solidFill>
                          <a:latin typeface="Calibri"/>
                        </a:defRPr>
                      </a:pPr>
                      <a:r>
                        <a:t>Administrative Rights</a:t>
                      </a:r>
                    </a:p>
                  </a:txBody>
                  <a:tcPr anchor="ctr">
                    <a:solidFill>
                      <a:srgbClr val="1E3A8A"/>
                    </a:solidFill>
                  </a:tcPr>
                </a:tc>
              </a:tr>
              <a:tr h="352697">
                <a:tc>
                  <a:txBody>
                    <a:bodyPr/>
                    <a:lstStyle/>
                    <a:p>
                      <a:pPr algn="l">
                        <a:defRPr sz="1000">
                          <a:solidFill>
                            <a:srgbClr val="F8FAFC"/>
                          </a:solidFill>
                          <a:latin typeface="Calibri"/>
                        </a:defRPr>
                      </a:pPr>
                      <a:r>
                        <a:t>CUSTOMER</a:t>
                      </a:r>
                    </a:p>
                  </a:txBody>
                  <a:tcPr anchor="ctr">
                    <a:solidFill>
                      <a:srgbClr val="1E293B"/>
                    </a:solidFill>
                  </a:tcPr>
                </a:tc>
                <a:tc>
                  <a:txBody>
                    <a:bodyPr/>
                    <a:lstStyle/>
                    <a:p>
                      <a:pPr algn="l">
                        <a:defRPr sz="1000">
                          <a:solidFill>
                            <a:srgbClr val="94A3B8"/>
                          </a:solidFill>
                          <a:latin typeface="Calibri"/>
                        </a:defRPr>
                      </a:pPr>
                      <a:r>
                        <a:t>Customer Portal</a:t>
                      </a:r>
                    </a:p>
                  </a:txBody>
                  <a:tcPr anchor="ctr">
                    <a:solidFill>
                      <a:srgbClr val="1E293B"/>
                    </a:solidFill>
                  </a:tcPr>
                </a:tc>
                <a:tc>
                  <a:txBody>
                    <a:bodyPr/>
                    <a:lstStyle/>
                    <a:p>
                      <a:pPr algn="l">
                        <a:defRPr sz="1000">
                          <a:solidFill>
                            <a:srgbClr val="94A3B8"/>
                          </a:solidFill>
                          <a:latin typeface="Calibri"/>
                        </a:defRPr>
                      </a:pPr>
                      <a:r>
                        <a:t>Own submitted tickets only</a:t>
                      </a:r>
                    </a:p>
                  </a:txBody>
                  <a:tcPr anchor="ctr">
                    <a:solidFill>
                      <a:srgbClr val="1E293B"/>
                    </a:solidFill>
                  </a:tcPr>
                </a:tc>
                <a:tc>
                  <a:txBody>
                    <a:bodyPr/>
                    <a:lstStyle/>
                    <a:p>
                      <a:pPr algn="l">
                        <a:defRPr sz="1000">
                          <a:solidFill>
                            <a:srgbClr val="94A3B8"/>
                          </a:solidFill>
                          <a:latin typeface="Calibri"/>
                        </a:defRPr>
                      </a:pPr>
                      <a:r>
                        <a:t>Hidden (Blocked)</a:t>
                      </a:r>
                    </a:p>
                  </a:txBody>
                  <a:tcPr anchor="ctr">
                    <a:solidFill>
                      <a:srgbClr val="1E293B"/>
                    </a:solidFill>
                  </a:tcPr>
                </a:tc>
                <a:tc>
                  <a:txBody>
                    <a:bodyPr/>
                    <a:lstStyle/>
                    <a:p>
                      <a:pPr algn="l">
                        <a:defRPr sz="1000">
                          <a:solidFill>
                            <a:srgbClr val="94A3B8"/>
                          </a:solidFill>
                          <a:latin typeface="Calibri"/>
                        </a:defRPr>
                      </a:pPr>
                      <a:r>
                        <a:t>Self-service submission only</a:t>
                      </a:r>
                    </a:p>
                  </a:txBody>
                  <a:tcPr anchor="ctr">
                    <a:solidFill>
                      <a:srgbClr val="1E293B"/>
                    </a:solidFill>
                  </a:tcPr>
                </a:tc>
              </a:tr>
              <a:tr h="352697">
                <a:tc>
                  <a:txBody>
                    <a:bodyPr/>
                    <a:lstStyle/>
                    <a:p>
                      <a:pPr algn="l">
                        <a:defRPr sz="1000">
                          <a:solidFill>
                            <a:srgbClr val="F8FAFC"/>
                          </a:solidFill>
                          <a:latin typeface="Calibri"/>
                        </a:defRPr>
                      </a:pPr>
                      <a:r>
                        <a:t>AGENT (Tech)</a:t>
                      </a:r>
                    </a:p>
                  </a:txBody>
                  <a:tcPr anchor="ctr">
                    <a:solidFill>
                      <a:srgbClr val="182234"/>
                    </a:solidFill>
                  </a:tcPr>
                </a:tc>
                <a:tc>
                  <a:txBody>
                    <a:bodyPr/>
                    <a:lstStyle/>
                    <a:p>
                      <a:pPr algn="l">
                        <a:defRPr sz="1000">
                          <a:solidFill>
                            <a:srgbClr val="94A3B8"/>
                          </a:solidFill>
                          <a:latin typeface="Calibri"/>
                        </a:defRPr>
                      </a:pPr>
                      <a:r>
                        <a:t>Technical Support</a:t>
                      </a:r>
                    </a:p>
                  </a:txBody>
                  <a:tcPr anchor="ctr">
                    <a:solidFill>
                      <a:srgbClr val="182234"/>
                    </a:solidFill>
                  </a:tcPr>
                </a:tc>
                <a:tc>
                  <a:txBody>
                    <a:bodyPr/>
                    <a:lstStyle/>
                    <a:p>
                      <a:pPr algn="l">
                        <a:defRPr sz="1000">
                          <a:solidFill>
                            <a:srgbClr val="94A3B8"/>
                          </a:solidFill>
                          <a:latin typeface="Calibri"/>
                        </a:defRPr>
                      </a:pPr>
                      <a:r>
                        <a:t>Tech Support queue + Unassigned</a:t>
                      </a:r>
                    </a:p>
                  </a:txBody>
                  <a:tcPr anchor="ctr">
                    <a:solidFill>
                      <a:srgbClr val="182234"/>
                    </a:solidFill>
                  </a:tcPr>
                </a:tc>
                <a:tc>
                  <a:txBody>
                    <a:bodyPr/>
                    <a:lstStyle/>
                    <a:p>
                      <a:pPr algn="l">
                        <a:defRPr sz="1000">
                          <a:solidFill>
                            <a:srgbClr val="94A3B8"/>
                          </a:solidFill>
                          <a:latin typeface="Calibri"/>
                        </a:defRPr>
                      </a:pPr>
                      <a:r>
                        <a:t>Read &amp; Write</a:t>
                      </a:r>
                    </a:p>
                  </a:txBody>
                  <a:tcPr anchor="ctr">
                    <a:solidFill>
                      <a:srgbClr val="182234"/>
                    </a:solidFill>
                  </a:tcPr>
                </a:tc>
                <a:tc>
                  <a:txBody>
                    <a:bodyPr/>
                    <a:lstStyle/>
                    <a:p>
                      <a:pPr algn="l">
                        <a:defRPr sz="1000">
                          <a:solidFill>
                            <a:srgbClr val="94A3B8"/>
                          </a:solidFill>
                          <a:latin typeface="Calibri"/>
                        </a:defRPr>
                      </a:pPr>
                      <a:r>
                        <a:t>Checklist toggle, Tone Polish, Forwarding</a:t>
                      </a:r>
                    </a:p>
                  </a:txBody>
                  <a:tcPr anchor="ctr">
                    <a:solidFill>
                      <a:srgbClr val="182234"/>
                    </a:solidFill>
                  </a:tcPr>
                </a:tc>
              </a:tr>
              <a:tr h="352697">
                <a:tc>
                  <a:txBody>
                    <a:bodyPr/>
                    <a:lstStyle/>
                    <a:p>
                      <a:pPr algn="l">
                        <a:defRPr sz="1000">
                          <a:solidFill>
                            <a:srgbClr val="F8FAFC"/>
                          </a:solidFill>
                          <a:latin typeface="Calibri"/>
                        </a:defRPr>
                      </a:pPr>
                      <a:r>
                        <a:t>AGENT (Billing)</a:t>
                      </a:r>
                    </a:p>
                  </a:txBody>
                  <a:tcPr anchor="ctr">
                    <a:solidFill>
                      <a:srgbClr val="1E293B"/>
                    </a:solidFill>
                  </a:tcPr>
                </a:tc>
                <a:tc>
                  <a:txBody>
                    <a:bodyPr/>
                    <a:lstStyle/>
                    <a:p>
                      <a:pPr algn="l">
                        <a:defRPr sz="1000">
                          <a:solidFill>
                            <a:srgbClr val="94A3B8"/>
                          </a:solidFill>
                          <a:latin typeface="Calibri"/>
                        </a:defRPr>
                      </a:pPr>
                      <a:r>
                        <a:t>Finance &amp; Billing</a:t>
                      </a:r>
                    </a:p>
                  </a:txBody>
                  <a:tcPr anchor="ctr">
                    <a:solidFill>
                      <a:srgbClr val="1E293B"/>
                    </a:solidFill>
                  </a:tcPr>
                </a:tc>
                <a:tc>
                  <a:txBody>
                    <a:bodyPr/>
                    <a:lstStyle/>
                    <a:p>
                      <a:pPr algn="l">
                        <a:defRPr sz="1000">
                          <a:solidFill>
                            <a:srgbClr val="94A3B8"/>
                          </a:solidFill>
                          <a:latin typeface="Calibri"/>
                        </a:defRPr>
                      </a:pPr>
                      <a:r>
                        <a:t>Billing &amp; Invoices queue</a:t>
                      </a:r>
                    </a:p>
                  </a:txBody>
                  <a:tcPr anchor="ctr">
                    <a:solidFill>
                      <a:srgbClr val="1E293B"/>
                    </a:solidFill>
                  </a:tcPr>
                </a:tc>
                <a:tc>
                  <a:txBody>
                    <a:bodyPr/>
                    <a:lstStyle/>
                    <a:p>
                      <a:pPr algn="l">
                        <a:defRPr sz="1000">
                          <a:solidFill>
                            <a:srgbClr val="94A3B8"/>
                          </a:solidFill>
                          <a:latin typeface="Calibri"/>
                        </a:defRPr>
                      </a:pPr>
                      <a:r>
                        <a:t>Read &amp; Write</a:t>
                      </a:r>
                    </a:p>
                  </a:txBody>
                  <a:tcPr anchor="ctr">
                    <a:solidFill>
                      <a:srgbClr val="1E293B"/>
                    </a:solidFill>
                  </a:tcPr>
                </a:tc>
                <a:tc>
                  <a:txBody>
                    <a:bodyPr/>
                    <a:lstStyle/>
                    <a:p>
                      <a:pPr algn="l">
                        <a:defRPr sz="1000">
                          <a:solidFill>
                            <a:srgbClr val="94A3B8"/>
                          </a:solidFill>
                          <a:latin typeface="Calibri"/>
                        </a:defRPr>
                      </a:pPr>
                      <a:r>
                        <a:t>Checklist toggle, Tone Polish, Forwarding</a:t>
                      </a:r>
                    </a:p>
                  </a:txBody>
                  <a:tcPr anchor="ctr">
                    <a:solidFill>
                      <a:srgbClr val="1E293B"/>
                    </a:solidFill>
                  </a:tcPr>
                </a:tc>
              </a:tr>
              <a:tr h="352697">
                <a:tc>
                  <a:txBody>
                    <a:bodyPr/>
                    <a:lstStyle/>
                    <a:p>
                      <a:pPr algn="l">
                        <a:defRPr sz="1000">
                          <a:solidFill>
                            <a:srgbClr val="F8FAFC"/>
                          </a:solidFill>
                          <a:latin typeface="Calibri"/>
                        </a:defRPr>
                      </a:pPr>
                      <a:r>
                        <a:t>AGENT (Identity)</a:t>
                      </a:r>
                    </a:p>
                  </a:txBody>
                  <a:tcPr anchor="ctr">
                    <a:solidFill>
                      <a:srgbClr val="182234"/>
                    </a:solidFill>
                  </a:tcPr>
                </a:tc>
                <a:tc>
                  <a:txBody>
                    <a:bodyPr/>
                    <a:lstStyle/>
                    <a:p>
                      <a:pPr algn="l">
                        <a:defRPr sz="1000">
                          <a:solidFill>
                            <a:srgbClr val="94A3B8"/>
                          </a:solidFill>
                          <a:latin typeface="Calibri"/>
                        </a:defRPr>
                      </a:pPr>
                      <a:r>
                        <a:t>Identity &amp; Access</a:t>
                      </a:r>
                    </a:p>
                  </a:txBody>
                  <a:tcPr anchor="ctr">
                    <a:solidFill>
                      <a:srgbClr val="182234"/>
                    </a:solidFill>
                  </a:tcPr>
                </a:tc>
                <a:tc>
                  <a:txBody>
                    <a:bodyPr/>
                    <a:lstStyle/>
                    <a:p>
                      <a:pPr algn="l">
                        <a:defRPr sz="1000">
                          <a:solidFill>
                            <a:srgbClr val="94A3B8"/>
                          </a:solidFill>
                          <a:latin typeface="Calibri"/>
                        </a:defRPr>
                      </a:pPr>
                      <a:r>
                        <a:t>SSO, MFA &amp; Account Security</a:t>
                      </a:r>
                    </a:p>
                  </a:txBody>
                  <a:tcPr anchor="ctr">
                    <a:solidFill>
                      <a:srgbClr val="182234"/>
                    </a:solidFill>
                  </a:tcPr>
                </a:tc>
                <a:tc>
                  <a:txBody>
                    <a:bodyPr/>
                    <a:lstStyle/>
                    <a:p>
                      <a:pPr algn="l">
                        <a:defRPr sz="1000">
                          <a:solidFill>
                            <a:srgbClr val="94A3B8"/>
                          </a:solidFill>
                          <a:latin typeface="Calibri"/>
                        </a:defRPr>
                      </a:pPr>
                      <a:r>
                        <a:t>Read &amp; Write</a:t>
                      </a:r>
                    </a:p>
                  </a:txBody>
                  <a:tcPr anchor="ctr">
                    <a:solidFill>
                      <a:srgbClr val="182234"/>
                    </a:solidFill>
                  </a:tcPr>
                </a:tc>
                <a:tc>
                  <a:txBody>
                    <a:bodyPr/>
                    <a:lstStyle/>
                    <a:p>
                      <a:pPr algn="l">
                        <a:defRPr sz="1000">
                          <a:solidFill>
                            <a:srgbClr val="94A3B8"/>
                          </a:solidFill>
                          <a:latin typeface="Calibri"/>
                        </a:defRPr>
                      </a:pPr>
                      <a:r>
                        <a:t>Checklist toggle, Tone Polish, Forwarding</a:t>
                      </a:r>
                    </a:p>
                  </a:txBody>
                  <a:tcPr anchor="ctr">
                    <a:solidFill>
                      <a:srgbClr val="182234"/>
                    </a:solidFill>
                  </a:tcPr>
                </a:tc>
              </a:tr>
              <a:tr h="352697">
                <a:tc>
                  <a:txBody>
                    <a:bodyPr/>
                    <a:lstStyle/>
                    <a:p>
                      <a:pPr algn="l">
                        <a:defRPr sz="1000">
                          <a:solidFill>
                            <a:srgbClr val="F8FAFC"/>
                          </a:solidFill>
                          <a:latin typeface="Calibri"/>
                        </a:defRPr>
                      </a:pPr>
                      <a:r>
                        <a:t>AGENT (API)</a:t>
                      </a:r>
                    </a:p>
                  </a:txBody>
                  <a:tcPr anchor="ctr">
                    <a:solidFill>
                      <a:srgbClr val="1E293B"/>
                    </a:solidFill>
                  </a:tcPr>
                </a:tc>
                <a:tc>
                  <a:txBody>
                    <a:bodyPr/>
                    <a:lstStyle/>
                    <a:p>
                      <a:pPr algn="l">
                        <a:defRPr sz="1000">
                          <a:solidFill>
                            <a:srgbClr val="94A3B8"/>
                          </a:solidFill>
                          <a:latin typeface="Calibri"/>
                        </a:defRPr>
                      </a:pPr>
                      <a:r>
                        <a:t>API Platform Team</a:t>
                      </a:r>
                    </a:p>
                  </a:txBody>
                  <a:tcPr anchor="ctr">
                    <a:solidFill>
                      <a:srgbClr val="1E293B"/>
                    </a:solidFill>
                  </a:tcPr>
                </a:tc>
                <a:tc>
                  <a:txBody>
                    <a:bodyPr/>
                    <a:lstStyle/>
                    <a:p>
                      <a:pPr algn="l">
                        <a:defRPr sz="1000">
                          <a:solidFill>
                            <a:srgbClr val="94A3B8"/>
                          </a:solidFill>
                          <a:latin typeface="Calibri"/>
                        </a:defRPr>
                      </a:pPr>
                      <a:r>
                        <a:t>Webhooks, SDKs &amp; Gateway errors</a:t>
                      </a:r>
                    </a:p>
                  </a:txBody>
                  <a:tcPr anchor="ctr">
                    <a:solidFill>
                      <a:srgbClr val="1E293B"/>
                    </a:solidFill>
                  </a:tcPr>
                </a:tc>
                <a:tc>
                  <a:txBody>
                    <a:bodyPr/>
                    <a:lstStyle/>
                    <a:p>
                      <a:pPr algn="l">
                        <a:defRPr sz="1000">
                          <a:solidFill>
                            <a:srgbClr val="94A3B8"/>
                          </a:solidFill>
                          <a:latin typeface="Calibri"/>
                        </a:defRPr>
                      </a:pPr>
                      <a:r>
                        <a:t>Read &amp; Write</a:t>
                      </a:r>
                    </a:p>
                  </a:txBody>
                  <a:tcPr anchor="ctr">
                    <a:solidFill>
                      <a:srgbClr val="1E293B"/>
                    </a:solidFill>
                  </a:tcPr>
                </a:tc>
                <a:tc>
                  <a:txBody>
                    <a:bodyPr/>
                    <a:lstStyle/>
                    <a:p>
                      <a:pPr algn="l">
                        <a:defRPr sz="1000">
                          <a:solidFill>
                            <a:srgbClr val="94A3B8"/>
                          </a:solidFill>
                          <a:latin typeface="Calibri"/>
                        </a:defRPr>
                      </a:pPr>
                      <a:r>
                        <a:t>Checklist toggle, Tone Polish, Forwarding</a:t>
                      </a:r>
                    </a:p>
                  </a:txBody>
                  <a:tcPr anchor="ctr">
                    <a:solidFill>
                      <a:srgbClr val="1E293B"/>
                    </a:solidFill>
                  </a:tcPr>
                </a:tc>
              </a:tr>
              <a:tr h="352698">
                <a:tc>
                  <a:txBody>
                    <a:bodyPr/>
                    <a:lstStyle/>
                    <a:p>
                      <a:pPr algn="l">
                        <a:defRPr sz="1000">
                          <a:solidFill>
                            <a:srgbClr val="F8FAFC"/>
                          </a:solidFill>
                          <a:latin typeface="Calibri"/>
                        </a:defRPr>
                      </a:pPr>
                      <a:r>
                        <a:t>ADMIN</a:t>
                      </a:r>
                    </a:p>
                  </a:txBody>
                  <a:tcPr anchor="ctr">
                    <a:solidFill>
                      <a:srgbClr val="182234"/>
                    </a:solidFill>
                  </a:tcPr>
                </a:tc>
                <a:tc>
                  <a:txBody>
                    <a:bodyPr/>
                    <a:lstStyle/>
                    <a:p>
                      <a:pPr algn="l">
                        <a:defRPr sz="1000">
                          <a:solidFill>
                            <a:srgbClr val="94A3B8"/>
                          </a:solidFill>
                          <a:latin typeface="Calibri"/>
                        </a:defRPr>
                      </a:pPr>
                      <a:r>
                        <a:t>IT Operations &amp; Admin</a:t>
                      </a:r>
                    </a:p>
                  </a:txBody>
                  <a:tcPr anchor="ctr">
                    <a:solidFill>
                      <a:srgbClr val="182234"/>
                    </a:solidFill>
                  </a:tcPr>
                </a:tc>
                <a:tc>
                  <a:txBody>
                    <a:bodyPr/>
                    <a:lstStyle/>
                    <a:p>
                      <a:pPr algn="l">
                        <a:defRPr sz="1000">
                          <a:solidFill>
                            <a:srgbClr val="94A3B8"/>
                          </a:solidFill>
                          <a:latin typeface="Calibri"/>
                        </a:defRPr>
                      </a:pPr>
                      <a:r>
                        <a:t>Global access (All 4 Departments)</a:t>
                      </a:r>
                    </a:p>
                  </a:txBody>
                  <a:tcPr anchor="ctr">
                    <a:solidFill>
                      <a:srgbClr val="182234"/>
                    </a:solidFill>
                  </a:tcPr>
                </a:tc>
                <a:tc>
                  <a:txBody>
                    <a:bodyPr/>
                    <a:lstStyle/>
                    <a:p>
                      <a:pPr algn="l">
                        <a:defRPr sz="1000">
                          <a:solidFill>
                            <a:srgbClr val="94A3B8"/>
                          </a:solidFill>
                          <a:latin typeface="Calibri"/>
                        </a:defRPr>
                      </a:pPr>
                      <a:r>
                        <a:t>Read &amp; Write</a:t>
                      </a:r>
                    </a:p>
                  </a:txBody>
                  <a:tcPr anchor="ctr">
                    <a:solidFill>
                      <a:srgbClr val="182234"/>
                    </a:solidFill>
                  </a:tcPr>
                </a:tc>
                <a:tc>
                  <a:txBody>
                    <a:bodyPr/>
                    <a:lstStyle/>
                    <a:p>
                      <a:pPr algn="l">
                        <a:defRPr sz="1000">
                          <a:solidFill>
                            <a:srgbClr val="94A3B8"/>
                          </a:solidFill>
                          <a:latin typeface="Calibri"/>
                        </a:defRPr>
                      </a:pPr>
                      <a:r>
                        <a:t>User role updates, Weekly insights, System logs</a:t>
                      </a:r>
                    </a:p>
                  </a:txBody>
                  <a:tcPr anchor="ctr">
                    <a:solidFill>
                      <a:srgbClr val="182234"/>
                    </a:solidFill>
                  </a:tcPr>
                </a:tc>
              </a:tr>
            </a:tbl>
          </a:graphicData>
        </a:graphic>
      </p:graphicFrame>
      <p:sp>
        <p:nvSpPr>
          <p:cNvPr id="11" name="Rounded Rectangle 10"/>
          <p:cNvSpPr/>
          <p:nvPr/>
        </p:nvSpPr>
        <p:spPr>
          <a:xfrm>
            <a:off x="731520" y="4389120"/>
            <a:ext cx="10728655"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572000"/>
            <a:ext cx="10271455" cy="320040"/>
          </a:xfrm>
          <a:prstGeom prst="rect">
            <a:avLst/>
          </a:prstGeom>
          <a:noFill/>
        </p:spPr>
        <p:txBody>
          <a:bodyPr wrap="square" lIns="0" tIns="0" rIns="0" bIns="0">
            <a:spAutoFit/>
          </a:bodyPr>
          <a:lstStyle/>
          <a:p>
            <a:pPr>
              <a:defRPr sz="1250" b="1">
                <a:solidFill>
                  <a:srgbClr val="F8FAFC"/>
                </a:solidFill>
                <a:latin typeface="Calibri"/>
              </a:defRPr>
            </a:pPr>
            <a:r>
              <a:t>1-Click Persona Testing Bar: Instant Client Demonstrations</a:t>
            </a:r>
          </a:p>
          <a:p>
            <a:pPr>
              <a:defRPr sz="950">
                <a:solidFill>
                  <a:srgbClr val="94A3B8"/>
                </a:solidFill>
                <a:latin typeface="Calibri"/>
              </a:defRPr>
            </a:pPr>
            <a:r>
              <a:t>SSAI-203 Zero-friction evaluation framework</a:t>
            </a:r>
          </a:p>
        </p:txBody>
      </p:sp>
      <p:sp>
        <p:nvSpPr>
          <p:cNvPr id="13" name="TextBox 12"/>
          <p:cNvSpPr txBox="1"/>
          <p:nvPr/>
        </p:nvSpPr>
        <p:spPr>
          <a:xfrm>
            <a:off x="914400" y="4937760"/>
            <a:ext cx="10332720" cy="1143000"/>
          </a:xfrm>
          <a:prstGeom prst="rect">
            <a:avLst/>
          </a:prstGeom>
          <a:noFill/>
        </p:spPr>
        <p:txBody>
          <a:bodyPr wrap="square" lIns="0" tIns="0" rIns="0" bIns="0">
            <a:spAutoFit/>
          </a:bodyPr>
          <a:lstStyle/>
          <a:p>
            <a:pPr>
              <a:spcBef>
                <a:spcPts val="400"/>
              </a:spcBef>
            </a:pPr>
            <a:r>
              <a:rPr sz="1050" b="1">
                <a:solidFill>
                  <a:srgbClr val="F8FAFC"/>
                </a:solidFill>
                <a:latin typeface="Calibri"/>
              </a:rPr>
              <a:t>•  Pre-Seeded Multi-Department Accounts: </a:t>
            </a:r>
            <a:r>
              <a:rPr sz="1050">
                <a:solidFill>
                  <a:srgbClr val="94A3B8"/>
                </a:solidFill>
                <a:latin typeface="Calibri"/>
              </a:rPr>
              <a:t>Includes Sarah Jenkins (Customer), Alex Rivera (Tech Lead), Elena Rostova (Billing Specialist), Marcus Brody (Security Lead), Liam Vance (API Architect), and Administrator.</a:t>
            </a:r>
          </a:p>
          <a:p>
            <a:pPr>
              <a:spcBef>
                <a:spcPts val="400"/>
              </a:spcBef>
            </a:pPr>
            <a:r>
              <a:rPr sz="1050" b="1">
                <a:solidFill>
                  <a:srgbClr val="F8FAFC"/>
                </a:solidFill>
                <a:latin typeface="Calibri"/>
              </a:rPr>
              <a:t>•  Universal Demo Credential: </a:t>
            </a:r>
            <a:r>
              <a:rPr sz="1050">
                <a:solidFill>
                  <a:srgbClr val="94A3B8"/>
                </a:solidFill>
                <a:latin typeface="Calibri"/>
              </a:rPr>
              <a:t>All demo accounts share the password 'Password123!', pre-populated in database seeds (001_seed_data.sql).</a:t>
            </a:r>
          </a:p>
          <a:p>
            <a:pPr>
              <a:spcBef>
                <a:spcPts val="400"/>
              </a:spcBef>
            </a:pPr>
            <a:r>
              <a:rPr sz="1050" b="1">
                <a:solidFill>
                  <a:srgbClr val="F8FAFC"/>
                </a:solidFill>
                <a:latin typeface="Calibri"/>
              </a:rPr>
              <a:t>•  Instant Role Switcher: </a:t>
            </a:r>
            <a:r>
              <a:rPr sz="1050">
                <a:solidFill>
                  <a:srgbClr val="94A3B8"/>
                </a:solidFill>
                <a:latin typeface="Calibri"/>
              </a:rPr>
              <a:t>Clicking any persona button on the login screen automatically logs in as that persona and re-renders the UI with that specific role's permissions and department queue, enabling seamless client walkthroughs.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CUSTOMER EXPERIENCE &amp; AI</a:t>
            </a:r>
          </a:p>
        </p:txBody>
      </p:sp>
      <p:sp>
        <p:nvSpPr>
          <p:cNvPr id="4" name="Rounded Rectangle 3"/>
          <p:cNvSpPr/>
          <p:nvPr/>
        </p:nvSpPr>
        <p:spPr>
          <a:xfrm>
            <a:off x="7315200" y="365760"/>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(Roll No. 23CO76)</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Conversational AI Concierge Widgets &amp; Duplicate Interception</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Transforming natural conversational input into formal enterprise ticket specifications.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13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5257800" cy="43891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800600" cy="320040"/>
          </a:xfrm>
          <a:prstGeom prst="rect">
            <a:avLst/>
          </a:prstGeom>
          <a:noFill/>
        </p:spPr>
        <p:txBody>
          <a:bodyPr wrap="square" lIns="0" tIns="0" rIns="0" bIns="0">
            <a:spAutoFit/>
          </a:bodyPr>
          <a:lstStyle/>
          <a:p>
            <a:pPr>
              <a:defRPr sz="1250" b="1">
                <a:solidFill>
                  <a:srgbClr val="F8FAFC"/>
                </a:solidFill>
                <a:latin typeface="Calibri"/>
              </a:defRPr>
            </a:pPr>
            <a:r>
              <a:t>The Conversational AI Concierge Widget</a:t>
            </a:r>
          </a:p>
          <a:p>
            <a:pPr>
              <a:defRPr sz="950">
                <a:solidFill>
                  <a:srgbClr val="94A3B8"/>
                </a:solidFill>
                <a:latin typeface="Calibri"/>
              </a:defRPr>
            </a:pPr>
            <a:r>
              <a:t>SSAI-406 Natural language ticket crafter</a:t>
            </a:r>
          </a:p>
        </p:txBody>
      </p:sp>
      <p:sp>
        <p:nvSpPr>
          <p:cNvPr id="12" name="Rounded Rectangle 11"/>
          <p:cNvSpPr/>
          <p:nvPr/>
        </p:nvSpPr>
        <p:spPr>
          <a:xfrm>
            <a:off x="822959" y="2286000"/>
            <a:ext cx="5074920" cy="2788920"/>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_concierge_live.png"/>
          <p:cNvPicPr>
            <a:picLocks noChangeAspect="1"/>
          </p:cNvPicPr>
          <p:nvPr/>
        </p:nvPicPr>
        <p:blipFill>
          <a:blip r:embed="rId2"/>
          <a:stretch>
            <a:fillRect/>
          </a:stretch>
        </p:blipFill>
        <p:spPr>
          <a:xfrm>
            <a:off x="868680" y="2331720"/>
            <a:ext cx="4983480" cy="2468880"/>
          </a:xfrm>
          <a:prstGeom prst="rect">
            <a:avLst/>
          </a:prstGeom>
        </p:spPr>
      </p:pic>
      <p:sp>
        <p:nvSpPr>
          <p:cNvPr id="14" name="TextBox 13"/>
          <p:cNvSpPr txBox="1"/>
          <p:nvPr/>
        </p:nvSpPr>
        <p:spPr>
          <a:xfrm>
            <a:off x="868680" y="4818888"/>
            <a:ext cx="4983480" cy="274320"/>
          </a:xfrm>
          <a:prstGeom prst="rect">
            <a:avLst/>
          </a:prstGeom>
          <a:noFill/>
        </p:spPr>
        <p:txBody>
          <a:bodyPr wrap="square" lIns="0" tIns="0" rIns="0" bIns="0">
            <a:spAutoFit/>
          </a:bodyPr>
          <a:lstStyle/>
          <a:p>
            <a:pPr algn="ctr">
              <a:defRPr sz="900">
                <a:solidFill>
                  <a:srgbClr val="38BDF8"/>
                </a:solidFill>
                <a:latin typeface="Calibri"/>
              </a:defRPr>
            </a:pPr>
            <a:r>
              <a:t>Live Production: Conversational AI Concierge Widget actively answering customer billing prompt</a:t>
            </a:r>
          </a:p>
        </p:txBody>
      </p:sp>
      <p:sp>
        <p:nvSpPr>
          <p:cNvPr id="15" name="TextBox 14"/>
          <p:cNvSpPr txBox="1"/>
          <p:nvPr/>
        </p:nvSpPr>
        <p:spPr>
          <a:xfrm>
            <a:off x="914400" y="5029200"/>
            <a:ext cx="4892040" cy="1005840"/>
          </a:xfrm>
          <a:prstGeom prst="rect">
            <a:avLst/>
          </a:prstGeom>
          <a:noFill/>
        </p:spPr>
        <p:txBody>
          <a:bodyPr wrap="square" lIns="0" tIns="0" rIns="0" bIns="0">
            <a:spAutoFit/>
          </a:bodyPr>
          <a:lstStyle/>
          <a:p>
            <a:pPr>
              <a:spcBef>
                <a:spcPts val="200"/>
              </a:spcBef>
            </a:pPr>
            <a:r>
              <a:rPr sz="950" b="1">
                <a:solidFill>
                  <a:srgbClr val="F8FAFC"/>
                </a:solidFill>
                <a:latin typeface="Calibri"/>
              </a:rPr>
              <a:t>•  Conversational Intake: </a:t>
            </a:r>
            <a:r>
              <a:rPr sz="950">
                <a:solidFill>
                  <a:srgbClr val="94A3B8"/>
                </a:solidFill>
                <a:latin typeface="Calibri"/>
              </a:rPr>
              <a:t>Users describe issues casually; AI conducts empathetic clarification dialogue.</a:t>
            </a:r>
          </a:p>
          <a:p>
            <a:pPr>
              <a:spcBef>
                <a:spcPts val="200"/>
              </a:spcBef>
            </a:pPr>
            <a:r>
              <a:rPr sz="950" b="1">
                <a:solidFill>
                  <a:srgbClr val="F8FAFC"/>
                </a:solidFill>
                <a:latin typeface="Calibri"/>
              </a:rPr>
              <a:t>•  1-Click Ticket Dispatch: </a:t>
            </a:r>
            <a:r>
              <a:rPr sz="950">
                <a:solidFill>
                  <a:srgbClr val="94A3B8"/>
                </a:solidFill>
                <a:latin typeface="Calibri"/>
              </a:rPr>
              <a:t>Compiles formal specs (Executive Summary, Symptoms, Impact) into atomic DB queue.</a:t>
            </a:r>
          </a:p>
        </p:txBody>
      </p:sp>
      <p:sp>
        <p:nvSpPr>
          <p:cNvPr id="16" name="Rounded Rectangle 15"/>
          <p:cNvSpPr/>
          <p:nvPr/>
        </p:nvSpPr>
        <p:spPr>
          <a:xfrm>
            <a:off x="6172200" y="1737360"/>
            <a:ext cx="5257800" cy="4389120"/>
          </a:xfrm>
          <a:prstGeom prst="roundRect">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20240"/>
            <a:ext cx="4800600" cy="320040"/>
          </a:xfrm>
          <a:prstGeom prst="rect">
            <a:avLst/>
          </a:prstGeom>
          <a:noFill/>
        </p:spPr>
        <p:txBody>
          <a:bodyPr wrap="square" lIns="0" tIns="0" rIns="0" bIns="0">
            <a:spAutoFit/>
          </a:bodyPr>
          <a:lstStyle/>
          <a:p>
            <a:pPr>
              <a:defRPr sz="1250" b="1">
                <a:solidFill>
                  <a:srgbClr val="F8FAFC"/>
                </a:solidFill>
                <a:latin typeface="Calibri"/>
              </a:defRPr>
            </a:pPr>
            <a:r>
              <a:t>Duplicate Ticket Interception (SSAI-409)</a:t>
            </a:r>
          </a:p>
          <a:p>
            <a:pPr>
              <a:defRPr sz="950">
                <a:solidFill>
                  <a:srgbClr val="94A3B8"/>
                </a:solidFill>
                <a:latin typeface="Calibri"/>
              </a:defRPr>
            </a:pPr>
            <a:r>
              <a:t>HTTP 409 DUPLICATE_RESOLVED_TICKET Deflection</a:t>
            </a:r>
          </a:p>
        </p:txBody>
      </p:sp>
      <p:sp>
        <p:nvSpPr>
          <p:cNvPr id="18" name="Rounded Rectangle 17"/>
          <p:cNvSpPr/>
          <p:nvPr/>
        </p:nvSpPr>
        <p:spPr>
          <a:xfrm>
            <a:off x="6263640" y="2286000"/>
            <a:ext cx="5074920" cy="2788920"/>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illing_ticket_live.png"/>
          <p:cNvPicPr>
            <a:picLocks noChangeAspect="1"/>
          </p:cNvPicPr>
          <p:nvPr/>
        </p:nvPicPr>
        <p:blipFill>
          <a:blip r:embed="rId3"/>
          <a:stretch>
            <a:fillRect/>
          </a:stretch>
        </p:blipFill>
        <p:spPr>
          <a:xfrm>
            <a:off x="6309360" y="2331720"/>
            <a:ext cx="4983480" cy="2468880"/>
          </a:xfrm>
          <a:prstGeom prst="rect">
            <a:avLst/>
          </a:prstGeom>
        </p:spPr>
      </p:pic>
      <p:sp>
        <p:nvSpPr>
          <p:cNvPr id="20" name="TextBox 19"/>
          <p:cNvSpPr txBox="1"/>
          <p:nvPr/>
        </p:nvSpPr>
        <p:spPr>
          <a:xfrm>
            <a:off x="6309360" y="4818888"/>
            <a:ext cx="4983480" cy="274320"/>
          </a:xfrm>
          <a:prstGeom prst="rect">
            <a:avLst/>
          </a:prstGeom>
          <a:noFill/>
        </p:spPr>
        <p:txBody>
          <a:bodyPr wrap="square" lIns="0" tIns="0" rIns="0" bIns="0">
            <a:spAutoFit/>
          </a:bodyPr>
          <a:lstStyle/>
          <a:p>
            <a:pPr algn="ctr">
              <a:defRPr sz="900">
                <a:solidFill>
                  <a:srgbClr val="38BDF8"/>
                </a:solidFill>
                <a:latin typeface="Calibri"/>
              </a:defRPr>
            </a:pPr>
            <a:r>
              <a:t>Live Production: Verified Resolution Notes presented upon duplicate ticket interception</a:t>
            </a:r>
          </a:p>
        </p:txBody>
      </p:sp>
      <p:sp>
        <p:nvSpPr>
          <p:cNvPr id="21" name="TextBox 20"/>
          <p:cNvSpPr txBox="1"/>
          <p:nvPr/>
        </p:nvSpPr>
        <p:spPr>
          <a:xfrm>
            <a:off x="6355080" y="5029200"/>
            <a:ext cx="4892040" cy="1005840"/>
          </a:xfrm>
          <a:prstGeom prst="rect">
            <a:avLst/>
          </a:prstGeom>
          <a:noFill/>
        </p:spPr>
        <p:txBody>
          <a:bodyPr wrap="square" lIns="0" tIns="0" rIns="0" bIns="0">
            <a:spAutoFit/>
          </a:bodyPr>
          <a:lstStyle/>
          <a:p>
            <a:pPr>
              <a:spcBef>
                <a:spcPts val="200"/>
              </a:spcBef>
            </a:pPr>
            <a:r>
              <a:rPr sz="950" b="1">
                <a:solidFill>
                  <a:srgbClr val="F8FAFC"/>
                </a:solidFill>
                <a:latin typeface="Calibri"/>
              </a:rPr>
              <a:t>•  Proactive Past Resolution Match: </a:t>
            </a:r>
            <a:r>
              <a:rPr sz="950">
                <a:solidFill>
                  <a:srgbClr val="94A3B8"/>
                </a:solidFill>
                <a:latin typeface="Calibri"/>
              </a:rPr>
              <a:t>Returns HTTP 409 with verified past resolution steps before creating duplicates.</a:t>
            </a:r>
          </a:p>
          <a:p>
            <a:pPr>
              <a:spcBef>
                <a:spcPts val="200"/>
              </a:spcBef>
            </a:pPr>
            <a:r>
              <a:rPr sz="950" b="1">
                <a:solidFill>
                  <a:srgbClr val="F8FAFC"/>
                </a:solidFill>
                <a:latin typeface="Calibri"/>
              </a:rPr>
              <a:t>•  Same-User Thread Linking: </a:t>
            </a:r>
            <a:r>
              <a:rPr sz="950">
                <a:solidFill>
                  <a:srgbClr val="94A3B8"/>
                </a:solidFill>
                <a:latin typeface="Calibri"/>
              </a:rPr>
              <a:t>Follow-ups automatically attach to existing active threads (linked_ticket_id).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OPERATIONS, QA &amp; GOVERNANCE</a:t>
            </a:r>
          </a:p>
        </p:txBody>
      </p:sp>
      <p:sp>
        <p:nvSpPr>
          <p:cNvPr id="4" name="Rounded Rectangle 3"/>
          <p:cNvSpPr/>
          <p:nvPr/>
        </p:nvSpPr>
        <p:spPr>
          <a:xfrm>
            <a:off x="7315200" y="365760"/>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Automated QA Suites, Technical Governance &amp; SLA Dashboard</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Admin command center powered by comprehensive Jest &amp; Pytest test automation.</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14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097280"/>
          </a:xfrm>
          <a:prstGeom prst="rect">
            <a:avLst/>
          </a:prstGeom>
          <a:noFill/>
        </p:spPr>
        <p:txBody>
          <a:bodyPr wrap="square" lIns="0" tIns="0" rIns="0" bIns="0">
            <a:spAutoFit/>
          </a:bodyPr>
          <a:lstStyle/>
          <a:p>
            <a:pPr>
              <a:defRPr sz="3200" b="1">
                <a:solidFill>
                  <a:srgbClr val="10B981"/>
                </a:solidFill>
                <a:latin typeface="Calibri"/>
              </a:defRPr>
            </a:pPr>
            <a:r>
              <a:t>100%</a:t>
            </a:r>
          </a:p>
          <a:p>
            <a:pPr>
              <a:spcBef>
                <a:spcPts val="400"/>
              </a:spcBef>
              <a:defRPr sz="1200" b="1">
                <a:solidFill>
                  <a:srgbClr val="F8FAFC"/>
                </a:solidFill>
                <a:latin typeface="Calibri"/>
              </a:defRPr>
            </a:pPr>
            <a:r>
              <a:t>Test Pass Rate</a:t>
            </a:r>
          </a:p>
          <a:p>
            <a:pPr>
              <a:spcBef>
                <a:spcPts val="300"/>
              </a:spcBef>
              <a:defRPr sz="950">
                <a:solidFill>
                  <a:srgbClr val="94A3B8"/>
                </a:solidFill>
                <a:latin typeface="Calibri"/>
              </a:defRPr>
            </a:pPr>
            <a:r>
              <a:t>89/89 tests passing across Jest and Pytest automated suites</a:t>
            </a:r>
          </a:p>
        </p:txBody>
      </p:sp>
      <p:sp>
        <p:nvSpPr>
          <p:cNvPr id="12" name="Rounded Rectangle 11"/>
          <p:cNvSpPr/>
          <p:nvPr/>
        </p:nvSpPr>
        <p:spPr>
          <a:xfrm>
            <a:off x="3429000" y="1737360"/>
            <a:ext cx="25146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097280"/>
          </a:xfrm>
          <a:prstGeom prst="rect">
            <a:avLst/>
          </a:prstGeom>
          <a:noFill/>
        </p:spPr>
        <p:txBody>
          <a:bodyPr wrap="square" lIns="0" tIns="0" rIns="0" bIns="0">
            <a:spAutoFit/>
          </a:bodyPr>
          <a:lstStyle/>
          <a:p>
            <a:pPr>
              <a:defRPr sz="3200" b="1">
                <a:solidFill>
                  <a:srgbClr val="38BDF8"/>
                </a:solidFill>
                <a:latin typeface="Calibri"/>
              </a:defRPr>
            </a:pPr>
            <a:r>
              <a:t>98.4%</a:t>
            </a:r>
          </a:p>
          <a:p>
            <a:pPr>
              <a:spcBef>
                <a:spcPts val="400"/>
              </a:spcBef>
              <a:defRPr sz="1200" b="1">
                <a:solidFill>
                  <a:srgbClr val="F8FAFC"/>
                </a:solidFill>
                <a:latin typeface="Calibri"/>
              </a:defRPr>
            </a:pPr>
            <a:r>
              <a:t>SLA Compliance Rate</a:t>
            </a:r>
          </a:p>
          <a:p>
            <a:pPr>
              <a:spcBef>
                <a:spcPts val="300"/>
              </a:spcBef>
              <a:defRPr sz="950">
                <a:solidFill>
                  <a:srgbClr val="94A3B8"/>
                </a:solidFill>
                <a:latin typeface="Calibri"/>
              </a:defRPr>
            </a:pPr>
            <a:r>
              <a:t>Zero unresolved breaches across 4 core department queues</a:t>
            </a:r>
          </a:p>
        </p:txBody>
      </p:sp>
      <p:sp>
        <p:nvSpPr>
          <p:cNvPr id="14" name="Rounded Rectangle 13"/>
          <p:cNvSpPr/>
          <p:nvPr/>
        </p:nvSpPr>
        <p:spPr>
          <a:xfrm>
            <a:off x="6126480" y="1737360"/>
            <a:ext cx="25146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097280"/>
          </a:xfrm>
          <a:prstGeom prst="rect">
            <a:avLst/>
          </a:prstGeom>
          <a:noFill/>
        </p:spPr>
        <p:txBody>
          <a:bodyPr wrap="square" lIns="0" tIns="0" rIns="0" bIns="0">
            <a:spAutoFit/>
          </a:bodyPr>
          <a:lstStyle/>
          <a:p>
            <a:pPr>
              <a:defRPr sz="3200" b="1">
                <a:solidFill>
                  <a:srgbClr val="F59E0B"/>
                </a:solidFill>
                <a:latin typeface="Calibri"/>
              </a:defRPr>
            </a:pPr>
            <a:r>
              <a:t>13 Docs</a:t>
            </a:r>
          </a:p>
          <a:p>
            <a:pPr>
              <a:spcBef>
                <a:spcPts val="400"/>
              </a:spcBef>
              <a:defRPr sz="1200" b="1">
                <a:solidFill>
                  <a:srgbClr val="F8FAFC"/>
                </a:solidFill>
                <a:latin typeface="Calibri"/>
              </a:defRPr>
            </a:pPr>
            <a:r>
              <a:t>Engineering Modules</a:t>
            </a:r>
          </a:p>
          <a:p>
            <a:pPr>
              <a:spcBef>
                <a:spcPts val="300"/>
              </a:spcBef>
              <a:defRPr sz="950">
                <a:solidFill>
                  <a:srgbClr val="94A3B8"/>
                </a:solidFill>
                <a:latin typeface="Calibri"/>
              </a:defRPr>
            </a:pPr>
            <a:r>
              <a:t>Complete technical governance specifications and architecture guides</a:t>
            </a:r>
          </a:p>
        </p:txBody>
      </p:sp>
      <p:sp>
        <p:nvSpPr>
          <p:cNvPr id="16" name="Rounded Rectangle 15"/>
          <p:cNvSpPr/>
          <p:nvPr/>
        </p:nvSpPr>
        <p:spPr>
          <a:xfrm>
            <a:off x="8823960" y="1737360"/>
            <a:ext cx="251460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097280"/>
          </a:xfrm>
          <a:prstGeom prst="rect">
            <a:avLst/>
          </a:prstGeom>
          <a:noFill/>
        </p:spPr>
        <p:txBody>
          <a:bodyPr wrap="square" lIns="0" tIns="0" rIns="0" bIns="0">
            <a:spAutoFit/>
          </a:bodyPr>
          <a:lstStyle/>
          <a:p>
            <a:pPr>
              <a:defRPr sz="3200" b="1">
                <a:solidFill>
                  <a:srgbClr val="A855F7"/>
                </a:solidFill>
                <a:latin typeface="Calibri"/>
              </a:defRPr>
            </a:pPr>
            <a:r>
              <a:t>4.8 / 5.0</a:t>
            </a:r>
          </a:p>
          <a:p>
            <a:pPr>
              <a:spcBef>
                <a:spcPts val="400"/>
              </a:spcBef>
              <a:defRPr sz="1200" b="1">
                <a:solidFill>
                  <a:srgbClr val="F8FAFC"/>
                </a:solidFill>
                <a:latin typeface="Calibri"/>
              </a:defRPr>
            </a:pPr>
            <a:r>
              <a:t>Customer CSAT Score</a:t>
            </a:r>
          </a:p>
          <a:p>
            <a:pPr>
              <a:spcBef>
                <a:spcPts val="300"/>
              </a:spcBef>
              <a:defRPr sz="950">
                <a:solidFill>
                  <a:srgbClr val="94A3B8"/>
                </a:solidFill>
                <a:latin typeface="Calibri"/>
              </a:defRPr>
            </a:pPr>
            <a:r>
              <a:t>Elevated by empathy-checked responses and rapid first replies</a:t>
            </a:r>
          </a:p>
        </p:txBody>
      </p:sp>
      <p:sp>
        <p:nvSpPr>
          <p:cNvPr id="18" name="Rounded Rectangle 17"/>
          <p:cNvSpPr/>
          <p:nvPr/>
        </p:nvSpPr>
        <p:spPr>
          <a:xfrm>
            <a:off x="731520" y="3337560"/>
            <a:ext cx="457200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520440"/>
            <a:ext cx="4114800" cy="320040"/>
          </a:xfrm>
          <a:prstGeom prst="rect">
            <a:avLst/>
          </a:prstGeom>
          <a:noFill/>
        </p:spPr>
        <p:txBody>
          <a:bodyPr wrap="square" lIns="0" tIns="0" rIns="0" bIns="0">
            <a:spAutoFit/>
          </a:bodyPr>
          <a:lstStyle/>
          <a:p>
            <a:pPr>
              <a:defRPr sz="1250" b="1">
                <a:solidFill>
                  <a:srgbClr val="F8FAFC"/>
                </a:solidFill>
                <a:latin typeface="Calibri"/>
              </a:defRPr>
            </a:pPr>
            <a:r>
              <a:t>Automated QA Suites &amp; Test Pyramid</a:t>
            </a:r>
          </a:p>
          <a:p>
            <a:pPr>
              <a:defRPr sz="950">
                <a:solidFill>
                  <a:srgbClr val="94A3B8"/>
                </a:solidFill>
                <a:latin typeface="Calibri"/>
              </a:defRPr>
            </a:pPr>
            <a:r>
              <a:t>Multi-tier quality assurance</a:t>
            </a:r>
          </a:p>
        </p:txBody>
      </p:sp>
      <p:sp>
        <p:nvSpPr>
          <p:cNvPr id="20" name="TextBox 19"/>
          <p:cNvSpPr txBox="1"/>
          <p:nvPr/>
        </p:nvSpPr>
        <p:spPr>
          <a:xfrm>
            <a:off x="914400" y="3886200"/>
            <a:ext cx="4206240" cy="2194560"/>
          </a:xfrm>
          <a:prstGeom prst="rect">
            <a:avLst/>
          </a:prstGeom>
          <a:noFill/>
        </p:spPr>
        <p:txBody>
          <a:bodyPr wrap="square" lIns="0" tIns="0" rIns="0" bIns="0">
            <a:spAutoFit/>
          </a:bodyPr>
          <a:lstStyle/>
          <a:p>
            <a:pPr>
              <a:spcBef>
                <a:spcPts val="400"/>
              </a:spcBef>
            </a:pPr>
            <a:r>
              <a:rPr sz="1000" b="1">
                <a:solidFill>
                  <a:srgbClr val="F8FAFC"/>
                </a:solidFill>
                <a:latin typeface="Calibri"/>
              </a:rPr>
              <a:t>•  Jest Backend Suites (5/5 Passing): </a:t>
            </a:r>
            <a:r>
              <a:rPr sz="1000">
                <a:solidFill>
                  <a:srgbClr val="94A3B8"/>
                </a:solidFill>
                <a:latin typeface="Calibri"/>
              </a:rPr>
              <a:t>auth.test.js, ticket.test.js, api.test.js, ticket-concurrency.test.js, and ticket-transaction.test.js.</a:t>
            </a:r>
          </a:p>
          <a:p>
            <a:pPr>
              <a:spcBef>
                <a:spcPts val="400"/>
              </a:spcBef>
            </a:pPr>
            <a:r>
              <a:rPr sz="1000" b="1">
                <a:solidFill>
                  <a:srgbClr val="F8FAFC"/>
                </a:solidFill>
                <a:latin typeface="Calibri"/>
              </a:rPr>
              <a:t>•  Pytest AI Microservice Suites: </a:t>
            </a:r>
            <a:r>
              <a:rPr sz="1000">
                <a:solidFill>
                  <a:srgbClr val="94A3B8"/>
                </a:solidFill>
                <a:latin typeface="Calibri"/>
              </a:rPr>
              <a:t>test_ai_features.py and test_triage.py verifying dataset loading, quality audits, model caching, and deterministic fallbacks.</a:t>
            </a:r>
          </a:p>
          <a:p>
            <a:pPr>
              <a:spcBef>
                <a:spcPts val="400"/>
              </a:spcBef>
            </a:pPr>
            <a:r>
              <a:rPr sz="1000" b="1">
                <a:solidFill>
                  <a:srgbClr val="F8FAFC"/>
                </a:solidFill>
                <a:latin typeface="Calibri"/>
              </a:rPr>
              <a:t>•  13 Technical Governance Guides: </a:t>
            </a:r>
            <a:r>
              <a:rPr sz="1000">
                <a:solidFill>
                  <a:srgbClr val="94A3B8"/>
                </a:solidFill>
                <a:latin typeface="Calibri"/>
              </a:rPr>
              <a:t>Authored comprehensive specifications covering PRD, SRS, Agile Sprints, Testing, and Deployment standards.</a:t>
            </a:r>
          </a:p>
        </p:txBody>
      </p:sp>
      <p:sp>
        <p:nvSpPr>
          <p:cNvPr id="21" name="Rounded Rectangle 20"/>
          <p:cNvSpPr/>
          <p:nvPr/>
        </p:nvSpPr>
        <p:spPr>
          <a:xfrm>
            <a:off x="5486400" y="3337560"/>
            <a:ext cx="5973775" cy="29260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5000" y="3520440"/>
            <a:ext cx="5516575" cy="320040"/>
          </a:xfrm>
          <a:prstGeom prst="rect">
            <a:avLst/>
          </a:prstGeom>
          <a:noFill/>
        </p:spPr>
        <p:txBody>
          <a:bodyPr wrap="square" lIns="0" tIns="0" rIns="0" bIns="0">
            <a:spAutoFit/>
          </a:bodyPr>
          <a:lstStyle/>
          <a:p>
            <a:pPr>
              <a:defRPr sz="1250" b="1">
                <a:solidFill>
                  <a:srgbClr val="F8FAFC"/>
                </a:solidFill>
                <a:latin typeface="Calibri"/>
              </a:defRPr>
            </a:pPr>
            <a:r>
              <a:t>Executive Operations Dashboard (Live Production)</a:t>
            </a:r>
          </a:p>
          <a:p>
            <a:pPr>
              <a:defRPr sz="950">
                <a:solidFill>
                  <a:srgbClr val="94A3B8"/>
                </a:solidFill>
                <a:latin typeface="Calibri"/>
              </a:defRPr>
            </a:pPr>
            <a:r>
              <a:t>Real-time queue health &amp; SLA analytics</a:t>
            </a:r>
          </a:p>
        </p:txBody>
      </p:sp>
      <p:sp>
        <p:nvSpPr>
          <p:cNvPr id="23" name="Rounded Rectangle 22"/>
          <p:cNvSpPr/>
          <p:nvPr/>
        </p:nvSpPr>
        <p:spPr>
          <a:xfrm>
            <a:off x="5577840" y="3794760"/>
            <a:ext cx="5760720" cy="2606040"/>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dashboard_live.png"/>
          <p:cNvPicPr>
            <a:picLocks noChangeAspect="1"/>
          </p:cNvPicPr>
          <p:nvPr/>
        </p:nvPicPr>
        <p:blipFill>
          <a:blip r:embed="rId2"/>
          <a:stretch>
            <a:fillRect/>
          </a:stretch>
        </p:blipFill>
        <p:spPr>
          <a:xfrm>
            <a:off x="5623560" y="3840480"/>
            <a:ext cx="5669280" cy="2286000"/>
          </a:xfrm>
          <a:prstGeom prst="rect">
            <a:avLst/>
          </a:prstGeom>
        </p:spPr>
      </p:pic>
      <p:sp>
        <p:nvSpPr>
          <p:cNvPr id="25" name="TextBox 24"/>
          <p:cNvSpPr txBox="1"/>
          <p:nvPr/>
        </p:nvSpPr>
        <p:spPr>
          <a:xfrm>
            <a:off x="5623560" y="6144768"/>
            <a:ext cx="5669280" cy="274320"/>
          </a:xfrm>
          <a:prstGeom prst="rect">
            <a:avLst/>
          </a:prstGeom>
          <a:noFill/>
        </p:spPr>
        <p:txBody>
          <a:bodyPr wrap="square" lIns="0" tIns="0" rIns="0" bIns="0">
            <a:spAutoFit/>
          </a:bodyPr>
          <a:lstStyle/>
          <a:p>
            <a:pPr algn="ctr">
              <a:defRPr sz="900">
                <a:solidFill>
                  <a:srgbClr val="38BDF8"/>
                </a:solidFill>
                <a:latin typeface="Calibri"/>
              </a:defRPr>
            </a:pPr>
            <a:r>
              <a:t>Live Production: Executive Operations Dashboard on Render (DashboardPage.jsx)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TECHNICAL DEEP DIVE</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&amp; Yash Sanikop  |  Technical Transition</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Part 2: Backend Core, PostgreSQL, AI Microservice &amp; Cloud Ops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Presented by Shrujan Mitbavkar (Backend &amp; DB Lead) &amp; Yash Sanikop (Frontend &amp; AI Lead)</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15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828800"/>
            <a:ext cx="5257800" cy="420624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11680"/>
            <a:ext cx="4800600" cy="320040"/>
          </a:xfrm>
          <a:prstGeom prst="rect">
            <a:avLst/>
          </a:prstGeom>
          <a:noFill/>
        </p:spPr>
        <p:txBody>
          <a:bodyPr wrap="square" lIns="0" tIns="0" rIns="0" bIns="0">
            <a:spAutoFit/>
          </a:bodyPr>
          <a:lstStyle/>
          <a:p>
            <a:pPr>
              <a:defRPr sz="1250" b="1">
                <a:solidFill>
                  <a:srgbClr val="F8FAFC"/>
                </a:solidFill>
                <a:latin typeface="Calibri"/>
              </a:defRPr>
            </a:pPr>
            <a:r>
              <a:t>Shrujan Mitbavkar — Backend &amp; DB Lead</a:t>
            </a:r>
          </a:p>
          <a:p>
            <a:pPr>
              <a:defRPr sz="950">
                <a:solidFill>
                  <a:srgbClr val="94A3B8"/>
                </a:solidFill>
                <a:latin typeface="Calibri"/>
              </a:defRPr>
            </a:pPr>
            <a:r>
              <a:t>Express REST Controllers, PostgreSQL &amp; Transactions</a:t>
            </a:r>
          </a:p>
        </p:txBody>
      </p:sp>
      <p:sp>
        <p:nvSpPr>
          <p:cNvPr id="12" name="TextBox 11"/>
          <p:cNvSpPr txBox="1"/>
          <p:nvPr/>
        </p:nvSpPr>
        <p:spPr>
          <a:xfrm>
            <a:off x="1005840" y="2560320"/>
            <a:ext cx="4709160" cy="3200400"/>
          </a:xfrm>
          <a:prstGeom prst="rect">
            <a:avLst/>
          </a:prstGeom>
          <a:noFill/>
        </p:spPr>
        <p:txBody>
          <a:bodyPr wrap="square" lIns="0" tIns="0" rIns="0" bIns="0">
            <a:spAutoFit/>
          </a:bodyPr>
          <a:lstStyle/>
          <a:p>
            <a:pPr>
              <a:spcBef>
                <a:spcPts val="800"/>
              </a:spcBef>
            </a:pPr>
            <a:r>
              <a:rPr sz="1050" b="1">
                <a:solidFill>
                  <a:srgbClr val="F8FAFC"/>
                </a:solidFill>
                <a:latin typeface="Calibri"/>
              </a:rPr>
              <a:t>•  Express REST Controllers: </a:t>
            </a:r>
            <a:r>
              <a:rPr sz="1050">
                <a:solidFill>
                  <a:srgbClr val="94A3B8"/>
                </a:solidFill>
                <a:latin typeface="Calibri"/>
              </a:rPr>
              <a:t>High-throughput API controllers managing ticket lifecycle, pagination, and multi-criteria filters.</a:t>
            </a:r>
          </a:p>
          <a:p>
            <a:pPr>
              <a:spcBef>
                <a:spcPts val="800"/>
              </a:spcBef>
            </a:pPr>
            <a:r>
              <a:rPr sz="1050" b="1">
                <a:solidFill>
                  <a:srgbClr val="F8FAFC"/>
                </a:solidFill>
                <a:latin typeface="Calibri"/>
              </a:rPr>
              <a:t>•  PostgreSQL Relational Schema: </a:t>
            </a:r>
            <a:r>
              <a:rPr sz="1050">
                <a:solidFill>
                  <a:srgbClr val="94A3B8"/>
                </a:solidFill>
                <a:latin typeface="Calibri"/>
              </a:rPr>
              <a:t>Third Normal Form (3NF) design across 6 normalized entities with compound B-tree performance indexing.</a:t>
            </a:r>
          </a:p>
          <a:p>
            <a:pPr>
              <a:spcBef>
                <a:spcPts val="800"/>
              </a:spcBef>
            </a:pPr>
            <a:r>
              <a:rPr sz="1050" b="1">
                <a:solidFill>
                  <a:srgbClr val="F8FAFC"/>
                </a:solidFill>
                <a:latin typeface="Calibri"/>
              </a:rPr>
              <a:t>•  Atomic Transactions (SCRUM-112): </a:t>
            </a:r>
            <a:r>
              <a:rPr sz="1050">
                <a:solidFill>
                  <a:srgbClr val="94A3B8"/>
                </a:solidFill>
                <a:latin typeface="Calibri"/>
              </a:rPr>
              <a:t>Guaranteed all-or-nothing rollback on ticket and initial message creation.</a:t>
            </a:r>
          </a:p>
          <a:p>
            <a:pPr>
              <a:spcBef>
                <a:spcPts val="800"/>
              </a:spcBef>
            </a:pPr>
            <a:r>
              <a:rPr sz="1050" b="1">
                <a:solidFill>
                  <a:srgbClr val="F8FAFC"/>
                </a:solidFill>
                <a:latin typeface="Calibri"/>
              </a:rPr>
              <a:t>•  Status State Machine (SCRUM-111): </a:t>
            </a:r>
            <a:r>
              <a:rPr sz="1050">
                <a:solidFill>
                  <a:srgbClr val="94A3B8"/>
                </a:solidFill>
                <a:latin typeface="Calibri"/>
              </a:rPr>
              <a:t>Strict lifecycle progression enforcing valid progression and rejecting illegal skips.</a:t>
            </a:r>
          </a:p>
          <a:p>
            <a:pPr>
              <a:spcBef>
                <a:spcPts val="800"/>
              </a:spcBef>
            </a:pPr>
            <a:r>
              <a:rPr sz="1050" b="1">
                <a:solidFill>
                  <a:srgbClr val="F8FAFC"/>
                </a:solidFill>
                <a:latin typeface="Calibri"/>
              </a:rPr>
              <a:t>•  Supabase Cloud Connection Pooling: </a:t>
            </a:r>
            <a:r>
              <a:rPr sz="1050">
                <a:solidFill>
                  <a:srgbClr val="94A3B8"/>
                </a:solidFill>
                <a:latin typeface="Calibri"/>
              </a:rPr>
              <a:t>Managed PgBouncer pool (max 20 clients) with SSL encryption and &lt; 50ms query execution.</a:t>
            </a:r>
          </a:p>
        </p:txBody>
      </p:sp>
      <p:sp>
        <p:nvSpPr>
          <p:cNvPr id="13" name="Rounded Rectangle 12"/>
          <p:cNvSpPr/>
          <p:nvPr/>
        </p:nvSpPr>
        <p:spPr>
          <a:xfrm>
            <a:off x="6172200" y="1828800"/>
            <a:ext cx="5257800" cy="420624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011680"/>
            <a:ext cx="4800600" cy="320040"/>
          </a:xfrm>
          <a:prstGeom prst="rect">
            <a:avLst/>
          </a:prstGeom>
          <a:noFill/>
        </p:spPr>
        <p:txBody>
          <a:bodyPr wrap="square" lIns="0" tIns="0" rIns="0" bIns="0">
            <a:spAutoFit/>
          </a:bodyPr>
          <a:lstStyle/>
          <a:p>
            <a:pPr>
              <a:defRPr sz="1250" b="1">
                <a:solidFill>
                  <a:srgbClr val="F8FAFC"/>
                </a:solidFill>
                <a:latin typeface="Calibri"/>
              </a:defRPr>
            </a:pPr>
            <a:r>
              <a:t>Yash Sanikop — Frontend &amp; AI Lead</a:t>
            </a:r>
          </a:p>
          <a:p>
            <a:pPr>
              <a:defRPr sz="950">
                <a:solidFill>
                  <a:srgbClr val="94A3B8"/>
                </a:solidFill>
                <a:latin typeface="Calibri"/>
              </a:defRPr>
            </a:pPr>
            <a:r>
              <a:t>FastAPI Microservice, Gemini 1.5 Flash SDK &amp; Caching</a:t>
            </a:r>
          </a:p>
        </p:txBody>
      </p:sp>
      <p:sp>
        <p:nvSpPr>
          <p:cNvPr id="15" name="TextBox 14"/>
          <p:cNvSpPr txBox="1"/>
          <p:nvPr/>
        </p:nvSpPr>
        <p:spPr>
          <a:xfrm>
            <a:off x="6446520" y="2560320"/>
            <a:ext cx="4709160" cy="3200400"/>
          </a:xfrm>
          <a:prstGeom prst="rect">
            <a:avLst/>
          </a:prstGeom>
          <a:noFill/>
        </p:spPr>
        <p:txBody>
          <a:bodyPr wrap="square" lIns="0" tIns="0" rIns="0" bIns="0">
            <a:spAutoFit/>
          </a:bodyPr>
          <a:lstStyle/>
          <a:p>
            <a:pPr>
              <a:spcBef>
                <a:spcPts val="800"/>
              </a:spcBef>
            </a:pPr>
            <a:r>
              <a:rPr sz="1050" b="1">
                <a:solidFill>
                  <a:srgbClr val="F8FAFC"/>
                </a:solidFill>
                <a:latin typeface="Calibri"/>
              </a:rPr>
              <a:t>•  FastAPI AI Microservice: </a:t>
            </a:r>
            <a:r>
              <a:rPr sz="1050">
                <a:solidFill>
                  <a:srgbClr val="94A3B8"/>
                </a:solidFill>
                <a:latin typeface="Calibri"/>
              </a:rPr>
              <a:t>Google Gemini 1.5 Flash SDK integration with Pydantic v2 structured JSON validation.</a:t>
            </a:r>
          </a:p>
          <a:p>
            <a:pPr>
              <a:spcBef>
                <a:spcPts val="800"/>
              </a:spcBef>
            </a:pPr>
            <a:r>
              <a:rPr sz="1050" b="1">
                <a:solidFill>
                  <a:srgbClr val="F8FAFC"/>
                </a:solidFill>
                <a:latin typeface="Calibri"/>
              </a:rPr>
              <a:t>•  Model Instance Pooling: </a:t>
            </a:r>
            <a:r>
              <a:rPr sz="1050">
                <a:solidFill>
                  <a:srgbClr val="94A3B8"/>
                </a:solidFill>
                <a:latin typeface="Calibri"/>
              </a:rPr>
              <a:t>Pre-instantiates GenerativeModel instances eliminating garbage collection latency spikes.</a:t>
            </a:r>
          </a:p>
          <a:p>
            <a:pPr>
              <a:spcBef>
                <a:spcPts val="800"/>
              </a:spcBef>
            </a:pPr>
            <a:r>
              <a:rPr sz="1050" b="1">
                <a:solidFill>
                  <a:srgbClr val="F8FAFC"/>
                </a:solidFill>
                <a:latin typeface="Calibri"/>
              </a:rPr>
              <a:t>•  SHA-256 In-Memory TTL Caching: </a:t>
            </a:r>
            <a:r>
              <a:rPr sz="1050">
                <a:solidFill>
                  <a:srgbClr val="94A3B8"/>
                </a:solidFill>
                <a:latin typeface="Calibri"/>
              </a:rPr>
              <a:t>Caches identical ticket analyses, dropping repeated latency from 1,800ms to 12ms.</a:t>
            </a:r>
          </a:p>
          <a:p>
            <a:pPr>
              <a:spcBef>
                <a:spcPts val="800"/>
              </a:spcBef>
            </a:pPr>
            <a:r>
              <a:rPr sz="1050" b="1">
                <a:solidFill>
                  <a:srgbClr val="F8FAFC"/>
                </a:solidFill>
                <a:latin typeface="Calibri"/>
              </a:rPr>
              <a:t>•  Prompt Engineering Pipeline: </a:t>
            </a:r>
            <a:r>
              <a:rPr sz="1050">
                <a:solidFill>
                  <a:srgbClr val="94A3B8"/>
                </a:solidFill>
                <a:latin typeface="Calibri"/>
              </a:rPr>
              <a:t>Authored specialized ~40-line persona system prompts and anti-gaming urgency filters.</a:t>
            </a:r>
          </a:p>
          <a:p>
            <a:pPr>
              <a:spcBef>
                <a:spcPts val="800"/>
              </a:spcBef>
            </a:pPr>
            <a:r>
              <a:rPr sz="1050" b="1">
                <a:solidFill>
                  <a:srgbClr val="F8FAFC"/>
                </a:solidFill>
                <a:latin typeface="Calibri"/>
              </a:rPr>
              <a:t>•  Dataset Grounding &amp; Benchmarks: </a:t>
            </a:r>
            <a:r>
              <a:rPr sz="1050">
                <a:solidFill>
                  <a:srgbClr val="94A3B8"/>
                </a:solidFill>
                <a:latin typeface="Calibri"/>
              </a:rPr>
              <a:t>Calibrated against historical Kaggle and Hugging Face customer support corpora.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BACKEND ARCHITECTURE</a:t>
            </a:r>
          </a:p>
        </p:txBody>
      </p:sp>
      <p:sp>
        <p:nvSpPr>
          <p:cNvPr id="4" name="Rounded Rectangle 3"/>
          <p:cNvSpPr/>
          <p:nvPr/>
        </p:nvSpPr>
        <p:spPr>
          <a:xfrm>
            <a:off x="7315200" y="365760"/>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Core REST Engine: Express REST Controllers &amp; Architecture</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High-throughput API layer orchestrating business logic, security guards, and AI proxy routing.</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16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188720"/>
          </a:xfrm>
          <a:prstGeom prst="rect">
            <a:avLst/>
          </a:prstGeom>
          <a:noFill/>
        </p:spPr>
        <p:txBody>
          <a:bodyPr wrap="square" lIns="0" tIns="0" rIns="0" bIns="0">
            <a:spAutoFit/>
          </a:bodyPr>
          <a:lstStyle/>
          <a:p>
            <a:pPr>
              <a:defRPr sz="3200" b="1">
                <a:solidFill>
                  <a:srgbClr val="10B981"/>
                </a:solidFill>
                <a:latin typeface="Calibri"/>
              </a:defRPr>
            </a:pPr>
            <a:r>
              <a:t>&lt; 200ms</a:t>
            </a:r>
          </a:p>
          <a:p>
            <a:pPr>
              <a:spcBef>
                <a:spcPts val="400"/>
              </a:spcBef>
              <a:defRPr sz="1200" b="1">
                <a:solidFill>
                  <a:srgbClr val="F8FAFC"/>
                </a:solidFill>
                <a:latin typeface="Calibri"/>
              </a:defRPr>
            </a:pPr>
            <a:r>
              <a:t>P95 REST Latency</a:t>
            </a:r>
          </a:p>
          <a:p>
            <a:pPr>
              <a:spcBef>
                <a:spcPts val="300"/>
              </a:spcBef>
              <a:defRPr sz="950">
                <a:solidFill>
                  <a:srgbClr val="94A3B8"/>
                </a:solidFill>
                <a:latin typeface="Calibri"/>
              </a:defRPr>
            </a:pPr>
            <a:r>
              <a:t>Standard CRUD endpoint response time under normal load</a:t>
            </a:r>
          </a:p>
        </p:txBody>
      </p:sp>
      <p:sp>
        <p:nvSpPr>
          <p:cNvPr id="12" name="Rounded Rectangle 11"/>
          <p:cNvSpPr/>
          <p:nvPr/>
        </p:nvSpPr>
        <p:spPr>
          <a:xfrm>
            <a:off x="342900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188720"/>
          </a:xfrm>
          <a:prstGeom prst="rect">
            <a:avLst/>
          </a:prstGeom>
          <a:noFill/>
        </p:spPr>
        <p:txBody>
          <a:bodyPr wrap="square" lIns="0" tIns="0" rIns="0" bIns="0">
            <a:spAutoFit/>
          </a:bodyPr>
          <a:lstStyle/>
          <a:p>
            <a:pPr>
              <a:defRPr sz="3200" b="1">
                <a:solidFill>
                  <a:srgbClr val="F59E0B"/>
                </a:solidFill>
                <a:latin typeface="Calibri"/>
              </a:defRPr>
            </a:pPr>
            <a:r>
              <a:t>5 Seconds</a:t>
            </a:r>
          </a:p>
          <a:p>
            <a:pPr>
              <a:spcBef>
                <a:spcPts val="400"/>
              </a:spcBef>
              <a:defRPr sz="1200" b="1">
                <a:solidFill>
                  <a:srgbClr val="F8FAFC"/>
                </a:solidFill>
                <a:latin typeface="Calibri"/>
              </a:defRPr>
            </a:pPr>
            <a:r>
              <a:t>Circuit Breaker Timeout</a:t>
            </a:r>
          </a:p>
          <a:p>
            <a:pPr>
              <a:spcBef>
                <a:spcPts val="300"/>
              </a:spcBef>
              <a:defRPr sz="950">
                <a:solidFill>
                  <a:srgbClr val="94A3B8"/>
                </a:solidFill>
                <a:latin typeface="Calibri"/>
              </a:defRPr>
            </a:pPr>
            <a:r>
              <a:t>AbortSignal.timeout(5000) prevents hung upstream AI requests</a:t>
            </a:r>
          </a:p>
        </p:txBody>
      </p:sp>
      <p:sp>
        <p:nvSpPr>
          <p:cNvPr id="14" name="Rounded Rectangle 13"/>
          <p:cNvSpPr/>
          <p:nvPr/>
        </p:nvSpPr>
        <p:spPr>
          <a:xfrm>
            <a:off x="612648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188720"/>
          </a:xfrm>
          <a:prstGeom prst="rect">
            <a:avLst/>
          </a:prstGeom>
          <a:noFill/>
        </p:spPr>
        <p:txBody>
          <a:bodyPr wrap="square" lIns="0" tIns="0" rIns="0" bIns="0">
            <a:spAutoFit/>
          </a:bodyPr>
          <a:lstStyle/>
          <a:p>
            <a:pPr>
              <a:defRPr sz="3200" b="1">
                <a:solidFill>
                  <a:srgbClr val="3B82F6"/>
                </a:solidFill>
                <a:latin typeface="Calibri"/>
              </a:defRPr>
            </a:pPr>
            <a:r>
              <a:t>100%</a:t>
            </a:r>
          </a:p>
          <a:p>
            <a:pPr>
              <a:spcBef>
                <a:spcPts val="400"/>
              </a:spcBef>
              <a:defRPr sz="1200" b="1">
                <a:solidFill>
                  <a:srgbClr val="F8FAFC"/>
                </a:solidFill>
                <a:latin typeface="Calibri"/>
              </a:defRPr>
            </a:pPr>
            <a:r>
              <a:t>Async Error Handling</a:t>
            </a:r>
          </a:p>
          <a:p>
            <a:pPr>
              <a:spcBef>
                <a:spcPts val="300"/>
              </a:spcBef>
              <a:defRPr sz="950">
                <a:solidFill>
                  <a:srgbClr val="94A3B8"/>
                </a:solidFill>
                <a:latin typeface="Calibri"/>
              </a:defRPr>
            </a:pPr>
            <a:r>
              <a:t>Centralized errorHandler middleware guarantees 0 unhandled rejections</a:t>
            </a:r>
          </a:p>
        </p:txBody>
      </p:sp>
      <p:sp>
        <p:nvSpPr>
          <p:cNvPr id="16" name="Rounded Rectangle 15"/>
          <p:cNvSpPr/>
          <p:nvPr/>
        </p:nvSpPr>
        <p:spPr>
          <a:xfrm>
            <a:off x="882396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188720"/>
          </a:xfrm>
          <a:prstGeom prst="rect">
            <a:avLst/>
          </a:prstGeom>
          <a:noFill/>
        </p:spPr>
        <p:txBody>
          <a:bodyPr wrap="square" lIns="0" tIns="0" rIns="0" bIns="0">
            <a:spAutoFit/>
          </a:bodyPr>
          <a:lstStyle/>
          <a:p>
            <a:pPr>
              <a:defRPr sz="3200" b="1">
                <a:solidFill>
                  <a:srgbClr val="38BDF8"/>
                </a:solidFill>
                <a:latin typeface="Calibri"/>
              </a:defRPr>
            </a:pPr>
            <a:r>
              <a:t>10/10</a:t>
            </a:r>
          </a:p>
          <a:p>
            <a:pPr>
              <a:spcBef>
                <a:spcPts val="400"/>
              </a:spcBef>
              <a:defRPr sz="1200" b="1">
                <a:solidFill>
                  <a:srgbClr val="F8FAFC"/>
                </a:solidFill>
                <a:latin typeface="Calibri"/>
              </a:defRPr>
            </a:pPr>
            <a:r>
              <a:t>Jest Integration Specs</a:t>
            </a:r>
          </a:p>
          <a:p>
            <a:pPr>
              <a:spcBef>
                <a:spcPts val="300"/>
              </a:spcBef>
              <a:defRPr sz="950">
                <a:solidFill>
                  <a:srgbClr val="94A3B8"/>
                </a:solidFill>
                <a:latin typeface="Calibri"/>
              </a:defRPr>
            </a:pPr>
            <a:r>
              <a:t>100% pass rate across authentication and ticket routing suites</a:t>
            </a:r>
          </a:p>
        </p:txBody>
      </p:sp>
      <p:sp>
        <p:nvSpPr>
          <p:cNvPr id="18" name="Rounded Rectangle 17"/>
          <p:cNvSpPr/>
          <p:nvPr/>
        </p:nvSpPr>
        <p:spPr>
          <a:xfrm>
            <a:off x="73152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11880"/>
            <a:ext cx="4800600" cy="320040"/>
          </a:xfrm>
          <a:prstGeom prst="rect">
            <a:avLst/>
          </a:prstGeom>
          <a:noFill/>
        </p:spPr>
        <p:txBody>
          <a:bodyPr wrap="square" lIns="0" tIns="0" rIns="0" bIns="0">
            <a:spAutoFit/>
          </a:bodyPr>
          <a:lstStyle/>
          <a:p>
            <a:pPr>
              <a:defRPr sz="1250" b="1">
                <a:solidFill>
                  <a:srgbClr val="F8FAFC"/>
                </a:solidFill>
                <a:latin typeface="Calibri"/>
              </a:defRPr>
            </a:pPr>
            <a:r>
              <a:t>Decoupled AI Proxy &amp; Circuit Breakers</a:t>
            </a:r>
          </a:p>
          <a:p>
            <a:pPr>
              <a:defRPr sz="950">
                <a:solidFill>
                  <a:srgbClr val="94A3B8"/>
                </a:solidFill>
                <a:latin typeface="Calibri"/>
              </a:defRPr>
            </a:pPr>
            <a:r>
              <a:t>aiService.js robust HTTP client</a:t>
            </a:r>
          </a:p>
        </p:txBody>
      </p:sp>
      <p:sp>
        <p:nvSpPr>
          <p:cNvPr id="20" name="TextBox 19"/>
          <p:cNvSpPr txBox="1"/>
          <p:nvPr/>
        </p:nvSpPr>
        <p:spPr>
          <a:xfrm>
            <a:off x="91440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Internal REST Delegation: </a:t>
            </a:r>
            <a:r>
              <a:rPr sz="1100">
                <a:solidFill>
                  <a:srgbClr val="94A3B8"/>
                </a:solidFill>
                <a:latin typeface="Calibri"/>
              </a:rPr>
              <a:t>Backend proxies triage, tone-polishing, concierge, and auto-reply requests to the FastAPI microservice over internal HTTP.</a:t>
            </a:r>
          </a:p>
          <a:p>
            <a:pPr>
              <a:spcBef>
                <a:spcPts val="400"/>
              </a:spcBef>
            </a:pPr>
            <a:r>
              <a:rPr sz="1100" b="1">
                <a:solidFill>
                  <a:srgbClr val="F8FAFC"/>
                </a:solidFill>
                <a:latin typeface="Calibri"/>
              </a:rPr>
              <a:t>•  Fast-Fail Fallback Mode: </a:t>
            </a:r>
            <a:r>
              <a:rPr sz="1100">
                <a:solidFill>
                  <a:srgbClr val="94A3B8"/>
                </a:solidFill>
                <a:latin typeface="Calibri"/>
              </a:rPr>
              <a:t>If the AI service is unreachable or exceeds the 5-second timeout, deterministic fallback metadata is returned without crashing the ticket workflow.</a:t>
            </a:r>
          </a:p>
          <a:p>
            <a:pPr>
              <a:spcBef>
                <a:spcPts val="400"/>
              </a:spcBef>
            </a:pPr>
            <a:r>
              <a:rPr sz="1100" b="1">
                <a:solidFill>
                  <a:srgbClr val="F8FAFC"/>
                </a:solidFill>
                <a:latin typeface="Calibri"/>
              </a:rPr>
              <a:t>•  Structured Telemetry Logging: </a:t>
            </a:r>
            <a:r>
              <a:rPr sz="1100">
                <a:solidFill>
                  <a:srgbClr val="94A3B8"/>
                </a:solidFill>
                <a:latin typeface="Calibri"/>
              </a:rPr>
              <a:t>Winston JSON logger records request paths, latency, user IDs, and error stack traces for complete auditability.</a:t>
            </a:r>
          </a:p>
        </p:txBody>
      </p:sp>
      <p:sp>
        <p:nvSpPr>
          <p:cNvPr id="21" name="Rounded Rectangle 20"/>
          <p:cNvSpPr/>
          <p:nvPr/>
        </p:nvSpPr>
        <p:spPr>
          <a:xfrm>
            <a:off x="617220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11880"/>
            <a:ext cx="4800600" cy="320040"/>
          </a:xfrm>
          <a:prstGeom prst="rect">
            <a:avLst/>
          </a:prstGeom>
          <a:noFill/>
        </p:spPr>
        <p:txBody>
          <a:bodyPr wrap="square" lIns="0" tIns="0" rIns="0" bIns="0">
            <a:spAutoFit/>
          </a:bodyPr>
          <a:lstStyle/>
          <a:p>
            <a:pPr>
              <a:defRPr sz="1250" b="1">
                <a:solidFill>
                  <a:srgbClr val="F8FAFC"/>
                </a:solidFill>
                <a:latin typeface="Calibri"/>
              </a:defRPr>
            </a:pPr>
            <a:r>
              <a:t>Express REST Controllers &amp; Business Logic</a:t>
            </a:r>
          </a:p>
          <a:p>
            <a:pPr>
              <a:defRPr sz="950">
                <a:solidFill>
                  <a:srgbClr val="94A3B8"/>
                </a:solidFill>
                <a:latin typeface="Calibri"/>
              </a:defRPr>
            </a:pPr>
            <a:r>
              <a:t>ticketController.js &amp; authController.js</a:t>
            </a:r>
          </a:p>
        </p:txBody>
      </p:sp>
      <p:sp>
        <p:nvSpPr>
          <p:cNvPr id="23" name="TextBox 22"/>
          <p:cNvSpPr txBox="1"/>
          <p:nvPr/>
        </p:nvSpPr>
        <p:spPr>
          <a:xfrm>
            <a:off x="635508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Ticket Controller Logic: </a:t>
            </a:r>
            <a:r>
              <a:rPr sz="1100">
                <a:solidFill>
                  <a:srgbClr val="94A3B8"/>
                </a:solidFill>
                <a:latin typeface="Calibri"/>
              </a:rPr>
              <a:t>Manages ticket creation, pagination, multi-criteria filtering (status, priority, department), and agent assignment.</a:t>
            </a:r>
          </a:p>
          <a:p>
            <a:pPr>
              <a:spcBef>
                <a:spcPts val="400"/>
              </a:spcBef>
            </a:pPr>
            <a:r>
              <a:rPr sz="1100" b="1">
                <a:solidFill>
                  <a:srgbClr val="F8FAFC"/>
                </a:solidFill>
                <a:latin typeface="Calibri"/>
              </a:rPr>
              <a:t>•  Department Forwarding: </a:t>
            </a:r>
            <a:r>
              <a:rPr sz="1100">
                <a:solidFill>
                  <a:srgbClr val="94A3B8"/>
                </a:solidFill>
                <a:latin typeface="Calibri"/>
              </a:rPr>
              <a:t>Enables inter-department ticket handoffs with auto-logged internal notes documenting the transfer reason.</a:t>
            </a:r>
          </a:p>
          <a:p>
            <a:pPr>
              <a:spcBef>
                <a:spcPts val="400"/>
              </a:spcBef>
            </a:pPr>
            <a:r>
              <a:rPr sz="1100" b="1">
                <a:solidFill>
                  <a:srgbClr val="F8FAFC"/>
                </a:solidFill>
                <a:latin typeface="Calibri"/>
              </a:rPr>
              <a:t>•  Checklist Toggle API: </a:t>
            </a:r>
            <a:r>
              <a:rPr sz="1100">
                <a:solidFill>
                  <a:srgbClr val="94A3B8"/>
                </a:solidFill>
                <a:latin typeface="Calibri"/>
              </a:rPr>
              <a:t>PATCH /api/v1/tickets/:id/checklist/:itemId updates task states in real time with agent attribution.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DATABASE ARCHITECTURE</a:t>
            </a:r>
          </a:p>
        </p:txBody>
      </p:sp>
      <p:sp>
        <p:nvSpPr>
          <p:cNvPr id="4" name="Rounded Rectangle 3"/>
          <p:cNvSpPr/>
          <p:nvPr/>
        </p:nvSpPr>
        <p:spPr>
          <a:xfrm>
            <a:off x="7315200" y="365760"/>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PostgreSQL 15 Relational Schema &amp; Supabase Connection Pooling</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Third Normal Form (3NF) relational design with Supabase connection pooling and B-tree indexing.</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17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graphicFrame>
        <p:nvGraphicFramePr>
          <p:cNvPr id="10" name="Table 9"/>
          <p:cNvGraphicFramePr>
            <a:graphicFrameLocks noGrp="1"/>
          </p:cNvGraphicFramePr>
          <p:nvPr/>
        </p:nvGraphicFramePr>
        <p:xfrm>
          <a:off x="731520" y="1737360"/>
          <a:ext cx="10728655" cy="2468880"/>
        </p:xfrm>
        <a:graphic>
          <a:graphicData uri="http://schemas.openxmlformats.org/drawingml/2006/table">
            <a:tbl>
              <a:tblPr firstRow="1" bandRow="1">
                <a:tableStyleId>{5C22544A-7EE6-4342-B048-85BDC9FD1C3A}</a:tableStyleId>
              </a:tblPr>
              <a:tblGrid>
                <a:gridCol w="1645920"/>
                <a:gridCol w="1097280"/>
                <a:gridCol w="2377440"/>
                <a:gridCol w="3474720"/>
                <a:gridCol w="2133295"/>
              </a:tblGrid>
              <a:tr h="352697">
                <a:tc>
                  <a:txBody>
                    <a:bodyPr/>
                    <a:lstStyle/>
                    <a:p>
                      <a:pPr algn="l">
                        <a:defRPr sz="1100" b="1">
                          <a:solidFill>
                            <a:srgbClr val="F8FAFC"/>
                          </a:solidFill>
                          <a:latin typeface="Calibri"/>
                        </a:defRPr>
                      </a:pPr>
                      <a:r>
                        <a:t>Table Name</a:t>
                      </a:r>
                    </a:p>
                  </a:txBody>
                  <a:tcPr anchor="ctr">
                    <a:solidFill>
                      <a:srgbClr val="1E3A8A"/>
                    </a:solidFill>
                  </a:tcPr>
                </a:tc>
                <a:tc>
                  <a:txBody>
                    <a:bodyPr/>
                    <a:lstStyle/>
                    <a:p>
                      <a:pPr algn="l">
                        <a:defRPr sz="1100" b="1">
                          <a:solidFill>
                            <a:srgbClr val="F8FAFC"/>
                          </a:solidFill>
                          <a:latin typeface="Calibri"/>
                        </a:defRPr>
                      </a:pPr>
                      <a:r>
                        <a:t>Primary Key</a:t>
                      </a:r>
                    </a:p>
                  </a:txBody>
                  <a:tcPr anchor="ctr">
                    <a:solidFill>
                      <a:srgbClr val="1E3A8A"/>
                    </a:solidFill>
                  </a:tcPr>
                </a:tc>
                <a:tc>
                  <a:txBody>
                    <a:bodyPr/>
                    <a:lstStyle/>
                    <a:p>
                      <a:pPr algn="l">
                        <a:defRPr sz="1100" b="1">
                          <a:solidFill>
                            <a:srgbClr val="F8FAFC"/>
                          </a:solidFill>
                          <a:latin typeface="Calibri"/>
                        </a:defRPr>
                      </a:pPr>
                      <a:r>
                        <a:t>Foreign Keys</a:t>
                      </a:r>
                    </a:p>
                  </a:txBody>
                  <a:tcPr anchor="ctr">
                    <a:solidFill>
                      <a:srgbClr val="1E3A8A"/>
                    </a:solidFill>
                  </a:tcPr>
                </a:tc>
                <a:tc>
                  <a:txBody>
                    <a:bodyPr/>
                    <a:lstStyle/>
                    <a:p>
                      <a:pPr algn="l">
                        <a:defRPr sz="1100" b="1">
                          <a:solidFill>
                            <a:srgbClr val="F8FAFC"/>
                          </a:solidFill>
                          <a:latin typeface="Calibri"/>
                        </a:defRPr>
                      </a:pPr>
                      <a:r>
                        <a:t>Key Attributes &amp; Types</a:t>
                      </a:r>
                    </a:p>
                  </a:txBody>
                  <a:tcPr anchor="ctr">
                    <a:solidFill>
                      <a:srgbClr val="1E3A8A"/>
                    </a:solidFill>
                  </a:tcPr>
                </a:tc>
                <a:tc>
                  <a:txBody>
                    <a:bodyPr/>
                    <a:lstStyle/>
                    <a:p>
                      <a:pPr algn="l">
                        <a:defRPr sz="1100" b="1">
                          <a:solidFill>
                            <a:srgbClr val="F8FAFC"/>
                          </a:solidFill>
                          <a:latin typeface="Calibri"/>
                        </a:defRPr>
                      </a:pPr>
                      <a:r>
                        <a:t>Index Strategy</a:t>
                      </a:r>
                    </a:p>
                  </a:txBody>
                  <a:tcPr anchor="ctr">
                    <a:solidFill>
                      <a:srgbClr val="1E3A8A"/>
                    </a:solidFill>
                  </a:tcPr>
                </a:tc>
              </a:tr>
              <a:tr h="352697">
                <a:tc>
                  <a:txBody>
                    <a:bodyPr/>
                    <a:lstStyle/>
                    <a:p>
                      <a:pPr algn="l">
                        <a:defRPr sz="1000">
                          <a:solidFill>
                            <a:srgbClr val="F8FAFC"/>
                          </a:solidFill>
                          <a:latin typeface="Calibri"/>
                        </a:defRPr>
                      </a:pPr>
                      <a:r>
                        <a:t>users</a:t>
                      </a:r>
                    </a:p>
                  </a:txBody>
                  <a:tcPr anchor="ctr">
                    <a:solidFill>
                      <a:srgbClr val="1E293B"/>
                    </a:solidFill>
                  </a:tcPr>
                </a:tc>
                <a:tc>
                  <a:txBody>
                    <a:bodyPr/>
                    <a:lstStyle/>
                    <a:p>
                      <a:pPr algn="l">
                        <a:defRPr sz="1000">
                          <a:solidFill>
                            <a:srgbClr val="94A3B8"/>
                          </a:solidFill>
                          <a:latin typeface="Calibri"/>
                        </a:defRPr>
                      </a:pPr>
                      <a:r>
                        <a:t>uuid (PK)</a:t>
                      </a:r>
                    </a:p>
                  </a:txBody>
                  <a:tcPr anchor="ctr">
                    <a:solidFill>
                      <a:srgbClr val="1E293B"/>
                    </a:solidFill>
                  </a:tcPr>
                </a:tc>
                <a:tc>
                  <a:txBody>
                    <a:bodyPr/>
                    <a:lstStyle/>
                    <a:p>
                      <a:pPr algn="l">
                        <a:defRPr sz="1000">
                          <a:solidFill>
                            <a:srgbClr val="94A3B8"/>
                          </a:solidFill>
                          <a:latin typeface="Calibri"/>
                        </a:defRPr>
                      </a:pPr>
                      <a:r>
                        <a:t>None</a:t>
                      </a:r>
                    </a:p>
                  </a:txBody>
                  <a:tcPr anchor="ctr">
                    <a:solidFill>
                      <a:srgbClr val="1E293B"/>
                    </a:solidFill>
                  </a:tcPr>
                </a:tc>
                <a:tc>
                  <a:txBody>
                    <a:bodyPr/>
                    <a:lstStyle/>
                    <a:p>
                      <a:pPr algn="l">
                        <a:defRPr sz="1000">
                          <a:solidFill>
                            <a:srgbClr val="94A3B8"/>
                          </a:solidFill>
                          <a:latin typeface="Calibri"/>
                        </a:defRPr>
                      </a:pPr>
                      <a:r>
                        <a:t>name, email (UK), password_hash, role, department</a:t>
                      </a:r>
                    </a:p>
                  </a:txBody>
                  <a:tcPr anchor="ctr">
                    <a:solidFill>
                      <a:srgbClr val="1E293B"/>
                    </a:solidFill>
                  </a:tcPr>
                </a:tc>
                <a:tc>
                  <a:txBody>
                    <a:bodyPr/>
                    <a:lstStyle/>
                    <a:p>
                      <a:pPr algn="l">
                        <a:defRPr sz="1000">
                          <a:solidFill>
                            <a:srgbClr val="94A3B8"/>
                          </a:solidFill>
                          <a:latin typeface="Calibri"/>
                        </a:defRPr>
                      </a:pPr>
                      <a:r>
                        <a:t>Unique B-tree on email</a:t>
                      </a:r>
                    </a:p>
                  </a:txBody>
                  <a:tcPr anchor="ctr">
                    <a:solidFill>
                      <a:srgbClr val="1E293B"/>
                    </a:solidFill>
                  </a:tcPr>
                </a:tc>
              </a:tr>
              <a:tr h="352697">
                <a:tc>
                  <a:txBody>
                    <a:bodyPr/>
                    <a:lstStyle/>
                    <a:p>
                      <a:pPr algn="l">
                        <a:defRPr sz="1000">
                          <a:solidFill>
                            <a:srgbClr val="F8FAFC"/>
                          </a:solidFill>
                          <a:latin typeface="Calibri"/>
                        </a:defRPr>
                      </a:pPr>
                      <a:r>
                        <a:t>tickets</a:t>
                      </a:r>
                    </a:p>
                  </a:txBody>
                  <a:tcPr anchor="ctr">
                    <a:solidFill>
                      <a:srgbClr val="182234"/>
                    </a:solidFill>
                  </a:tcPr>
                </a:tc>
                <a:tc>
                  <a:txBody>
                    <a:bodyPr/>
                    <a:lstStyle/>
                    <a:p>
                      <a:pPr algn="l">
                        <a:defRPr sz="1000">
                          <a:solidFill>
                            <a:srgbClr val="94A3B8"/>
                          </a:solidFill>
                          <a:latin typeface="Calibri"/>
                        </a:defRPr>
                      </a:pPr>
                      <a:r>
                        <a:t>uuid (PK)</a:t>
                      </a:r>
                    </a:p>
                  </a:txBody>
                  <a:tcPr anchor="ctr">
                    <a:solidFill>
                      <a:srgbClr val="182234"/>
                    </a:solidFill>
                  </a:tcPr>
                </a:tc>
                <a:tc>
                  <a:txBody>
                    <a:bodyPr/>
                    <a:lstStyle/>
                    <a:p>
                      <a:pPr algn="l">
                        <a:defRPr sz="1000">
                          <a:solidFill>
                            <a:srgbClr val="94A3B8"/>
                          </a:solidFill>
                          <a:latin typeface="Calibri"/>
                        </a:defRPr>
                      </a:pPr>
                      <a:r>
                        <a:t>customer_id, assigned_agent_id, linked_ticket_id</a:t>
                      </a:r>
                    </a:p>
                  </a:txBody>
                  <a:tcPr anchor="ctr">
                    <a:solidFill>
                      <a:srgbClr val="182234"/>
                    </a:solidFill>
                  </a:tcPr>
                </a:tc>
                <a:tc>
                  <a:txBody>
                    <a:bodyPr/>
                    <a:lstStyle/>
                    <a:p>
                      <a:pPr algn="l">
                        <a:defRPr sz="1000">
                          <a:solidFill>
                            <a:srgbClr val="94A3B8"/>
                          </a:solidFill>
                          <a:latin typeface="Calibri"/>
                        </a:defRPr>
                      </a:pPr>
                      <a:r>
                        <a:t>ticket_number (UK), title, status, priority, category</a:t>
                      </a:r>
                    </a:p>
                  </a:txBody>
                  <a:tcPr anchor="ctr">
                    <a:solidFill>
                      <a:srgbClr val="182234"/>
                    </a:solidFill>
                  </a:tcPr>
                </a:tc>
                <a:tc>
                  <a:txBody>
                    <a:bodyPr/>
                    <a:lstStyle/>
                    <a:p>
                      <a:pPr algn="l">
                        <a:defRPr sz="1000">
                          <a:solidFill>
                            <a:srgbClr val="94A3B8"/>
                          </a:solidFill>
                          <a:latin typeface="Calibri"/>
                        </a:defRPr>
                      </a:pPr>
                      <a:r>
                        <a:t>Compound (status, priority), customer_id</a:t>
                      </a:r>
                    </a:p>
                  </a:txBody>
                  <a:tcPr anchor="ctr">
                    <a:solidFill>
                      <a:srgbClr val="182234"/>
                    </a:solidFill>
                  </a:tcPr>
                </a:tc>
              </a:tr>
              <a:tr h="352697">
                <a:tc>
                  <a:txBody>
                    <a:bodyPr/>
                    <a:lstStyle/>
                    <a:p>
                      <a:pPr algn="l">
                        <a:defRPr sz="1000">
                          <a:solidFill>
                            <a:srgbClr val="F8FAFC"/>
                          </a:solidFill>
                          <a:latin typeface="Calibri"/>
                        </a:defRPr>
                      </a:pPr>
                      <a:r>
                        <a:t>ticket_messages</a:t>
                      </a:r>
                    </a:p>
                  </a:txBody>
                  <a:tcPr anchor="ctr">
                    <a:solidFill>
                      <a:srgbClr val="1E293B"/>
                    </a:solidFill>
                  </a:tcPr>
                </a:tc>
                <a:tc>
                  <a:txBody>
                    <a:bodyPr/>
                    <a:lstStyle/>
                    <a:p>
                      <a:pPr algn="l">
                        <a:defRPr sz="1000">
                          <a:solidFill>
                            <a:srgbClr val="94A3B8"/>
                          </a:solidFill>
                          <a:latin typeface="Calibri"/>
                        </a:defRPr>
                      </a:pPr>
                      <a:r>
                        <a:t>uuid (PK)</a:t>
                      </a:r>
                    </a:p>
                  </a:txBody>
                  <a:tcPr anchor="ctr">
                    <a:solidFill>
                      <a:srgbClr val="1E293B"/>
                    </a:solidFill>
                  </a:tcPr>
                </a:tc>
                <a:tc>
                  <a:txBody>
                    <a:bodyPr/>
                    <a:lstStyle/>
                    <a:p>
                      <a:pPr algn="l">
                        <a:defRPr sz="1000">
                          <a:solidFill>
                            <a:srgbClr val="94A3B8"/>
                          </a:solidFill>
                          <a:latin typeface="Calibri"/>
                        </a:defRPr>
                      </a:pPr>
                      <a:r>
                        <a:t>ticket_id (FK), sender_id (FK)</a:t>
                      </a:r>
                    </a:p>
                  </a:txBody>
                  <a:tcPr anchor="ctr">
                    <a:solidFill>
                      <a:srgbClr val="1E293B"/>
                    </a:solidFill>
                  </a:tcPr>
                </a:tc>
                <a:tc>
                  <a:txBody>
                    <a:bodyPr/>
                    <a:lstStyle/>
                    <a:p>
                      <a:pPr algn="l">
                        <a:defRPr sz="1000">
                          <a:solidFill>
                            <a:srgbClr val="94A3B8"/>
                          </a:solidFill>
                          <a:latin typeface="Calibri"/>
                        </a:defRPr>
                      </a:pPr>
                      <a:r>
                        <a:t>message_body (text), is_internal_note (boolean)</a:t>
                      </a:r>
                    </a:p>
                  </a:txBody>
                  <a:tcPr anchor="ctr">
                    <a:solidFill>
                      <a:srgbClr val="1E293B"/>
                    </a:solidFill>
                  </a:tcPr>
                </a:tc>
                <a:tc>
                  <a:txBody>
                    <a:bodyPr/>
                    <a:lstStyle/>
                    <a:p>
                      <a:pPr algn="l">
                        <a:defRPr sz="1000">
                          <a:solidFill>
                            <a:srgbClr val="94A3B8"/>
                          </a:solidFill>
                          <a:latin typeface="Calibri"/>
                        </a:defRPr>
                      </a:pPr>
                      <a:r>
                        <a:t>B-tree on (ticket_id, created_at)</a:t>
                      </a:r>
                    </a:p>
                  </a:txBody>
                  <a:tcPr anchor="ctr">
                    <a:solidFill>
                      <a:srgbClr val="1E293B"/>
                    </a:solidFill>
                  </a:tcPr>
                </a:tc>
              </a:tr>
              <a:tr h="352697">
                <a:tc>
                  <a:txBody>
                    <a:bodyPr/>
                    <a:lstStyle/>
                    <a:p>
                      <a:pPr algn="l">
                        <a:defRPr sz="1000">
                          <a:solidFill>
                            <a:srgbClr val="F8FAFC"/>
                          </a:solidFill>
                          <a:latin typeface="Calibri"/>
                        </a:defRPr>
                      </a:pPr>
                      <a:r>
                        <a:t>ai_metadata</a:t>
                      </a:r>
                    </a:p>
                  </a:txBody>
                  <a:tcPr anchor="ctr">
                    <a:solidFill>
                      <a:srgbClr val="182234"/>
                    </a:solidFill>
                  </a:tcPr>
                </a:tc>
                <a:tc>
                  <a:txBody>
                    <a:bodyPr/>
                    <a:lstStyle/>
                    <a:p>
                      <a:pPr algn="l">
                        <a:defRPr sz="1000">
                          <a:solidFill>
                            <a:srgbClr val="94A3B8"/>
                          </a:solidFill>
                          <a:latin typeface="Calibri"/>
                        </a:defRPr>
                      </a:pPr>
                      <a:r>
                        <a:t>uuid (PK)</a:t>
                      </a:r>
                    </a:p>
                  </a:txBody>
                  <a:tcPr anchor="ctr">
                    <a:solidFill>
                      <a:srgbClr val="182234"/>
                    </a:solidFill>
                  </a:tcPr>
                </a:tc>
                <a:tc>
                  <a:txBody>
                    <a:bodyPr/>
                    <a:lstStyle/>
                    <a:p>
                      <a:pPr algn="l">
                        <a:defRPr sz="1000">
                          <a:solidFill>
                            <a:srgbClr val="94A3B8"/>
                          </a:solidFill>
                          <a:latin typeface="Calibri"/>
                        </a:defRPr>
                      </a:pPr>
                      <a:r>
                        <a:t>ticket_id (FK, UNIQUE)</a:t>
                      </a:r>
                    </a:p>
                  </a:txBody>
                  <a:tcPr anchor="ctr">
                    <a:solidFill>
                      <a:srgbClr val="182234"/>
                    </a:solidFill>
                  </a:tcPr>
                </a:tc>
                <a:tc>
                  <a:txBody>
                    <a:bodyPr/>
                    <a:lstStyle/>
                    <a:p>
                      <a:pPr algn="l">
                        <a:defRPr sz="1000">
                          <a:solidFill>
                            <a:srgbClr val="94A3B8"/>
                          </a:solidFill>
                          <a:latin typeface="Calibri"/>
                        </a:defRPr>
                      </a:pPr>
                      <a:r>
                        <a:t>customer_mood, patience_score, predicted_resolution_time, confidence</a:t>
                      </a:r>
                    </a:p>
                  </a:txBody>
                  <a:tcPr anchor="ctr">
                    <a:solidFill>
                      <a:srgbClr val="182234"/>
                    </a:solidFill>
                  </a:tcPr>
                </a:tc>
                <a:tc>
                  <a:txBody>
                    <a:bodyPr/>
                    <a:lstStyle/>
                    <a:p>
                      <a:pPr algn="l">
                        <a:defRPr sz="1000">
                          <a:solidFill>
                            <a:srgbClr val="94A3B8"/>
                          </a:solidFill>
                          <a:latin typeface="Calibri"/>
                        </a:defRPr>
                      </a:pPr>
                      <a:r>
                        <a:t>Unique B-tree on ticket_id</a:t>
                      </a:r>
                    </a:p>
                  </a:txBody>
                  <a:tcPr anchor="ctr">
                    <a:solidFill>
                      <a:srgbClr val="182234"/>
                    </a:solidFill>
                  </a:tcPr>
                </a:tc>
              </a:tr>
              <a:tr h="352697">
                <a:tc>
                  <a:txBody>
                    <a:bodyPr/>
                    <a:lstStyle/>
                    <a:p>
                      <a:pPr algn="l">
                        <a:defRPr sz="1000">
                          <a:solidFill>
                            <a:srgbClr val="F8FAFC"/>
                          </a:solidFill>
                          <a:latin typeface="Calibri"/>
                        </a:defRPr>
                      </a:pPr>
                      <a:r>
                        <a:t>agent_checklists</a:t>
                      </a:r>
                    </a:p>
                  </a:txBody>
                  <a:tcPr anchor="ctr">
                    <a:solidFill>
                      <a:srgbClr val="1E293B"/>
                    </a:solidFill>
                  </a:tcPr>
                </a:tc>
                <a:tc>
                  <a:txBody>
                    <a:bodyPr/>
                    <a:lstStyle/>
                    <a:p>
                      <a:pPr algn="l">
                        <a:defRPr sz="1000">
                          <a:solidFill>
                            <a:srgbClr val="94A3B8"/>
                          </a:solidFill>
                          <a:latin typeface="Calibri"/>
                        </a:defRPr>
                      </a:pPr>
                      <a:r>
                        <a:t>uuid (PK)</a:t>
                      </a:r>
                    </a:p>
                  </a:txBody>
                  <a:tcPr anchor="ctr">
                    <a:solidFill>
                      <a:srgbClr val="1E293B"/>
                    </a:solidFill>
                  </a:tcPr>
                </a:tc>
                <a:tc>
                  <a:txBody>
                    <a:bodyPr/>
                    <a:lstStyle/>
                    <a:p>
                      <a:pPr algn="l">
                        <a:defRPr sz="1000">
                          <a:solidFill>
                            <a:srgbClr val="94A3B8"/>
                          </a:solidFill>
                          <a:latin typeface="Calibri"/>
                        </a:defRPr>
                      </a:pPr>
                      <a:r>
                        <a:t>ticket_id (FK)</a:t>
                      </a:r>
                    </a:p>
                  </a:txBody>
                  <a:tcPr anchor="ctr">
                    <a:solidFill>
                      <a:srgbClr val="1E293B"/>
                    </a:solidFill>
                  </a:tcPr>
                </a:tc>
                <a:tc>
                  <a:txBody>
                    <a:bodyPr/>
                    <a:lstStyle/>
                    <a:p>
                      <a:pPr algn="l">
                        <a:defRPr sz="1000">
                          <a:solidFill>
                            <a:srgbClr val="94A3B8"/>
                          </a:solidFill>
                          <a:latin typeface="Calibri"/>
                        </a:defRPr>
                      </a:pPr>
                      <a:r>
                        <a:t>item_text (text), is_completed (boolean)</a:t>
                      </a:r>
                    </a:p>
                  </a:txBody>
                  <a:tcPr anchor="ctr">
                    <a:solidFill>
                      <a:srgbClr val="1E293B"/>
                    </a:solidFill>
                  </a:tcPr>
                </a:tc>
                <a:tc>
                  <a:txBody>
                    <a:bodyPr/>
                    <a:lstStyle/>
                    <a:p>
                      <a:pPr algn="l">
                        <a:defRPr sz="1000">
                          <a:solidFill>
                            <a:srgbClr val="94A3B8"/>
                          </a:solidFill>
                          <a:latin typeface="Calibri"/>
                        </a:defRPr>
                      </a:pPr>
                      <a:r>
                        <a:t>B-tree on ticket_id</a:t>
                      </a:r>
                    </a:p>
                  </a:txBody>
                  <a:tcPr anchor="ctr">
                    <a:solidFill>
                      <a:srgbClr val="1E293B"/>
                    </a:solidFill>
                  </a:tcPr>
                </a:tc>
              </a:tr>
              <a:tr h="352698">
                <a:tc>
                  <a:txBody>
                    <a:bodyPr/>
                    <a:lstStyle/>
                    <a:p>
                      <a:pPr algn="l">
                        <a:defRPr sz="1000">
                          <a:solidFill>
                            <a:srgbClr val="F8FAFC"/>
                          </a:solidFill>
                          <a:latin typeface="Calibri"/>
                        </a:defRPr>
                      </a:pPr>
                      <a:r>
                        <a:t>weekly_insights</a:t>
                      </a:r>
                    </a:p>
                  </a:txBody>
                  <a:tcPr anchor="ctr">
                    <a:solidFill>
                      <a:srgbClr val="182234"/>
                    </a:solidFill>
                  </a:tcPr>
                </a:tc>
                <a:tc>
                  <a:txBody>
                    <a:bodyPr/>
                    <a:lstStyle/>
                    <a:p>
                      <a:pPr algn="l">
                        <a:defRPr sz="1000">
                          <a:solidFill>
                            <a:srgbClr val="94A3B8"/>
                          </a:solidFill>
                          <a:latin typeface="Calibri"/>
                        </a:defRPr>
                      </a:pPr>
                      <a:r>
                        <a:t>uuid (PK)</a:t>
                      </a:r>
                    </a:p>
                  </a:txBody>
                  <a:tcPr anchor="ctr">
                    <a:solidFill>
                      <a:srgbClr val="182234"/>
                    </a:solidFill>
                  </a:tcPr>
                </a:tc>
                <a:tc>
                  <a:txBody>
                    <a:bodyPr/>
                    <a:lstStyle/>
                    <a:p>
                      <a:pPr algn="l">
                        <a:defRPr sz="1000">
                          <a:solidFill>
                            <a:srgbClr val="94A3B8"/>
                          </a:solidFill>
                          <a:latin typeface="Calibri"/>
                        </a:defRPr>
                      </a:pPr>
                      <a:r>
                        <a:t>None</a:t>
                      </a:r>
                    </a:p>
                  </a:txBody>
                  <a:tcPr anchor="ctr">
                    <a:solidFill>
                      <a:srgbClr val="182234"/>
                    </a:solidFill>
                  </a:tcPr>
                </a:tc>
                <a:tc>
                  <a:txBody>
                    <a:bodyPr/>
                    <a:lstStyle/>
                    <a:p>
                      <a:pPr algn="l">
                        <a:defRPr sz="1000">
                          <a:solidFill>
                            <a:srgbClr val="94A3B8"/>
                          </a:solidFill>
                          <a:latin typeface="Calibri"/>
                        </a:defRPr>
                      </a:pPr>
                      <a:r>
                        <a:t>week_identifier, top_issues (JSONB), common_mistakes (JSONB)</a:t>
                      </a:r>
                    </a:p>
                  </a:txBody>
                  <a:tcPr anchor="ctr">
                    <a:solidFill>
                      <a:srgbClr val="182234"/>
                    </a:solidFill>
                  </a:tcPr>
                </a:tc>
                <a:tc>
                  <a:txBody>
                    <a:bodyPr/>
                    <a:lstStyle/>
                    <a:p>
                      <a:pPr algn="l">
                        <a:defRPr sz="1000">
                          <a:solidFill>
                            <a:srgbClr val="94A3B8"/>
                          </a:solidFill>
                          <a:latin typeface="Calibri"/>
                        </a:defRPr>
                      </a:pPr>
                      <a:r>
                        <a:t>B-tree on week_identifier</a:t>
                      </a:r>
                    </a:p>
                  </a:txBody>
                  <a:tcPr anchor="ctr">
                    <a:solidFill>
                      <a:srgbClr val="182234"/>
                    </a:solidFill>
                  </a:tcPr>
                </a:tc>
              </a:tr>
            </a:tbl>
          </a:graphicData>
        </a:graphic>
      </p:graphicFrame>
      <p:sp>
        <p:nvSpPr>
          <p:cNvPr id="11" name="Rounded Rectangle 10"/>
          <p:cNvSpPr/>
          <p:nvPr/>
        </p:nvSpPr>
        <p:spPr>
          <a:xfrm>
            <a:off x="731520" y="4389120"/>
            <a:ext cx="5257800"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572000"/>
            <a:ext cx="4800600" cy="320040"/>
          </a:xfrm>
          <a:prstGeom prst="rect">
            <a:avLst/>
          </a:prstGeom>
          <a:noFill/>
        </p:spPr>
        <p:txBody>
          <a:bodyPr wrap="square" lIns="0" tIns="0" rIns="0" bIns="0">
            <a:spAutoFit/>
          </a:bodyPr>
          <a:lstStyle/>
          <a:p>
            <a:pPr>
              <a:defRPr sz="1250" b="1">
                <a:solidFill>
                  <a:srgbClr val="F8FAFC"/>
                </a:solidFill>
                <a:latin typeface="Calibri"/>
              </a:defRPr>
            </a:pPr>
            <a:r>
              <a:t>Supabase Cloud Connection Pooling</a:t>
            </a:r>
          </a:p>
          <a:p>
            <a:pPr>
              <a:defRPr sz="950">
                <a:solidFill>
                  <a:srgbClr val="94A3B8"/>
                </a:solidFill>
                <a:latin typeface="Calibri"/>
              </a:defRPr>
            </a:pPr>
            <a:r>
              <a:t>High-burst query stability</a:t>
            </a:r>
          </a:p>
        </p:txBody>
      </p:sp>
      <p:sp>
        <p:nvSpPr>
          <p:cNvPr id="13" name="TextBox 12"/>
          <p:cNvSpPr txBox="1"/>
          <p:nvPr/>
        </p:nvSpPr>
        <p:spPr>
          <a:xfrm>
            <a:off x="914400" y="4937760"/>
            <a:ext cx="4892040" cy="1143000"/>
          </a:xfrm>
          <a:prstGeom prst="rect">
            <a:avLst/>
          </a:prstGeom>
          <a:noFill/>
        </p:spPr>
        <p:txBody>
          <a:bodyPr wrap="square" lIns="0" tIns="0" rIns="0" bIns="0">
            <a:spAutoFit/>
          </a:bodyPr>
          <a:lstStyle/>
          <a:p>
            <a:pPr>
              <a:spcBef>
                <a:spcPts val="300"/>
              </a:spcBef>
            </a:pPr>
            <a:r>
              <a:rPr sz="1000" b="1">
                <a:solidFill>
                  <a:srgbClr val="F8FAFC"/>
                </a:solidFill>
                <a:latin typeface="Calibri"/>
              </a:rPr>
              <a:t>•  Managed PgBouncer Pool: </a:t>
            </a:r>
            <a:r>
              <a:rPr sz="1000">
                <a:solidFill>
                  <a:srgbClr val="94A3B8"/>
                </a:solidFill>
                <a:latin typeface="Calibri"/>
              </a:rPr>
              <a:t>Configured with max 20 client connections, preventing pool exhaustion under sudden traffic spikes.</a:t>
            </a:r>
          </a:p>
          <a:p>
            <a:pPr>
              <a:spcBef>
                <a:spcPts val="300"/>
              </a:spcBef>
            </a:pPr>
            <a:r>
              <a:rPr sz="1000" b="1">
                <a:solidFill>
                  <a:srgbClr val="F8FAFC"/>
                </a:solidFill>
                <a:latin typeface="Calibri"/>
              </a:rPr>
              <a:t>•  SSL Encryption Enforced: </a:t>
            </a:r>
            <a:r>
              <a:rPr sz="1000">
                <a:solidFill>
                  <a:srgbClr val="94A3B8"/>
                </a:solidFill>
                <a:latin typeface="Calibri"/>
              </a:rPr>
              <a:t>All traffic encrypted over SSL (rejectUnauthorized: false for Supabase certificates).</a:t>
            </a:r>
          </a:p>
          <a:p>
            <a:pPr>
              <a:spcBef>
                <a:spcPts val="300"/>
              </a:spcBef>
            </a:pPr>
            <a:r>
              <a:rPr sz="1000" b="1">
                <a:solidFill>
                  <a:srgbClr val="F8FAFC"/>
                </a:solidFill>
                <a:latin typeface="Calibri"/>
              </a:rPr>
              <a:t>•  Sub-50ms Query Execution: </a:t>
            </a:r>
            <a:r>
              <a:rPr sz="1000">
                <a:solidFill>
                  <a:srgbClr val="94A3B8"/>
                </a:solidFill>
                <a:latin typeface="Calibri"/>
              </a:rPr>
              <a:t>Compound B-tree indexes guarantee fast queue rendering across thousands of tickets.</a:t>
            </a:r>
          </a:p>
        </p:txBody>
      </p:sp>
      <p:sp>
        <p:nvSpPr>
          <p:cNvPr id="14" name="Rounded Rectangle 13"/>
          <p:cNvSpPr/>
          <p:nvPr/>
        </p:nvSpPr>
        <p:spPr>
          <a:xfrm>
            <a:off x="6172200" y="4389120"/>
            <a:ext cx="5257800"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72000"/>
            <a:ext cx="4800600" cy="320040"/>
          </a:xfrm>
          <a:prstGeom prst="rect">
            <a:avLst/>
          </a:prstGeom>
          <a:noFill/>
        </p:spPr>
        <p:txBody>
          <a:bodyPr wrap="square" lIns="0" tIns="0" rIns="0" bIns="0">
            <a:spAutoFit/>
          </a:bodyPr>
          <a:lstStyle/>
          <a:p>
            <a:pPr>
              <a:defRPr sz="1250" b="1">
                <a:solidFill>
                  <a:srgbClr val="F8FAFC"/>
                </a:solidFill>
                <a:latin typeface="Calibri"/>
              </a:defRPr>
            </a:pPr>
            <a:r>
              <a:t>Auto-Migration &amp; Seed Integrity</a:t>
            </a:r>
          </a:p>
          <a:p>
            <a:pPr>
              <a:defRPr sz="950">
                <a:solidFill>
                  <a:srgbClr val="94A3B8"/>
                </a:solidFill>
                <a:latin typeface="Calibri"/>
              </a:defRPr>
            </a:pPr>
            <a:r>
              <a:t>dbInit.js zero-configuration setup</a:t>
            </a:r>
          </a:p>
        </p:txBody>
      </p:sp>
      <p:sp>
        <p:nvSpPr>
          <p:cNvPr id="16" name="TextBox 15"/>
          <p:cNvSpPr txBox="1"/>
          <p:nvPr/>
        </p:nvSpPr>
        <p:spPr>
          <a:xfrm>
            <a:off x="6355080" y="4937760"/>
            <a:ext cx="4892040" cy="1143000"/>
          </a:xfrm>
          <a:prstGeom prst="rect">
            <a:avLst/>
          </a:prstGeom>
          <a:noFill/>
        </p:spPr>
        <p:txBody>
          <a:bodyPr wrap="square" lIns="0" tIns="0" rIns="0" bIns="0">
            <a:spAutoFit/>
          </a:bodyPr>
          <a:lstStyle/>
          <a:p>
            <a:pPr>
              <a:spcBef>
                <a:spcPts val="300"/>
              </a:spcBef>
            </a:pPr>
            <a:r>
              <a:rPr sz="1000" b="1">
                <a:solidFill>
                  <a:srgbClr val="F8FAFC"/>
                </a:solidFill>
                <a:latin typeface="Calibri"/>
              </a:rPr>
              <a:t>•  Automated Schema Migration: </a:t>
            </a:r>
            <a:r>
              <a:rPr sz="1000">
                <a:solidFill>
                  <a:srgbClr val="94A3B8"/>
                </a:solidFill>
                <a:latin typeface="Calibri"/>
              </a:rPr>
              <a:t>dbInit.js executes on server startup, idempotently applying migrations and creating tables.</a:t>
            </a:r>
          </a:p>
          <a:p>
            <a:pPr>
              <a:spcBef>
                <a:spcPts val="300"/>
              </a:spcBef>
            </a:pPr>
            <a:r>
              <a:rPr sz="1000" b="1">
                <a:solidFill>
                  <a:srgbClr val="F8FAFC"/>
                </a:solidFill>
                <a:latin typeface="Calibri"/>
              </a:rPr>
              <a:t>•  Production-Ready Seed Data: </a:t>
            </a:r>
            <a:r>
              <a:rPr sz="1000">
                <a:solidFill>
                  <a:srgbClr val="94A3B8"/>
                </a:solidFill>
                <a:latin typeface="Calibri"/>
              </a:rPr>
              <a:t>001_seed_data.sql seeds realistic multi-turn conversations across all 4 departments.</a:t>
            </a:r>
          </a:p>
          <a:p>
            <a:pPr>
              <a:spcBef>
                <a:spcPts val="300"/>
              </a:spcBef>
            </a:pPr>
            <a:r>
              <a:rPr sz="1000" b="1">
                <a:solidFill>
                  <a:srgbClr val="F8FAFC"/>
                </a:solidFill>
                <a:latin typeface="Calibri"/>
              </a:rPr>
              <a:t>•  JSONB Extensibility: </a:t>
            </a:r>
            <a:r>
              <a:rPr sz="1000">
                <a:solidFill>
                  <a:srgbClr val="94A3B8"/>
                </a:solidFill>
                <a:latin typeface="Calibri"/>
              </a:rPr>
              <a:t>Uses PostgreSQL JSONB for flexible weekly AI learning insights and recurring issue patterns.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DATA INTEGRITY &amp; CONCURRENCY</a:t>
            </a:r>
          </a:p>
        </p:txBody>
      </p:sp>
      <p:sp>
        <p:nvSpPr>
          <p:cNvPr id="4" name="Rounded Rectangle 3"/>
          <p:cNvSpPr/>
          <p:nvPr/>
        </p:nvSpPr>
        <p:spPr>
          <a:xfrm>
            <a:off x="7315200" y="365760"/>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Mission-Critical Integrity: Atomic Transactions &amp; State Machines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Empirical proof of zero database divergence, concurrency lock-safety, and status validation.</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18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3383280" cy="4389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2926080" cy="320040"/>
          </a:xfrm>
          <a:prstGeom prst="rect">
            <a:avLst/>
          </a:prstGeom>
          <a:noFill/>
        </p:spPr>
        <p:txBody>
          <a:bodyPr wrap="square" lIns="0" tIns="0" rIns="0" bIns="0">
            <a:spAutoFit/>
          </a:bodyPr>
          <a:lstStyle/>
          <a:p>
            <a:pPr>
              <a:defRPr sz="1250" b="1">
                <a:solidFill>
                  <a:srgbClr val="F8FAFC"/>
                </a:solidFill>
                <a:latin typeface="Calibri"/>
              </a:defRPr>
            </a:pPr>
            <a:r>
              <a:t>1. Atomic Transactions (SCRUM-112)</a:t>
            </a:r>
          </a:p>
          <a:p>
            <a:pPr>
              <a:defRPr sz="950">
                <a:solidFill>
                  <a:srgbClr val="94A3B8"/>
                </a:solidFill>
                <a:latin typeface="Calibri"/>
              </a:defRPr>
            </a:pPr>
            <a:r>
              <a:t>createTicketWithInitialMessage</a:t>
            </a:r>
          </a:p>
        </p:txBody>
      </p:sp>
      <p:sp>
        <p:nvSpPr>
          <p:cNvPr id="12" name="TextBox 11"/>
          <p:cNvSpPr txBox="1"/>
          <p:nvPr/>
        </p:nvSpPr>
        <p:spPr>
          <a:xfrm>
            <a:off x="914400" y="2377440"/>
            <a:ext cx="3017520" cy="3474720"/>
          </a:xfrm>
          <a:prstGeom prst="rect">
            <a:avLst/>
          </a:prstGeom>
          <a:noFill/>
        </p:spPr>
        <p:txBody>
          <a:bodyPr wrap="square" lIns="0" tIns="0" rIns="0" bIns="0">
            <a:spAutoFit/>
          </a:bodyPr>
          <a:lstStyle/>
          <a:p>
            <a:pPr>
              <a:spcBef>
                <a:spcPts val="600"/>
              </a:spcBef>
            </a:pPr>
            <a:r>
              <a:rPr sz="1050" b="1">
                <a:solidFill>
                  <a:srgbClr val="F8FAFC"/>
                </a:solidFill>
                <a:latin typeface="Calibri"/>
              </a:rPr>
              <a:t>•  Atomic Multi-Statement Commit: </a:t>
            </a:r>
            <a:r>
              <a:rPr sz="1050">
                <a:solidFill>
                  <a:srgbClr val="94A3B8"/>
                </a:solidFill>
                <a:latin typeface="Calibri"/>
              </a:rPr>
              <a:t>Ticket insertion and initial customer message execute within a single PostgreSQL transaction (BEGIN / COMMIT / ROLLBACK).</a:t>
            </a:r>
          </a:p>
          <a:p>
            <a:pPr>
              <a:spcBef>
                <a:spcPts val="600"/>
              </a:spcBef>
            </a:pPr>
            <a:r>
              <a:rPr sz="1050" b="1">
                <a:solidFill>
                  <a:srgbClr val="F8FAFC"/>
                </a:solidFill>
                <a:latin typeface="Calibri"/>
              </a:rPr>
              <a:t>•  Zero Orphaned Tickets: </a:t>
            </a:r>
            <a:r>
              <a:rPr sz="1050">
                <a:solidFill>
                  <a:srgbClr val="94A3B8"/>
                </a:solidFill>
                <a:latin typeface="Calibri"/>
              </a:rPr>
              <a:t>If initial message insertion fails, the transaction rolls back 100%, leaving no corrupt ticket rows in the database.</a:t>
            </a:r>
          </a:p>
          <a:p>
            <a:pPr>
              <a:spcBef>
                <a:spcPts val="600"/>
              </a:spcBef>
            </a:pPr>
            <a:r>
              <a:rPr sz="1050" b="1">
                <a:solidFill>
                  <a:srgbClr val="F8FAFC"/>
                </a:solidFill>
                <a:latin typeface="Calibri"/>
              </a:rPr>
              <a:t>•  Verified Test Proof: </a:t>
            </a:r>
            <a:r>
              <a:rPr sz="1050">
                <a:solidFill>
                  <a:srgbClr val="94A3B8"/>
                </a:solidFill>
                <a:latin typeface="Calibri"/>
              </a:rPr>
              <a:t>ticket-transaction.test.js simulates sender foreign key failures and verifies 100% clean rollback (8/8 specs passing).</a:t>
            </a:r>
          </a:p>
        </p:txBody>
      </p:sp>
      <p:sp>
        <p:nvSpPr>
          <p:cNvPr id="13" name="Rounded Rectangle 12"/>
          <p:cNvSpPr/>
          <p:nvPr/>
        </p:nvSpPr>
        <p:spPr>
          <a:xfrm>
            <a:off x="4389120" y="1737360"/>
            <a:ext cx="3383280" cy="43891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920240"/>
            <a:ext cx="2926080" cy="320040"/>
          </a:xfrm>
          <a:prstGeom prst="rect">
            <a:avLst/>
          </a:prstGeom>
          <a:noFill/>
        </p:spPr>
        <p:txBody>
          <a:bodyPr wrap="square" lIns="0" tIns="0" rIns="0" bIns="0">
            <a:spAutoFit/>
          </a:bodyPr>
          <a:lstStyle/>
          <a:p>
            <a:pPr>
              <a:defRPr sz="1250" b="1">
                <a:solidFill>
                  <a:srgbClr val="F8FAFC"/>
                </a:solidFill>
                <a:latin typeface="Calibri"/>
              </a:defRPr>
            </a:pPr>
            <a:r>
              <a:t>2. Status State Machine (SCRUM-111)</a:t>
            </a:r>
          </a:p>
          <a:p>
            <a:pPr>
              <a:defRPr sz="950">
                <a:solidFill>
                  <a:srgbClr val="94A3B8"/>
                </a:solidFill>
                <a:latin typeface="Calibri"/>
              </a:defRPr>
            </a:pPr>
            <a:r>
              <a:t>Enforced Lifecycle Progression</a:t>
            </a:r>
          </a:p>
        </p:txBody>
      </p:sp>
      <p:sp>
        <p:nvSpPr>
          <p:cNvPr id="15" name="TextBox 14"/>
          <p:cNvSpPr txBox="1"/>
          <p:nvPr/>
        </p:nvSpPr>
        <p:spPr>
          <a:xfrm>
            <a:off x="4572000" y="2377440"/>
            <a:ext cx="3017520" cy="3474720"/>
          </a:xfrm>
          <a:prstGeom prst="rect">
            <a:avLst/>
          </a:prstGeom>
          <a:noFill/>
        </p:spPr>
        <p:txBody>
          <a:bodyPr wrap="square" lIns="0" tIns="0" rIns="0" bIns="0">
            <a:spAutoFit/>
          </a:bodyPr>
          <a:lstStyle/>
          <a:p>
            <a:pPr>
              <a:spcBef>
                <a:spcPts val="600"/>
              </a:spcBef>
            </a:pPr>
            <a:r>
              <a:rPr sz="1050" b="1">
                <a:solidFill>
                  <a:srgbClr val="F8FAFC"/>
                </a:solidFill>
                <a:latin typeface="Calibri"/>
              </a:rPr>
              <a:t>•  Strict Transition Rules: </a:t>
            </a:r>
            <a:r>
              <a:rPr sz="1050">
                <a:solidFill>
                  <a:srgbClr val="94A3B8"/>
                </a:solidFill>
                <a:latin typeface="Calibri"/>
              </a:rPr>
              <a:t>ALLOWED_STATUS_TRANSITIONS: OPEN ➔ IN_PROGRESS ➔ RESOLVED ➔ CLOSED. Reopening is permitted only from RESOLVED to OPEN.</a:t>
            </a:r>
          </a:p>
          <a:p>
            <a:pPr>
              <a:spcBef>
                <a:spcPts val="600"/>
              </a:spcBef>
            </a:pPr>
            <a:r>
              <a:rPr sz="1050" b="1">
                <a:solidFill>
                  <a:srgbClr val="F8FAFC"/>
                </a:solidFill>
                <a:latin typeface="Calibri"/>
              </a:rPr>
              <a:t>•  Illegal Skip Rejection: </a:t>
            </a:r>
            <a:r>
              <a:rPr sz="1050">
                <a:solidFill>
                  <a:srgbClr val="94A3B8"/>
                </a:solidFill>
                <a:latin typeface="Calibri"/>
              </a:rPr>
              <a:t>Any attempt to jump illegally (e.g. OPEN directly to CLOSED) is rejected with HTTP 400 Bad Request.</a:t>
            </a:r>
          </a:p>
          <a:p>
            <a:pPr>
              <a:spcBef>
                <a:spcPts val="600"/>
              </a:spcBef>
            </a:pPr>
            <a:r>
              <a:rPr sz="1050" b="1">
                <a:solidFill>
                  <a:srgbClr val="F8FAFC"/>
                </a:solidFill>
                <a:latin typeface="Calibri"/>
              </a:rPr>
              <a:t>•  Reopened Trigger Worker: </a:t>
            </a:r>
            <a:r>
              <a:rPr sz="1050">
                <a:solidFill>
                  <a:srgbClr val="94A3B8"/>
                </a:solidFill>
                <a:latin typeface="Calibri"/>
              </a:rPr>
              <a:t>Transitioning from RESOLVED to OPEN asynchronously invokes the AI timeline summarizer worker.</a:t>
            </a:r>
          </a:p>
        </p:txBody>
      </p:sp>
      <p:sp>
        <p:nvSpPr>
          <p:cNvPr id="16" name="Rounded Rectangle 15"/>
          <p:cNvSpPr/>
          <p:nvPr/>
        </p:nvSpPr>
        <p:spPr>
          <a:xfrm>
            <a:off x="8046720" y="1737360"/>
            <a:ext cx="3383280" cy="438912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920240"/>
            <a:ext cx="2926080" cy="320040"/>
          </a:xfrm>
          <a:prstGeom prst="rect">
            <a:avLst/>
          </a:prstGeom>
          <a:noFill/>
        </p:spPr>
        <p:txBody>
          <a:bodyPr wrap="square" lIns="0" tIns="0" rIns="0" bIns="0">
            <a:spAutoFit/>
          </a:bodyPr>
          <a:lstStyle/>
          <a:p>
            <a:pPr>
              <a:defRPr sz="1250" b="1">
                <a:solidFill>
                  <a:srgbClr val="F8FAFC"/>
                </a:solidFill>
                <a:latin typeface="Calibri"/>
              </a:defRPr>
            </a:pPr>
            <a:r>
              <a:t>3. Concurrency Stress (SCRUM-110)</a:t>
            </a:r>
          </a:p>
          <a:p>
            <a:pPr>
              <a:defRPr sz="950">
                <a:solidFill>
                  <a:srgbClr val="94A3B8"/>
                </a:solidFill>
                <a:latin typeface="Calibri"/>
              </a:defRPr>
            </a:pPr>
            <a:r>
              <a:t>100 Parallel Submissions</a:t>
            </a:r>
          </a:p>
        </p:txBody>
      </p:sp>
      <p:sp>
        <p:nvSpPr>
          <p:cNvPr id="18" name="TextBox 17"/>
          <p:cNvSpPr txBox="1"/>
          <p:nvPr/>
        </p:nvSpPr>
        <p:spPr>
          <a:xfrm>
            <a:off x="8229600" y="2377440"/>
            <a:ext cx="3017520" cy="3474720"/>
          </a:xfrm>
          <a:prstGeom prst="rect">
            <a:avLst/>
          </a:prstGeom>
          <a:noFill/>
        </p:spPr>
        <p:txBody>
          <a:bodyPr wrap="square" lIns="0" tIns="0" rIns="0" bIns="0">
            <a:spAutoFit/>
          </a:bodyPr>
          <a:lstStyle/>
          <a:p>
            <a:pPr>
              <a:spcBef>
                <a:spcPts val="600"/>
              </a:spcBef>
            </a:pPr>
            <a:r>
              <a:rPr sz="1050" b="1">
                <a:solidFill>
                  <a:srgbClr val="F8FAFC"/>
                </a:solidFill>
                <a:latin typeface="Calibri"/>
              </a:rPr>
              <a:t>•  Sequence-Safe Ticket Numbers: </a:t>
            </a:r>
            <a:r>
              <a:rPr sz="1050">
                <a:solidFill>
                  <a:srgbClr val="94A3B8"/>
                </a:solidFill>
                <a:latin typeface="Calibri"/>
              </a:rPr>
              <a:t>Utilizes PostgreSQL sequence ticket_number_seq to guarantee unique numbers (T-1001, T-1002).</a:t>
            </a:r>
          </a:p>
          <a:p>
            <a:pPr>
              <a:spcBef>
                <a:spcPts val="600"/>
              </a:spcBef>
            </a:pPr>
            <a:r>
              <a:rPr sz="1050" b="1">
                <a:solidFill>
                  <a:srgbClr val="F8FAFC"/>
                </a:solidFill>
                <a:latin typeface="Calibri"/>
              </a:rPr>
              <a:t>•  Zero Race Conditions: </a:t>
            </a:r>
            <a:r>
              <a:rPr sz="1050">
                <a:solidFill>
                  <a:srgbClr val="94A3B8"/>
                </a:solidFill>
                <a:latin typeface="Calibri"/>
              </a:rPr>
              <a:t>ticket-concurrency.test.js dispatches 100 simultaneous parallel ticket submissions via Promise.allSettled.</a:t>
            </a:r>
          </a:p>
          <a:p>
            <a:pPr>
              <a:spcBef>
                <a:spcPts val="600"/>
              </a:spcBef>
            </a:pPr>
            <a:r>
              <a:rPr sz="1050" b="1">
                <a:solidFill>
                  <a:srgbClr val="F8FAFC"/>
                </a:solidFill>
                <a:latin typeface="Calibri"/>
              </a:rPr>
              <a:t>•  Zero Sequence Collisions: </a:t>
            </a:r>
            <a:r>
              <a:rPr sz="1050">
                <a:solidFill>
                  <a:srgbClr val="94A3B8"/>
                </a:solidFill>
                <a:latin typeface="Calibri"/>
              </a:rPr>
              <a:t>Maintains 100% connection pool stability with 0 deadlock errors and 100% unique ticket numbers.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AI MICROSERVICE &amp; CACHING</a:t>
            </a:r>
          </a:p>
        </p:txBody>
      </p:sp>
      <p:sp>
        <p:nvSpPr>
          <p:cNvPr id="4" name="Rounded Rectangle 3"/>
          <p:cNvSpPr/>
          <p:nvPr/>
        </p:nvSpPr>
        <p:spPr>
          <a:xfrm>
            <a:off x="7315200" y="365760"/>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(Roll No. 23CO76)</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FastAPI Microservice, Gemini 1.5 Flash SDK &amp; Model Pooling</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High-throughput LLM pipeline with Pydantic validation and SHA-256 TTL caching.</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19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188720"/>
          </a:xfrm>
          <a:prstGeom prst="rect">
            <a:avLst/>
          </a:prstGeom>
          <a:noFill/>
        </p:spPr>
        <p:txBody>
          <a:bodyPr wrap="square" lIns="0" tIns="0" rIns="0" bIns="0">
            <a:spAutoFit/>
          </a:bodyPr>
          <a:lstStyle/>
          <a:p>
            <a:pPr>
              <a:defRPr sz="3200" b="1">
                <a:solidFill>
                  <a:srgbClr val="F59E0B"/>
                </a:solidFill>
                <a:latin typeface="Calibri"/>
              </a:defRPr>
            </a:pPr>
            <a:r>
              <a:t>12 ms</a:t>
            </a:r>
          </a:p>
          <a:p>
            <a:pPr>
              <a:spcBef>
                <a:spcPts val="400"/>
              </a:spcBef>
              <a:defRPr sz="1200" b="1">
                <a:solidFill>
                  <a:srgbClr val="F8FAFC"/>
                </a:solidFill>
                <a:latin typeface="Calibri"/>
              </a:defRPr>
            </a:pPr>
            <a:r>
              <a:t>Cached AI Latency</a:t>
            </a:r>
          </a:p>
          <a:p>
            <a:pPr>
              <a:spcBef>
                <a:spcPts val="300"/>
              </a:spcBef>
              <a:defRPr sz="950">
                <a:solidFill>
                  <a:srgbClr val="94A3B8"/>
                </a:solidFill>
                <a:latin typeface="Calibri"/>
              </a:defRPr>
            </a:pPr>
            <a:r>
              <a:t>SHA-256 TTL cache intercepts repeated queries in 12ms vs 1,800ms</a:t>
            </a:r>
          </a:p>
        </p:txBody>
      </p:sp>
      <p:sp>
        <p:nvSpPr>
          <p:cNvPr id="12" name="Rounded Rectangle 11"/>
          <p:cNvSpPr/>
          <p:nvPr/>
        </p:nvSpPr>
        <p:spPr>
          <a:xfrm>
            <a:off x="342900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188720"/>
          </a:xfrm>
          <a:prstGeom prst="rect">
            <a:avLst/>
          </a:prstGeom>
          <a:noFill/>
        </p:spPr>
        <p:txBody>
          <a:bodyPr wrap="square" lIns="0" tIns="0" rIns="0" bIns="0">
            <a:spAutoFit/>
          </a:bodyPr>
          <a:lstStyle/>
          <a:p>
            <a:pPr>
              <a:defRPr sz="3200" b="1">
                <a:solidFill>
                  <a:srgbClr val="10B981"/>
                </a:solidFill>
                <a:latin typeface="Calibri"/>
              </a:defRPr>
            </a:pPr>
            <a:r>
              <a:t>420 ms</a:t>
            </a:r>
          </a:p>
          <a:p>
            <a:pPr>
              <a:spcBef>
                <a:spcPts val="400"/>
              </a:spcBef>
              <a:defRPr sz="1200" b="1">
                <a:solidFill>
                  <a:srgbClr val="F8FAFC"/>
                </a:solidFill>
                <a:latin typeface="Calibri"/>
              </a:defRPr>
            </a:pPr>
            <a:r>
              <a:t>Live Inference Latency</a:t>
            </a:r>
          </a:p>
          <a:p>
            <a:pPr>
              <a:spcBef>
                <a:spcPts val="300"/>
              </a:spcBef>
              <a:defRPr sz="950">
                <a:solidFill>
                  <a:srgbClr val="94A3B8"/>
                </a:solidFill>
                <a:latin typeface="Calibri"/>
              </a:defRPr>
            </a:pPr>
            <a:r>
              <a:t>Google Gemini 1.5 Flash delivers complete structured triage</a:t>
            </a:r>
          </a:p>
        </p:txBody>
      </p:sp>
      <p:sp>
        <p:nvSpPr>
          <p:cNvPr id="14" name="Rounded Rectangle 13"/>
          <p:cNvSpPr/>
          <p:nvPr/>
        </p:nvSpPr>
        <p:spPr>
          <a:xfrm>
            <a:off x="612648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188720"/>
          </a:xfrm>
          <a:prstGeom prst="rect">
            <a:avLst/>
          </a:prstGeom>
          <a:noFill/>
        </p:spPr>
        <p:txBody>
          <a:bodyPr wrap="square" lIns="0" tIns="0" rIns="0" bIns="0">
            <a:spAutoFit/>
          </a:bodyPr>
          <a:lstStyle/>
          <a:p>
            <a:pPr>
              <a:defRPr sz="3200" b="1">
                <a:solidFill>
                  <a:srgbClr val="3B82F6"/>
                </a:solidFill>
                <a:latin typeface="Calibri"/>
              </a:defRPr>
            </a:pPr>
            <a:r>
              <a:t>100%</a:t>
            </a:r>
          </a:p>
          <a:p>
            <a:pPr>
              <a:spcBef>
                <a:spcPts val="400"/>
              </a:spcBef>
              <a:defRPr sz="1200" b="1">
                <a:solidFill>
                  <a:srgbClr val="F8FAFC"/>
                </a:solidFill>
                <a:latin typeface="Calibri"/>
              </a:defRPr>
            </a:pPr>
            <a:r>
              <a:t>Schema Adherence</a:t>
            </a:r>
          </a:p>
          <a:p>
            <a:pPr>
              <a:spcBef>
                <a:spcPts val="300"/>
              </a:spcBef>
              <a:defRPr sz="950">
                <a:solidFill>
                  <a:srgbClr val="94A3B8"/>
                </a:solidFill>
                <a:latin typeface="Calibri"/>
              </a:defRPr>
            </a:pPr>
            <a:r>
              <a:t>Pydantic v2 JSON schemas enforced via response_mime_type</a:t>
            </a:r>
          </a:p>
        </p:txBody>
      </p:sp>
      <p:sp>
        <p:nvSpPr>
          <p:cNvPr id="16" name="Rounded Rectangle 15"/>
          <p:cNvSpPr/>
          <p:nvPr/>
        </p:nvSpPr>
        <p:spPr>
          <a:xfrm>
            <a:off x="882396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188720"/>
          </a:xfrm>
          <a:prstGeom prst="rect">
            <a:avLst/>
          </a:prstGeom>
          <a:noFill/>
        </p:spPr>
        <p:txBody>
          <a:bodyPr wrap="square" lIns="0" tIns="0" rIns="0" bIns="0">
            <a:spAutoFit/>
          </a:bodyPr>
          <a:lstStyle/>
          <a:p>
            <a:pPr>
              <a:defRPr sz="3200" b="1">
                <a:solidFill>
                  <a:srgbClr val="38BDF8"/>
                </a:solidFill>
                <a:latin typeface="Calibri"/>
              </a:defRPr>
            </a:pPr>
            <a:r>
              <a:t>0 Downtime</a:t>
            </a:r>
          </a:p>
          <a:p>
            <a:pPr>
              <a:spcBef>
                <a:spcPts val="400"/>
              </a:spcBef>
              <a:defRPr sz="1200" b="1">
                <a:solidFill>
                  <a:srgbClr val="F8FAFC"/>
                </a:solidFill>
                <a:latin typeface="Calibri"/>
              </a:defRPr>
            </a:pPr>
            <a:r>
              <a:t>Graceful Fallback Mode</a:t>
            </a:r>
          </a:p>
          <a:p>
            <a:pPr>
              <a:spcBef>
                <a:spcPts val="300"/>
              </a:spcBef>
              <a:defRPr sz="950">
                <a:solidFill>
                  <a:srgbClr val="94A3B8"/>
                </a:solidFill>
                <a:latin typeface="Calibri"/>
              </a:defRPr>
            </a:pPr>
            <a:r>
              <a:t>Deterministic regex fallbacks guarantee 100% operational uptime</a:t>
            </a:r>
          </a:p>
        </p:txBody>
      </p:sp>
      <p:sp>
        <p:nvSpPr>
          <p:cNvPr id="18" name="Rounded Rectangle 17"/>
          <p:cNvSpPr/>
          <p:nvPr/>
        </p:nvSpPr>
        <p:spPr>
          <a:xfrm>
            <a:off x="73152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11880"/>
            <a:ext cx="4800600" cy="320040"/>
          </a:xfrm>
          <a:prstGeom prst="rect">
            <a:avLst/>
          </a:prstGeom>
          <a:noFill/>
        </p:spPr>
        <p:txBody>
          <a:bodyPr wrap="square" lIns="0" tIns="0" rIns="0" bIns="0">
            <a:spAutoFit/>
          </a:bodyPr>
          <a:lstStyle/>
          <a:p>
            <a:pPr>
              <a:defRPr sz="1250" b="1">
                <a:solidFill>
                  <a:srgbClr val="F8FAFC"/>
                </a:solidFill>
                <a:latin typeface="Calibri"/>
              </a:defRPr>
            </a:pPr>
            <a:r>
              <a:t>Model Instance Pooling &amp; SHA-256 TTL Caching</a:t>
            </a:r>
          </a:p>
          <a:p>
            <a:pPr>
              <a:defRPr sz="950">
                <a:solidFill>
                  <a:srgbClr val="94A3B8"/>
                </a:solidFill>
                <a:latin typeface="Calibri"/>
              </a:defRPr>
            </a:pPr>
            <a:r>
              <a:t>gemini_client.py high-performance architecture</a:t>
            </a:r>
          </a:p>
        </p:txBody>
      </p:sp>
      <p:sp>
        <p:nvSpPr>
          <p:cNvPr id="20" name="TextBox 19"/>
          <p:cNvSpPr txBox="1"/>
          <p:nvPr/>
        </p:nvSpPr>
        <p:spPr>
          <a:xfrm>
            <a:off x="91440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Model Instance Pooling (_MODEL_CACHE): </a:t>
            </a:r>
            <a:r>
              <a:rPr sz="1100">
                <a:solidFill>
                  <a:srgbClr val="94A3B8"/>
                </a:solidFill>
                <a:latin typeface="Calibri"/>
              </a:rPr>
              <a:t>Pre-instantiates and reuses GenerativeModel instances across concurrent async coroutines, eliminating Garbage Collection overhead.</a:t>
            </a:r>
          </a:p>
          <a:p>
            <a:pPr>
              <a:spcBef>
                <a:spcPts val="400"/>
              </a:spcBef>
            </a:pPr>
            <a:r>
              <a:rPr sz="1100" b="1">
                <a:solidFill>
                  <a:srgbClr val="F8FAFC"/>
                </a:solidFill>
                <a:latin typeface="Calibri"/>
              </a:rPr>
              <a:t>•  SHA-256 Hashed Response Cache: </a:t>
            </a:r>
            <a:r>
              <a:rPr sz="1100">
                <a:solidFill>
                  <a:srgbClr val="94A3B8"/>
                </a:solidFill>
                <a:latin typeface="Calibri"/>
              </a:rPr>
              <a:t>Caches identical ticket bodies with a 300-second TTL. Drops repeated concierge or triage queries from 1.8 seconds down to 12 milliseconds.</a:t>
            </a:r>
          </a:p>
          <a:p>
            <a:pPr>
              <a:spcBef>
                <a:spcPts val="400"/>
              </a:spcBef>
            </a:pPr>
            <a:r>
              <a:rPr sz="1100" b="1">
                <a:solidFill>
                  <a:srgbClr val="F8FAFC"/>
                </a:solidFill>
                <a:latin typeface="Calibri"/>
              </a:rPr>
              <a:t>•  Strict JSON Enforcement: </a:t>
            </a:r>
            <a:r>
              <a:rPr sz="1100">
                <a:solidFill>
                  <a:srgbClr val="94A3B8"/>
                </a:solidFill>
                <a:latin typeface="Calibri"/>
              </a:rPr>
              <a:t>Uses Gemini's native 'application/json' output mode to prevent markdown backtick wrapping and guarantee parseable payloads.</a:t>
            </a:r>
          </a:p>
        </p:txBody>
      </p:sp>
      <p:sp>
        <p:nvSpPr>
          <p:cNvPr id="21" name="Rounded Rectangle 20"/>
          <p:cNvSpPr/>
          <p:nvPr/>
        </p:nvSpPr>
        <p:spPr>
          <a:xfrm>
            <a:off x="617220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11880"/>
            <a:ext cx="4800600" cy="320040"/>
          </a:xfrm>
          <a:prstGeom prst="rect">
            <a:avLst/>
          </a:prstGeom>
          <a:noFill/>
        </p:spPr>
        <p:txBody>
          <a:bodyPr wrap="square" lIns="0" tIns="0" rIns="0" bIns="0">
            <a:spAutoFit/>
          </a:bodyPr>
          <a:lstStyle/>
          <a:p>
            <a:pPr>
              <a:defRPr sz="1250" b="1">
                <a:solidFill>
                  <a:srgbClr val="F8FAFC"/>
                </a:solidFill>
                <a:latin typeface="Calibri"/>
              </a:defRPr>
            </a:pPr>
            <a:r>
              <a:t>Resilient Fallback Engine &amp; Pytest Validation</a:t>
            </a:r>
          </a:p>
          <a:p>
            <a:pPr>
              <a:defRPr sz="950">
                <a:solidFill>
                  <a:srgbClr val="94A3B8"/>
                </a:solidFill>
                <a:latin typeface="Calibri"/>
              </a:defRPr>
            </a:pPr>
            <a:r>
              <a:t>Deterministic reliability when offline</a:t>
            </a:r>
          </a:p>
        </p:txBody>
      </p:sp>
      <p:sp>
        <p:nvSpPr>
          <p:cNvPr id="23" name="TextBox 22"/>
          <p:cNvSpPr txBox="1"/>
          <p:nvPr/>
        </p:nvSpPr>
        <p:spPr>
          <a:xfrm>
            <a:off x="635508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Zero-Downtime Guarantee: </a:t>
            </a:r>
            <a:r>
              <a:rPr sz="1100">
                <a:solidFill>
                  <a:srgbClr val="94A3B8"/>
                </a:solidFill>
                <a:latin typeface="Calibri"/>
              </a:rPr>
              <a:t>If the GEMINI_API_KEY is unset, rate-limited, or network unreachable, regex-based deterministic fallbacks kick in instantly.</a:t>
            </a:r>
          </a:p>
          <a:p>
            <a:pPr>
              <a:spcBef>
                <a:spcPts val="400"/>
              </a:spcBef>
            </a:pPr>
            <a:r>
              <a:rPr sz="1100" b="1">
                <a:solidFill>
                  <a:srgbClr val="F8FAFC"/>
                </a:solidFill>
                <a:latin typeface="Calibri"/>
              </a:rPr>
              <a:t>•  Bounded Confidence Scoring: </a:t>
            </a:r>
            <a:r>
              <a:rPr sz="1100">
                <a:solidFill>
                  <a:srgbClr val="94A3B8"/>
                </a:solidFill>
                <a:latin typeface="Calibri"/>
              </a:rPr>
              <a:t>Every AI response returns an overall_confidence score (0.00 to 1.00). If confidence &lt; 0.60, the UI warns agents to verify advice.</a:t>
            </a:r>
          </a:p>
          <a:p>
            <a:pPr>
              <a:spcBef>
                <a:spcPts val="400"/>
              </a:spcBef>
            </a:pPr>
            <a:r>
              <a:rPr sz="1100" b="1">
                <a:solidFill>
                  <a:srgbClr val="F8FAFC"/>
                </a:solidFill>
                <a:latin typeface="Calibri"/>
              </a:rPr>
              <a:t>•  Pytest Test Coverage: </a:t>
            </a:r>
            <a:r>
              <a:rPr sz="1100">
                <a:solidFill>
                  <a:srgbClr val="94A3B8"/>
                </a:solidFill>
                <a:latin typeface="Calibri"/>
              </a:rPr>
              <a:t>test_ai_features.py and test_triage.py validate 100% of triage, auto-reply, tone-polish, and fallback functions (28/28 passing).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PROMPT ENGINEERING &amp; DATASETS</a:t>
            </a:r>
          </a:p>
        </p:txBody>
      </p:sp>
      <p:sp>
        <p:nvSpPr>
          <p:cNvPr id="4" name="Rounded Rectangle 3"/>
          <p:cNvSpPr/>
          <p:nvPr/>
        </p:nvSpPr>
        <p:spPr>
          <a:xfrm>
            <a:off x="7315200" y="365760"/>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(Roll No. 23CO76)</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Prompt Engineering &amp; Ground-Truth Dataset Benchmarks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Grounding LLM reasoning in Kaggle &amp; Hugging Face benchmarks to eliminate hallucinations.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20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525780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800600" cy="320040"/>
          </a:xfrm>
          <a:prstGeom prst="rect">
            <a:avLst/>
          </a:prstGeom>
          <a:noFill/>
        </p:spPr>
        <p:txBody>
          <a:bodyPr wrap="square" lIns="0" tIns="0" rIns="0" bIns="0">
            <a:spAutoFit/>
          </a:bodyPr>
          <a:lstStyle/>
          <a:p>
            <a:pPr>
              <a:defRPr sz="1250" b="1">
                <a:solidFill>
                  <a:srgbClr val="F8FAFC"/>
                </a:solidFill>
                <a:latin typeface="Calibri"/>
              </a:defRPr>
            </a:pPr>
            <a:r>
              <a:t>Customer Support Ticket Dataset (Kaggle)</a:t>
            </a:r>
          </a:p>
          <a:p>
            <a:pPr>
              <a:defRPr sz="950">
                <a:solidFill>
                  <a:srgbClr val="94A3B8"/>
                </a:solidFill>
                <a:latin typeface="Calibri"/>
              </a:defRPr>
            </a:pPr>
            <a:r>
              <a:t>Local CSV (customer_support_tickets.csv)</a:t>
            </a:r>
          </a:p>
        </p:txBody>
      </p:sp>
      <p:sp>
        <p:nvSpPr>
          <p:cNvPr id="12" name="TextBox 11"/>
          <p:cNvSpPr txBox="1"/>
          <p:nvPr/>
        </p:nvSpPr>
        <p:spPr>
          <a:xfrm>
            <a:off x="960120" y="2331720"/>
            <a:ext cx="4800600" cy="640080"/>
          </a:xfrm>
          <a:prstGeom prst="rect">
            <a:avLst/>
          </a:prstGeom>
          <a:noFill/>
        </p:spPr>
        <p:txBody>
          <a:bodyPr wrap="square" lIns="0" tIns="0" rIns="0" bIns="0">
            <a:spAutoFit/>
          </a:bodyPr>
          <a:lstStyle/>
          <a:p>
            <a:pPr>
              <a:defRPr sz="950">
                <a:solidFill>
                  <a:srgbClr val="94A3B8"/>
                </a:solidFill>
                <a:latin typeface="Calibri"/>
              </a:defRPr>
            </a:pPr>
            <a:r>
              <a:t>Provides historical SLA resolution durations (e.g. Billing: 1-2 days, Tech: 2-3 days), priority distributions, and dynamic few-shot examples.</a:t>
            </a:r>
          </a:p>
        </p:txBody>
      </p:sp>
      <p:sp>
        <p:nvSpPr>
          <p:cNvPr id="13" name="Rounded Rectangle 12"/>
          <p:cNvSpPr/>
          <p:nvPr/>
        </p:nvSpPr>
        <p:spPr>
          <a:xfrm>
            <a:off x="6172200" y="1737360"/>
            <a:ext cx="525780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920240"/>
            <a:ext cx="4800600" cy="320040"/>
          </a:xfrm>
          <a:prstGeom prst="rect">
            <a:avLst/>
          </a:prstGeom>
          <a:noFill/>
        </p:spPr>
        <p:txBody>
          <a:bodyPr wrap="square" lIns="0" tIns="0" rIns="0" bIns="0">
            <a:spAutoFit/>
          </a:bodyPr>
          <a:lstStyle/>
          <a:p>
            <a:pPr>
              <a:defRPr sz="1250" b="1">
                <a:solidFill>
                  <a:srgbClr val="F8FAFC"/>
                </a:solidFill>
                <a:latin typeface="Calibri"/>
              </a:defRPr>
            </a:pPr>
            <a:r>
              <a:t>Twitter Customer Support - TWCS (Kaggle)</a:t>
            </a:r>
          </a:p>
          <a:p>
            <a:pPr>
              <a:defRPr sz="950">
                <a:solidFill>
                  <a:srgbClr val="94A3B8"/>
                </a:solidFill>
                <a:latin typeface="Calibri"/>
              </a:defRPr>
            </a:pPr>
            <a:r>
              <a:t>Local CSV (twcs.csv &amp; sample.csv)</a:t>
            </a:r>
          </a:p>
        </p:txBody>
      </p:sp>
      <p:sp>
        <p:nvSpPr>
          <p:cNvPr id="15" name="TextBox 14"/>
          <p:cNvSpPr txBox="1"/>
          <p:nvPr/>
        </p:nvSpPr>
        <p:spPr>
          <a:xfrm>
            <a:off x="6400800" y="2331720"/>
            <a:ext cx="4800600" cy="640080"/>
          </a:xfrm>
          <a:prstGeom prst="rect">
            <a:avLst/>
          </a:prstGeom>
          <a:noFill/>
        </p:spPr>
        <p:txBody>
          <a:bodyPr wrap="square" lIns="0" tIns="0" rIns="0" bIns="0">
            <a:spAutoFit/>
          </a:bodyPr>
          <a:lstStyle/>
          <a:p>
            <a:pPr>
              <a:defRPr sz="950">
                <a:solidFill>
                  <a:srgbClr val="94A3B8"/>
                </a:solidFill>
                <a:latin typeface="Calibri"/>
              </a:defRPr>
            </a:pPr>
            <a:r>
              <a:t>Supplies real-world multi-turn conversational tone, corporate de-escalation patterns, and empathetic customer phrasing.</a:t>
            </a:r>
          </a:p>
        </p:txBody>
      </p:sp>
      <p:sp>
        <p:nvSpPr>
          <p:cNvPr id="16" name="Rounded Rectangle 15"/>
          <p:cNvSpPr/>
          <p:nvPr/>
        </p:nvSpPr>
        <p:spPr>
          <a:xfrm>
            <a:off x="731520" y="3154680"/>
            <a:ext cx="525780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337560"/>
            <a:ext cx="4800600" cy="320040"/>
          </a:xfrm>
          <a:prstGeom prst="rect">
            <a:avLst/>
          </a:prstGeom>
          <a:noFill/>
        </p:spPr>
        <p:txBody>
          <a:bodyPr wrap="square" lIns="0" tIns="0" rIns="0" bIns="0">
            <a:spAutoFit/>
          </a:bodyPr>
          <a:lstStyle/>
          <a:p>
            <a:pPr>
              <a:defRPr sz="1250" b="1">
                <a:solidFill>
                  <a:srgbClr val="F8FAFC"/>
                </a:solidFill>
                <a:latin typeface="Calibri"/>
              </a:defRPr>
            </a:pPr>
            <a:r>
              <a:t>Bitext Customer Support (Hugging Face)</a:t>
            </a:r>
          </a:p>
          <a:p>
            <a:pPr>
              <a:defRPr sz="950">
                <a:solidFill>
                  <a:srgbClr val="94A3B8"/>
                </a:solidFill>
                <a:latin typeface="Calibri"/>
              </a:defRPr>
            </a:pPr>
            <a:r>
              <a:t>Zero-disk streaming (streaming=True)</a:t>
            </a:r>
          </a:p>
        </p:txBody>
      </p:sp>
      <p:sp>
        <p:nvSpPr>
          <p:cNvPr id="18" name="TextBox 17"/>
          <p:cNvSpPr txBox="1"/>
          <p:nvPr/>
        </p:nvSpPr>
        <p:spPr>
          <a:xfrm>
            <a:off x="960120" y="3749040"/>
            <a:ext cx="4800600" cy="640080"/>
          </a:xfrm>
          <a:prstGeom prst="rect">
            <a:avLst/>
          </a:prstGeom>
          <a:noFill/>
        </p:spPr>
        <p:txBody>
          <a:bodyPr wrap="square" lIns="0" tIns="0" rIns="0" bIns="0">
            <a:spAutoFit/>
          </a:bodyPr>
          <a:lstStyle/>
          <a:p>
            <a:pPr>
              <a:defRPr sz="950">
                <a:solidFill>
                  <a:srgbClr val="94A3B8"/>
                </a:solidFill>
                <a:latin typeface="Calibri"/>
              </a:defRPr>
            </a:pPr>
            <a:r>
              <a:t>Calibrates enterprise category intent classification for billing, refunds, and technical inquiries in real time.</a:t>
            </a:r>
          </a:p>
        </p:txBody>
      </p:sp>
      <p:sp>
        <p:nvSpPr>
          <p:cNvPr id="19" name="Rounded Rectangle 18"/>
          <p:cNvSpPr/>
          <p:nvPr/>
        </p:nvSpPr>
        <p:spPr>
          <a:xfrm>
            <a:off x="6172200" y="3154680"/>
            <a:ext cx="525780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337560"/>
            <a:ext cx="4800600" cy="320040"/>
          </a:xfrm>
          <a:prstGeom prst="rect">
            <a:avLst/>
          </a:prstGeom>
          <a:noFill/>
        </p:spPr>
        <p:txBody>
          <a:bodyPr wrap="square" lIns="0" tIns="0" rIns="0" bIns="0">
            <a:spAutoFit/>
          </a:bodyPr>
          <a:lstStyle/>
          <a:p>
            <a:pPr>
              <a:defRPr sz="1250" b="1">
                <a:solidFill>
                  <a:srgbClr val="F8FAFC"/>
                </a:solidFill>
                <a:latin typeface="Calibri"/>
              </a:defRPr>
            </a:pPr>
            <a:r>
              <a:t>Google GoEmotions &amp; SAMSum (Hugging Face)</a:t>
            </a:r>
          </a:p>
          <a:p>
            <a:pPr>
              <a:defRPr sz="950">
                <a:solidFill>
                  <a:srgbClr val="94A3B8"/>
                </a:solidFill>
                <a:latin typeface="Calibri"/>
              </a:defRPr>
            </a:pPr>
            <a:r>
              <a:t>Zero-disk streaming (streaming=True)</a:t>
            </a:r>
          </a:p>
        </p:txBody>
      </p:sp>
      <p:sp>
        <p:nvSpPr>
          <p:cNvPr id="21" name="TextBox 20"/>
          <p:cNvSpPr txBox="1"/>
          <p:nvPr/>
        </p:nvSpPr>
        <p:spPr>
          <a:xfrm>
            <a:off x="6400800" y="3749040"/>
            <a:ext cx="4800600" cy="640080"/>
          </a:xfrm>
          <a:prstGeom prst="rect">
            <a:avLst/>
          </a:prstGeom>
          <a:noFill/>
        </p:spPr>
        <p:txBody>
          <a:bodyPr wrap="square" lIns="0" tIns="0" rIns="0" bIns="0">
            <a:spAutoFit/>
          </a:bodyPr>
          <a:lstStyle/>
          <a:p>
            <a:pPr>
              <a:defRPr sz="950">
                <a:solidFill>
                  <a:srgbClr val="94A3B8"/>
                </a:solidFill>
                <a:latin typeface="Calibri"/>
              </a:defRPr>
            </a:pPr>
            <a:r>
              <a:t>Calibrates customer mood boundaries (Happy, Neutral, Frustrated) and multi-turn conversation condensation benchmarks.</a:t>
            </a:r>
          </a:p>
        </p:txBody>
      </p:sp>
      <p:sp>
        <p:nvSpPr>
          <p:cNvPr id="22" name="Rounded Rectangle 21"/>
          <p:cNvSpPr/>
          <p:nvPr/>
        </p:nvSpPr>
        <p:spPr>
          <a:xfrm>
            <a:off x="731520" y="4709160"/>
            <a:ext cx="10728655" cy="14630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892040"/>
            <a:ext cx="10271455" cy="320040"/>
          </a:xfrm>
          <a:prstGeom prst="rect">
            <a:avLst/>
          </a:prstGeom>
          <a:noFill/>
        </p:spPr>
        <p:txBody>
          <a:bodyPr wrap="square" lIns="0" tIns="0" rIns="0" bIns="0">
            <a:spAutoFit/>
          </a:bodyPr>
          <a:lstStyle/>
          <a:p>
            <a:pPr>
              <a:defRPr sz="1250" b="1">
                <a:solidFill>
                  <a:srgbClr val="F8FAFC"/>
                </a:solidFill>
                <a:latin typeface="Calibri"/>
              </a:defRPr>
            </a:pPr>
            <a:r>
              <a:t>Specialized ~40-Line System Prompts &amp; Anti-Gaming Decoupling</a:t>
            </a:r>
          </a:p>
          <a:p>
            <a:pPr>
              <a:defRPr sz="950">
                <a:solidFill>
                  <a:srgbClr val="94A3B8"/>
                </a:solidFill>
                <a:latin typeface="Calibri"/>
              </a:defRPr>
            </a:pPr>
            <a:r>
              <a:t>templates.py prompt architecture</a:t>
            </a:r>
          </a:p>
        </p:txBody>
      </p:sp>
      <p:sp>
        <p:nvSpPr>
          <p:cNvPr id="24" name="TextBox 23"/>
          <p:cNvSpPr txBox="1"/>
          <p:nvPr/>
        </p:nvSpPr>
        <p:spPr>
          <a:xfrm>
            <a:off x="914400" y="5212080"/>
            <a:ext cx="10332720" cy="868680"/>
          </a:xfrm>
          <a:prstGeom prst="rect">
            <a:avLst/>
          </a:prstGeom>
          <a:noFill/>
        </p:spPr>
        <p:txBody>
          <a:bodyPr wrap="square" lIns="0" tIns="0" rIns="0" bIns="0">
            <a:spAutoFit/>
          </a:bodyPr>
          <a:lstStyle/>
          <a:p>
            <a:pPr>
              <a:spcBef>
                <a:spcPts val="200"/>
              </a:spcBef>
            </a:pPr>
            <a:r>
              <a:rPr sz="1000" b="1">
                <a:solidFill>
                  <a:srgbClr val="F8FAFC"/>
                </a:solidFill>
                <a:latin typeface="Calibri"/>
              </a:rPr>
              <a:t>•  8 Domain-Specific Personas: </a:t>
            </a:r>
            <a:r>
              <a:rPr sz="1000">
                <a:solidFill>
                  <a:srgbClr val="94A3B8"/>
                </a:solidFill>
                <a:latin typeface="Calibri"/>
              </a:rPr>
              <a:t>Senior Triage Officer, Communications Stylist, Empathy Lead, Incident Historian, QA Director, and Knowledge Base Architect.</a:t>
            </a:r>
          </a:p>
          <a:p>
            <a:pPr>
              <a:spcBef>
                <a:spcPts val="200"/>
              </a:spcBef>
            </a:pPr>
            <a:r>
              <a:rPr sz="1000" b="1">
                <a:solidFill>
                  <a:srgbClr val="F8FAFC"/>
                </a:solidFill>
                <a:latin typeface="Calibri"/>
              </a:rPr>
              <a:t>•  Anti-Gaming Urgency Filter: </a:t>
            </a:r>
            <a:r>
              <a:rPr sz="1000">
                <a:solidFill>
                  <a:srgbClr val="94A3B8"/>
                </a:solidFill>
                <a:latin typeface="Calibri"/>
              </a:rPr>
              <a:t>Prompt explicitly decouples shouting ('URGENT', 'EMERGENCY', exclamation marks) from technical SLA priority. Captures genuine emotional distress in customer_mood while determining priority strictly by business impact.</a:t>
            </a:r>
          </a:p>
          <a:p>
            <a:pPr>
              <a:spcBef>
                <a:spcPts val="200"/>
              </a:spcBef>
            </a:pPr>
            <a:r>
              <a:rPr sz="1000" b="1">
                <a:solidFill>
                  <a:srgbClr val="F8FAFC"/>
                </a:solidFill>
                <a:latin typeface="Calibri"/>
              </a:rPr>
              <a:t>•  Structured Checklists: </a:t>
            </a:r>
            <a:r>
              <a:rPr sz="1000">
                <a:solidFill>
                  <a:srgbClr val="94A3B8"/>
                </a:solidFill>
                <a:latin typeface="Calibri"/>
              </a:rPr>
              <a:t>Directs Gemini to generate 3–5 specific diagnostic checkboxes based on typical category resolution workflows.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AUTOMATION &amp; SUMMARIES</a:t>
            </a:r>
          </a:p>
        </p:txBody>
      </p:sp>
      <p:sp>
        <p:nvSpPr>
          <p:cNvPr id="4" name="Rounded Rectangle 3"/>
          <p:cNvSpPr/>
          <p:nvPr/>
        </p:nvSpPr>
        <p:spPr>
          <a:xfrm>
            <a:off x="7315200" y="365760"/>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(Roll No. 23CO76)</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Department Automated Responses &amp; Async Timeline Summaries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Accelerating First Response Time while eliminating context blindness on reopened tickets.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21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5257800" cy="4389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800600" cy="320040"/>
          </a:xfrm>
          <a:prstGeom prst="rect">
            <a:avLst/>
          </a:prstGeom>
          <a:noFill/>
        </p:spPr>
        <p:txBody>
          <a:bodyPr wrap="square" lIns="0" tIns="0" rIns="0" bIns="0">
            <a:spAutoFit/>
          </a:bodyPr>
          <a:lstStyle/>
          <a:p>
            <a:pPr>
              <a:defRPr sz="1250" b="1">
                <a:solidFill>
                  <a:srgbClr val="F8FAFC"/>
                </a:solidFill>
                <a:latin typeface="Calibri"/>
              </a:defRPr>
            </a:pPr>
            <a:r>
              <a:t>1. Autonomous Department Auto-Replies</a:t>
            </a:r>
          </a:p>
          <a:p>
            <a:pPr>
              <a:defRPr sz="950">
                <a:solidFill>
                  <a:srgbClr val="94A3B8"/>
                </a:solidFill>
                <a:latin typeface="Calibri"/>
              </a:defRPr>
            </a:pPr>
            <a:r>
              <a:t>Instant confirmation &amp; automated action triggers</a:t>
            </a:r>
          </a:p>
        </p:txBody>
      </p:sp>
      <p:sp>
        <p:nvSpPr>
          <p:cNvPr id="12" name="Rounded Rectangle 11"/>
          <p:cNvSpPr/>
          <p:nvPr/>
        </p:nvSpPr>
        <p:spPr>
          <a:xfrm>
            <a:off x="822959" y="2286000"/>
            <a:ext cx="5074920" cy="2788920"/>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epartments_live.png"/>
          <p:cNvPicPr>
            <a:picLocks noChangeAspect="1"/>
          </p:cNvPicPr>
          <p:nvPr/>
        </p:nvPicPr>
        <p:blipFill>
          <a:blip r:embed="rId2"/>
          <a:stretch>
            <a:fillRect/>
          </a:stretch>
        </p:blipFill>
        <p:spPr>
          <a:xfrm>
            <a:off x="868680" y="2331720"/>
            <a:ext cx="4983480" cy="2468880"/>
          </a:xfrm>
          <a:prstGeom prst="rect">
            <a:avLst/>
          </a:prstGeom>
        </p:spPr>
      </p:pic>
      <p:sp>
        <p:nvSpPr>
          <p:cNvPr id="14" name="TextBox 13"/>
          <p:cNvSpPr txBox="1"/>
          <p:nvPr/>
        </p:nvSpPr>
        <p:spPr>
          <a:xfrm>
            <a:off x="868680" y="4818888"/>
            <a:ext cx="4983480" cy="274320"/>
          </a:xfrm>
          <a:prstGeom prst="rect">
            <a:avLst/>
          </a:prstGeom>
          <a:noFill/>
        </p:spPr>
        <p:txBody>
          <a:bodyPr wrap="square" lIns="0" tIns="0" rIns="0" bIns="0">
            <a:spAutoFit/>
          </a:bodyPr>
          <a:lstStyle/>
          <a:p>
            <a:pPr algn="ctr">
              <a:defRPr sz="900">
                <a:solidFill>
                  <a:srgbClr val="38BDF8"/>
                </a:solidFill>
                <a:latin typeface="Calibri"/>
              </a:defRPr>
            </a:pPr>
            <a:r>
              <a:t>Live Production: 4 Core Departmental Routing Policies on Render (DepartmentsPage.jsx)</a:t>
            </a:r>
          </a:p>
        </p:txBody>
      </p:sp>
      <p:sp>
        <p:nvSpPr>
          <p:cNvPr id="15" name="TextBox 14"/>
          <p:cNvSpPr txBox="1"/>
          <p:nvPr/>
        </p:nvSpPr>
        <p:spPr>
          <a:xfrm>
            <a:off x="914400" y="5029200"/>
            <a:ext cx="4892040" cy="1005840"/>
          </a:xfrm>
          <a:prstGeom prst="rect">
            <a:avLst/>
          </a:prstGeom>
          <a:noFill/>
        </p:spPr>
        <p:txBody>
          <a:bodyPr wrap="square" lIns="0" tIns="0" rIns="0" bIns="0">
            <a:spAutoFit/>
          </a:bodyPr>
          <a:lstStyle/>
          <a:p>
            <a:pPr>
              <a:spcBef>
                <a:spcPts val="200"/>
              </a:spcBef>
            </a:pPr>
            <a:r>
              <a:rPr sz="950" b="1">
                <a:solidFill>
                  <a:srgbClr val="F8FAFC"/>
                </a:solidFill>
                <a:latin typeface="Calibri"/>
              </a:rPr>
              <a:t>•  4 Department Policies: </a:t>
            </a:r>
            <a:r>
              <a:rPr sz="950">
                <a:solidFill>
                  <a:srgbClr val="94A3B8"/>
                </a:solidFill>
                <a:latin typeface="Calibri"/>
              </a:rPr>
              <a:t>Tech Support (80%), Billing (85%), Identity (90%), API (85%).</a:t>
            </a:r>
          </a:p>
          <a:p>
            <a:pPr>
              <a:spcBef>
                <a:spcPts val="200"/>
              </a:spcBef>
            </a:pPr>
            <a:r>
              <a:rPr sz="950" b="1">
                <a:solidFill>
                  <a:srgbClr val="F8FAFC"/>
                </a:solidFill>
                <a:latin typeface="Calibri"/>
              </a:rPr>
              <a:t>•  Automated Diagnostics: </a:t>
            </a:r>
            <a:r>
              <a:rPr sz="950">
                <a:solidFill>
                  <a:srgbClr val="94A3B8"/>
                </a:solidFill>
                <a:latin typeface="Calibri"/>
              </a:rPr>
              <a:t>Dispatches instant confirmations and traces gateway/telemetry logs.</a:t>
            </a:r>
          </a:p>
        </p:txBody>
      </p:sp>
      <p:sp>
        <p:nvSpPr>
          <p:cNvPr id="16" name="Rounded Rectangle 15"/>
          <p:cNvSpPr/>
          <p:nvPr/>
        </p:nvSpPr>
        <p:spPr>
          <a:xfrm>
            <a:off x="6172200" y="1737360"/>
            <a:ext cx="5257800" cy="4389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20240"/>
            <a:ext cx="4800600" cy="320040"/>
          </a:xfrm>
          <a:prstGeom prst="rect">
            <a:avLst/>
          </a:prstGeom>
          <a:noFill/>
        </p:spPr>
        <p:txBody>
          <a:bodyPr wrap="square" lIns="0" tIns="0" rIns="0" bIns="0">
            <a:spAutoFit/>
          </a:bodyPr>
          <a:lstStyle/>
          <a:p>
            <a:pPr>
              <a:defRPr sz="1250" b="1">
                <a:solidFill>
                  <a:srgbClr val="F8FAFC"/>
                </a:solidFill>
                <a:latin typeface="Calibri"/>
              </a:defRPr>
            </a:pPr>
            <a:r>
              <a:t>2. Reopened Ticket Timeline Summarizer</a:t>
            </a:r>
          </a:p>
          <a:p>
            <a:pPr>
              <a:defRPr sz="950">
                <a:solidFill>
                  <a:srgbClr val="94A3B8"/>
                </a:solidFill>
                <a:latin typeface="Calibri"/>
              </a:defRPr>
            </a:pPr>
            <a:r>
              <a:t>SCRUM-113 Async Fire-and-Forget Worker</a:t>
            </a:r>
          </a:p>
        </p:txBody>
      </p:sp>
      <p:sp>
        <p:nvSpPr>
          <p:cNvPr id="18" name="TextBox 17"/>
          <p:cNvSpPr txBox="1"/>
          <p:nvPr/>
        </p:nvSpPr>
        <p:spPr>
          <a:xfrm>
            <a:off x="6355080" y="2377440"/>
            <a:ext cx="4892040" cy="3474720"/>
          </a:xfrm>
          <a:prstGeom prst="rect">
            <a:avLst/>
          </a:prstGeom>
          <a:noFill/>
        </p:spPr>
        <p:txBody>
          <a:bodyPr wrap="square" lIns="0" tIns="0" rIns="0" bIns="0">
            <a:spAutoFit/>
          </a:bodyPr>
          <a:lstStyle/>
          <a:p>
            <a:pPr>
              <a:spcBef>
                <a:spcPts val="600"/>
              </a:spcBef>
            </a:pPr>
            <a:r>
              <a:rPr sz="1050" b="1">
                <a:solidFill>
                  <a:srgbClr val="F8FAFC"/>
                </a:solidFill>
                <a:latin typeface="Calibri"/>
              </a:rPr>
              <a:t>•  Fire-and-Forget Background Job: </a:t>
            </a:r>
            <a:r>
              <a:rPr sz="1050">
                <a:solidFill>
                  <a:srgbClr val="94A3B8"/>
                </a:solidFill>
                <a:latin typeface="Calibri"/>
              </a:rPr>
              <a:t>Triggered asynchronously whenever a ticket transition occurs from RESOLVED to OPEN. Non-blocking response returns HTTP 200 immediately to the agent.</a:t>
            </a:r>
          </a:p>
          <a:p>
            <a:pPr>
              <a:spcBef>
                <a:spcPts val="600"/>
              </a:spcBef>
            </a:pPr>
            <a:r>
              <a:rPr sz="1050" b="1">
                <a:solidFill>
                  <a:srgbClr val="F8FAFC"/>
                </a:solidFill>
                <a:latin typeface="Calibri"/>
              </a:rPr>
              <a:t>•  Thread Condensation: </a:t>
            </a:r>
            <a:r>
              <a:rPr sz="1050">
                <a:solidFill>
                  <a:srgbClr val="94A3B8"/>
                </a:solidFill>
                <a:latin typeface="Calibri"/>
              </a:rPr>
              <a:t>Queries Gemini with TIMELINE_SUMMARIZER_ROLE_PROMPT to condense 20+ past messages into a chronological 5-6 bullet executive summary.</a:t>
            </a:r>
          </a:p>
          <a:p>
            <a:pPr>
              <a:spcBef>
                <a:spcPts val="600"/>
              </a:spcBef>
            </a:pPr>
            <a:r>
              <a:rPr sz="1050" b="1">
                <a:solidFill>
                  <a:srgbClr val="F8FAFC"/>
                </a:solidFill>
                <a:latin typeface="Calibri"/>
              </a:rPr>
              <a:t>•  Prominent Banner Rendering: </a:t>
            </a:r>
            <a:r>
              <a:rPr sz="1050">
                <a:solidFill>
                  <a:srgbClr val="94A3B8"/>
                </a:solidFill>
                <a:latin typeface="Calibri"/>
              </a:rPr>
              <a:t>Stored in ai_metadata.timeline_summary and rendered as an executive TL;DR banner at the top of the ticket workbench.</a:t>
            </a:r>
          </a:p>
          <a:p>
            <a:pPr>
              <a:spcBef>
                <a:spcPts val="600"/>
              </a:spcBef>
            </a:pPr>
            <a:r>
              <a:rPr sz="1050" b="1">
                <a:solidFill>
                  <a:srgbClr val="F8FAFC"/>
                </a:solidFill>
                <a:latin typeface="Calibri"/>
              </a:rPr>
              <a:t>•  15+ Minutes Saved: </a:t>
            </a:r>
            <a:r>
              <a:rPr sz="1050">
                <a:solidFill>
                  <a:srgbClr val="94A3B8"/>
                </a:solidFill>
                <a:latin typeface="Calibri"/>
              </a:rPr>
              <a:t>Eliminates context blindness; newly assigned agents grasp full ticket history in 30 seconds.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DEVOPS &amp; CLOUD DEPLOYMENT</a:t>
            </a:r>
          </a:p>
        </p:txBody>
      </p:sp>
      <p:sp>
        <p:nvSpPr>
          <p:cNvPr id="4" name="Rounded Rectangle 3"/>
          <p:cNvSpPr/>
          <p:nvPr/>
        </p:nvSpPr>
        <p:spPr>
          <a:xfrm>
            <a:off x="7315200" y="365760"/>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Docker Multi-Stage Containers, Render Blueprint &amp; CI/CD</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Production cloud deployment on Render and Supabase with automated GitHub Actions CI/CD.</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22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1188720"/>
          </a:xfrm>
          <a:prstGeom prst="rect">
            <a:avLst/>
          </a:prstGeom>
          <a:noFill/>
        </p:spPr>
        <p:txBody>
          <a:bodyPr wrap="square" lIns="0" tIns="0" rIns="0" bIns="0">
            <a:spAutoFit/>
          </a:bodyPr>
          <a:lstStyle/>
          <a:p>
            <a:pPr>
              <a:defRPr sz="3200" b="1">
                <a:solidFill>
                  <a:srgbClr val="3B82F6"/>
                </a:solidFill>
                <a:latin typeface="Calibri"/>
              </a:defRPr>
            </a:pPr>
            <a:r>
              <a:t>1 Command</a:t>
            </a:r>
          </a:p>
          <a:p>
            <a:pPr>
              <a:spcBef>
                <a:spcPts val="400"/>
              </a:spcBef>
              <a:defRPr sz="1200" b="1">
                <a:solidFill>
                  <a:srgbClr val="F8FAFC"/>
                </a:solidFill>
                <a:latin typeface="Calibri"/>
              </a:defRPr>
            </a:pPr>
            <a:r>
              <a:t>Local Docker Boot</a:t>
            </a:r>
          </a:p>
          <a:p>
            <a:pPr>
              <a:spcBef>
                <a:spcPts val="300"/>
              </a:spcBef>
              <a:defRPr sz="950">
                <a:solidFill>
                  <a:srgbClr val="94A3B8"/>
                </a:solidFill>
                <a:latin typeface="Calibri"/>
              </a:defRPr>
            </a:pPr>
            <a:r>
              <a:t>docker compose up -d launches all 4 tiers in under 45 seconds</a:t>
            </a:r>
          </a:p>
        </p:txBody>
      </p:sp>
      <p:sp>
        <p:nvSpPr>
          <p:cNvPr id="12" name="Rounded Rectangle 11"/>
          <p:cNvSpPr/>
          <p:nvPr/>
        </p:nvSpPr>
        <p:spPr>
          <a:xfrm>
            <a:off x="342900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74519"/>
            <a:ext cx="2148840" cy="1188720"/>
          </a:xfrm>
          <a:prstGeom prst="rect">
            <a:avLst/>
          </a:prstGeom>
          <a:noFill/>
        </p:spPr>
        <p:txBody>
          <a:bodyPr wrap="square" lIns="0" tIns="0" rIns="0" bIns="0">
            <a:spAutoFit/>
          </a:bodyPr>
          <a:lstStyle/>
          <a:p>
            <a:pPr>
              <a:defRPr sz="3200" b="1">
                <a:solidFill>
                  <a:srgbClr val="38BDF8"/>
                </a:solidFill>
                <a:latin typeface="Calibri"/>
              </a:defRPr>
            </a:pPr>
            <a:r>
              <a:t>1-Click</a:t>
            </a:r>
          </a:p>
          <a:p>
            <a:pPr>
              <a:spcBef>
                <a:spcPts val="400"/>
              </a:spcBef>
              <a:defRPr sz="1200" b="1">
                <a:solidFill>
                  <a:srgbClr val="F8FAFC"/>
                </a:solidFill>
                <a:latin typeface="Calibri"/>
              </a:defRPr>
            </a:pPr>
            <a:r>
              <a:t>Render Blueprint</a:t>
            </a:r>
          </a:p>
          <a:p>
            <a:pPr>
              <a:spcBef>
                <a:spcPts val="300"/>
              </a:spcBef>
              <a:defRPr sz="950">
                <a:solidFill>
                  <a:srgbClr val="94A3B8"/>
                </a:solidFill>
                <a:latin typeface="Calibri"/>
              </a:defRPr>
            </a:pPr>
            <a:r>
              <a:t>render.yaml provisions PostgreSQL, Express, FastAPI, and Vite SPA</a:t>
            </a:r>
          </a:p>
        </p:txBody>
      </p:sp>
      <p:sp>
        <p:nvSpPr>
          <p:cNvPr id="14" name="Rounded Rectangle 13"/>
          <p:cNvSpPr/>
          <p:nvPr/>
        </p:nvSpPr>
        <p:spPr>
          <a:xfrm>
            <a:off x="612648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148840" cy="1188720"/>
          </a:xfrm>
          <a:prstGeom prst="rect">
            <a:avLst/>
          </a:prstGeom>
          <a:noFill/>
        </p:spPr>
        <p:txBody>
          <a:bodyPr wrap="square" lIns="0" tIns="0" rIns="0" bIns="0">
            <a:spAutoFit/>
          </a:bodyPr>
          <a:lstStyle/>
          <a:p>
            <a:pPr>
              <a:defRPr sz="3200" b="1">
                <a:solidFill>
                  <a:srgbClr val="10B981"/>
                </a:solidFill>
                <a:latin typeface="Calibri"/>
              </a:defRPr>
            </a:pPr>
            <a:r>
              <a:t>100%</a:t>
            </a:r>
          </a:p>
          <a:p>
            <a:pPr>
              <a:spcBef>
                <a:spcPts val="400"/>
              </a:spcBef>
              <a:defRPr sz="1200" b="1">
                <a:solidFill>
                  <a:srgbClr val="F8FAFC"/>
                </a:solidFill>
                <a:latin typeface="Calibri"/>
              </a:defRPr>
            </a:pPr>
            <a:r>
              <a:t>CI/CD Pass Rate</a:t>
            </a:r>
          </a:p>
          <a:p>
            <a:pPr>
              <a:spcBef>
                <a:spcPts val="300"/>
              </a:spcBef>
              <a:defRPr sz="950">
                <a:solidFill>
                  <a:srgbClr val="94A3B8"/>
                </a:solidFill>
                <a:latin typeface="Calibri"/>
              </a:defRPr>
            </a:pPr>
            <a:r>
              <a:t>GitHub Actions validates Jest, Pytest, and Vite build on every PR</a:t>
            </a:r>
          </a:p>
        </p:txBody>
      </p:sp>
      <p:sp>
        <p:nvSpPr>
          <p:cNvPr id="16" name="Rounded Rectangle 15"/>
          <p:cNvSpPr/>
          <p:nvPr/>
        </p:nvSpPr>
        <p:spPr>
          <a:xfrm>
            <a:off x="8823960" y="1737360"/>
            <a:ext cx="251460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874519"/>
            <a:ext cx="2148840" cy="1188720"/>
          </a:xfrm>
          <a:prstGeom prst="rect">
            <a:avLst/>
          </a:prstGeom>
          <a:noFill/>
        </p:spPr>
        <p:txBody>
          <a:bodyPr wrap="square" lIns="0" tIns="0" rIns="0" bIns="0">
            <a:spAutoFit/>
          </a:bodyPr>
          <a:lstStyle/>
          <a:p>
            <a:pPr>
              <a:defRPr sz="3200" b="1">
                <a:solidFill>
                  <a:srgbClr val="F59E0B"/>
                </a:solidFill>
                <a:latin typeface="Calibri"/>
              </a:defRPr>
            </a:pPr>
            <a:r>
              <a:t>SSL Ready</a:t>
            </a:r>
          </a:p>
          <a:p>
            <a:pPr>
              <a:spcBef>
                <a:spcPts val="400"/>
              </a:spcBef>
              <a:defRPr sz="1200" b="1">
                <a:solidFill>
                  <a:srgbClr val="F8FAFC"/>
                </a:solidFill>
                <a:latin typeface="Calibri"/>
              </a:defRPr>
            </a:pPr>
            <a:r>
              <a:t>Cloud Infrastructure</a:t>
            </a:r>
          </a:p>
          <a:p>
            <a:pPr>
              <a:spcBef>
                <a:spcPts val="300"/>
              </a:spcBef>
              <a:defRPr sz="950">
                <a:solidFill>
                  <a:srgbClr val="94A3B8"/>
                </a:solidFill>
                <a:latin typeface="Calibri"/>
              </a:defRPr>
            </a:pPr>
            <a:r>
              <a:t>Full HTTPS encryption across all endpoints and Supabase database</a:t>
            </a:r>
          </a:p>
        </p:txBody>
      </p:sp>
      <p:sp>
        <p:nvSpPr>
          <p:cNvPr id="18" name="Rounded Rectangle 17"/>
          <p:cNvSpPr/>
          <p:nvPr/>
        </p:nvSpPr>
        <p:spPr>
          <a:xfrm>
            <a:off x="73152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11880"/>
            <a:ext cx="4800600" cy="320040"/>
          </a:xfrm>
          <a:prstGeom prst="rect">
            <a:avLst/>
          </a:prstGeom>
          <a:noFill/>
        </p:spPr>
        <p:txBody>
          <a:bodyPr wrap="square" lIns="0" tIns="0" rIns="0" bIns="0">
            <a:spAutoFit/>
          </a:bodyPr>
          <a:lstStyle/>
          <a:p>
            <a:pPr>
              <a:defRPr sz="1250" b="1">
                <a:solidFill>
                  <a:srgbClr val="F8FAFC"/>
                </a:solidFill>
                <a:latin typeface="Calibri"/>
              </a:defRPr>
            </a:pPr>
            <a:r>
              <a:t>Docker Multi-Stage Containerization</a:t>
            </a:r>
          </a:p>
          <a:p>
            <a:pPr>
              <a:defRPr sz="950">
                <a:solidFill>
                  <a:srgbClr val="94A3B8"/>
                </a:solidFill>
                <a:latin typeface="Calibri"/>
              </a:defRPr>
            </a:pPr>
            <a:r>
              <a:t>Optimized production container images</a:t>
            </a:r>
          </a:p>
        </p:txBody>
      </p:sp>
      <p:sp>
        <p:nvSpPr>
          <p:cNvPr id="20" name="TextBox 19"/>
          <p:cNvSpPr txBox="1"/>
          <p:nvPr/>
        </p:nvSpPr>
        <p:spPr>
          <a:xfrm>
            <a:off x="91440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Frontend Container (frontend/Dockerfile): </a:t>
            </a:r>
            <a:r>
              <a:rPr sz="1100">
                <a:solidFill>
                  <a:srgbClr val="94A3B8"/>
                </a:solidFill>
                <a:latin typeface="Calibri"/>
              </a:rPr>
              <a:t>Multi-stage build: compiles Vite bundle and serves static assets via Nginx Alpine (final image &lt; 25 MB).</a:t>
            </a:r>
          </a:p>
          <a:p>
            <a:pPr>
              <a:spcBef>
                <a:spcPts val="400"/>
              </a:spcBef>
            </a:pPr>
            <a:r>
              <a:rPr sz="1100" b="1">
                <a:solidFill>
                  <a:srgbClr val="F8FAFC"/>
                </a:solidFill>
                <a:latin typeface="Calibri"/>
              </a:rPr>
              <a:t>•  Backend Container (backend/Dockerfile): </a:t>
            </a:r>
            <a:r>
              <a:rPr sz="1100">
                <a:solidFill>
                  <a:srgbClr val="94A3B8"/>
                </a:solidFill>
                <a:latin typeface="Calibri"/>
              </a:rPr>
              <a:t>Node.js 18 Alpine runtime with npm prune --production for minimal image footprint (140 MB).</a:t>
            </a:r>
          </a:p>
          <a:p>
            <a:pPr>
              <a:spcBef>
                <a:spcPts val="400"/>
              </a:spcBef>
            </a:pPr>
            <a:r>
              <a:rPr sz="1100" b="1">
                <a:solidFill>
                  <a:srgbClr val="F8FAFC"/>
                </a:solidFill>
                <a:latin typeface="Calibri"/>
              </a:rPr>
              <a:t>•  AI Microservice (ai-service/Dockerfile): </a:t>
            </a:r>
            <a:r>
              <a:rPr sz="1100">
                <a:solidFill>
                  <a:srgbClr val="94A3B8"/>
                </a:solidFill>
                <a:latin typeface="Calibri"/>
              </a:rPr>
              <a:t>Python 3.10 slim base with cached wheels and non-root execution (210 MB).</a:t>
            </a:r>
          </a:p>
          <a:p>
            <a:pPr>
              <a:spcBef>
                <a:spcPts val="400"/>
              </a:spcBef>
            </a:pPr>
            <a:r>
              <a:rPr sz="1100" b="1">
                <a:solidFill>
                  <a:srgbClr val="F8FAFC"/>
                </a:solidFill>
                <a:latin typeface="Calibri"/>
              </a:rPr>
              <a:t>•  Docker Compose (deployment/docker-compose.yml): </a:t>
            </a:r>
            <a:r>
              <a:rPr sz="1100">
                <a:solidFill>
                  <a:srgbClr val="94A3B8"/>
                </a:solidFill>
                <a:latin typeface="Calibri"/>
              </a:rPr>
              <a:t>Orchestrates database, backend, AI microservice, and frontend on unified bridge network.</a:t>
            </a:r>
          </a:p>
        </p:txBody>
      </p:sp>
      <p:sp>
        <p:nvSpPr>
          <p:cNvPr id="21" name="Rounded Rectangle 20"/>
          <p:cNvSpPr/>
          <p:nvPr/>
        </p:nvSpPr>
        <p:spPr>
          <a:xfrm>
            <a:off x="6172200" y="3429000"/>
            <a:ext cx="5257800"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11880"/>
            <a:ext cx="4800600" cy="320040"/>
          </a:xfrm>
          <a:prstGeom prst="rect">
            <a:avLst/>
          </a:prstGeom>
          <a:noFill/>
        </p:spPr>
        <p:txBody>
          <a:bodyPr wrap="square" lIns="0" tIns="0" rIns="0" bIns="0">
            <a:spAutoFit/>
          </a:bodyPr>
          <a:lstStyle/>
          <a:p>
            <a:pPr>
              <a:defRPr sz="1250" b="1">
                <a:solidFill>
                  <a:srgbClr val="F8FAFC"/>
                </a:solidFill>
                <a:latin typeface="Calibri"/>
              </a:defRPr>
            </a:pPr>
            <a:r>
              <a:t>Render Blueprint Orchestration &amp; CI/CD</a:t>
            </a:r>
          </a:p>
          <a:p>
            <a:pPr>
              <a:defRPr sz="950">
                <a:solidFill>
                  <a:srgbClr val="94A3B8"/>
                </a:solidFill>
                <a:latin typeface="Calibri"/>
              </a:defRPr>
            </a:pPr>
            <a:r>
              <a:t>render.yaml Blueprint specification</a:t>
            </a:r>
          </a:p>
        </p:txBody>
      </p:sp>
      <p:sp>
        <p:nvSpPr>
          <p:cNvPr id="23" name="TextBox 22"/>
          <p:cNvSpPr txBox="1"/>
          <p:nvPr/>
        </p:nvSpPr>
        <p:spPr>
          <a:xfrm>
            <a:off x="6355080" y="4023360"/>
            <a:ext cx="4846320" cy="2011680"/>
          </a:xfrm>
          <a:prstGeom prst="rect">
            <a:avLst/>
          </a:prstGeom>
          <a:noFill/>
        </p:spPr>
        <p:txBody>
          <a:bodyPr wrap="square" lIns="0" tIns="0" rIns="0" bIns="0">
            <a:spAutoFit/>
          </a:bodyPr>
          <a:lstStyle/>
          <a:p>
            <a:pPr>
              <a:spcBef>
                <a:spcPts val="400"/>
              </a:spcBef>
            </a:pPr>
            <a:r>
              <a:rPr sz="1100" b="1">
                <a:solidFill>
                  <a:srgbClr val="F8FAFC"/>
                </a:solidFill>
                <a:latin typeface="Calibri"/>
              </a:rPr>
              <a:t>•  Render Blueprint (render.yaml): </a:t>
            </a:r>
            <a:r>
              <a:rPr sz="1100">
                <a:solidFill>
                  <a:srgbClr val="94A3B8"/>
                </a:solidFill>
                <a:latin typeface="Calibri"/>
              </a:rPr>
              <a:t>Defines production web services for Express backend, FastAPI microservice, React frontend, and managed PostgreSQL.</a:t>
            </a:r>
          </a:p>
          <a:p>
            <a:pPr>
              <a:spcBef>
                <a:spcPts val="400"/>
              </a:spcBef>
            </a:pPr>
            <a:r>
              <a:rPr sz="1100" b="1">
                <a:solidFill>
                  <a:srgbClr val="F8FAFC"/>
                </a:solidFill>
                <a:latin typeface="Calibri"/>
              </a:rPr>
              <a:t>•  GitHub Actions Pipeline (.github/workflows/ci.yml): </a:t>
            </a:r>
            <a:r>
              <a:rPr sz="1100">
                <a:solidFill>
                  <a:srgbClr val="94A3B8"/>
                </a:solidFill>
                <a:latin typeface="Calibri"/>
              </a:rPr>
              <a:t>Spins up live postgres:15-alpine container, seeds database, and executes Jest, Supertest, and Pytest suites in parallel.</a:t>
            </a:r>
          </a:p>
          <a:p>
            <a:pPr>
              <a:spcBef>
                <a:spcPts val="400"/>
              </a:spcBef>
            </a:pPr>
            <a:r>
              <a:rPr sz="1100" b="1">
                <a:solidFill>
                  <a:srgbClr val="F8FAFC"/>
                </a:solidFill>
                <a:latin typeface="Calibri"/>
              </a:rPr>
              <a:t>•  Zero Downtime Delivery: </a:t>
            </a:r>
            <a:r>
              <a:rPr sz="1100">
                <a:solidFill>
                  <a:srgbClr val="94A3B8"/>
                </a:solidFill>
                <a:latin typeface="Calibri"/>
              </a:rPr>
              <a:t>Automated health checks (/health) ensure services only receive traffic after complete database initialization.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SYSTEM ARCHITECTURE</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System Architecture</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End-to-End System Architecture &amp; Component Interaction</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The complete 3-tier micro-architecture connecting clients, REST APIs, databases, and AI microservices.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23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pic>
        <p:nvPicPr>
          <p:cNvPr id="10" name="Picture 9" descr="docs_system_architecture.png"/>
          <p:cNvPicPr>
            <a:picLocks noChangeAspect="1"/>
          </p:cNvPicPr>
          <p:nvPr/>
        </p:nvPicPr>
        <p:blipFill>
          <a:blip r:embed="rId2"/>
          <a:stretch>
            <a:fillRect/>
          </a:stretch>
        </p:blipFill>
        <p:spPr>
          <a:xfrm>
            <a:off x="731520" y="1737360"/>
            <a:ext cx="6583680" cy="3887506"/>
          </a:xfrm>
          <a:prstGeom prst="rect">
            <a:avLst/>
          </a:prstGeom>
        </p:spPr>
      </p:pic>
      <p:sp>
        <p:nvSpPr>
          <p:cNvPr id="11" name="Rounded Rectangle 10"/>
          <p:cNvSpPr/>
          <p:nvPr/>
        </p:nvSpPr>
        <p:spPr>
          <a:xfrm>
            <a:off x="7498079" y="1737360"/>
            <a:ext cx="3962095"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1920240"/>
            <a:ext cx="3504895" cy="320040"/>
          </a:xfrm>
          <a:prstGeom prst="rect">
            <a:avLst/>
          </a:prstGeom>
          <a:noFill/>
        </p:spPr>
        <p:txBody>
          <a:bodyPr wrap="square" lIns="0" tIns="0" rIns="0" bIns="0">
            <a:spAutoFit/>
          </a:bodyPr>
          <a:lstStyle/>
          <a:p>
            <a:pPr>
              <a:defRPr sz="1250" b="1">
                <a:solidFill>
                  <a:srgbClr val="F8FAFC"/>
                </a:solidFill>
                <a:latin typeface="Calibri"/>
              </a:defRPr>
            </a:pPr>
            <a:r>
              <a:t>Architectural Flow Breakdown</a:t>
            </a:r>
          </a:p>
          <a:p>
            <a:pPr>
              <a:defRPr sz="950">
                <a:solidFill>
                  <a:srgbClr val="94A3B8"/>
                </a:solidFill>
                <a:latin typeface="Calibri"/>
              </a:defRPr>
            </a:pPr>
            <a:r>
              <a:t>4 Interconnected Tiers</a:t>
            </a:r>
          </a:p>
        </p:txBody>
      </p:sp>
      <p:sp>
        <p:nvSpPr>
          <p:cNvPr id="13" name="TextBox 12"/>
          <p:cNvSpPr txBox="1"/>
          <p:nvPr/>
        </p:nvSpPr>
        <p:spPr>
          <a:xfrm>
            <a:off x="7726679" y="2286000"/>
            <a:ext cx="3520440" cy="3657600"/>
          </a:xfrm>
          <a:prstGeom prst="rect">
            <a:avLst/>
          </a:prstGeom>
          <a:noFill/>
        </p:spPr>
        <p:txBody>
          <a:bodyPr wrap="square" lIns="0" tIns="0" rIns="0" bIns="0">
            <a:spAutoFit/>
          </a:bodyPr>
          <a:lstStyle/>
          <a:p>
            <a:pPr>
              <a:spcBef>
                <a:spcPts val="600"/>
              </a:spcBef>
            </a:pPr>
            <a:r>
              <a:rPr sz="1050" b="1">
                <a:solidFill>
                  <a:srgbClr val="F8FAFC"/>
                </a:solidFill>
                <a:latin typeface="Calibri"/>
              </a:rPr>
              <a:t>•  Tier 1: Client SPA: </a:t>
            </a:r>
            <a:r>
              <a:rPr sz="1050">
                <a:solidFill>
                  <a:srgbClr val="94A3B8"/>
                </a:solidFill>
                <a:latin typeface="Calibri"/>
              </a:rPr>
              <a:t>React 18 + Vite Single Page Application rendering dual-pane workbench, customer portal, and AI drawer.</a:t>
            </a:r>
          </a:p>
          <a:p>
            <a:pPr>
              <a:spcBef>
                <a:spcPts val="600"/>
              </a:spcBef>
            </a:pPr>
            <a:r>
              <a:rPr sz="1050" b="1">
                <a:solidFill>
                  <a:srgbClr val="F8FAFC"/>
                </a:solidFill>
                <a:latin typeface="Calibri"/>
              </a:rPr>
              <a:t>•  Tier 2: Application Core: </a:t>
            </a:r>
            <a:r>
              <a:rPr sz="1050">
                <a:solidFill>
                  <a:srgbClr val="94A3B8"/>
                </a:solidFill>
                <a:latin typeface="Calibri"/>
              </a:rPr>
              <a:t>Node.js &amp; Express REST server managing JWT authentication, state transitions, transactions, and AI proxy routing.</a:t>
            </a:r>
          </a:p>
          <a:p>
            <a:pPr>
              <a:spcBef>
                <a:spcPts val="600"/>
              </a:spcBef>
            </a:pPr>
            <a:r>
              <a:rPr sz="1050" b="1">
                <a:solidFill>
                  <a:srgbClr val="F8FAFC"/>
                </a:solidFill>
                <a:latin typeface="Calibri"/>
              </a:rPr>
              <a:t>•  Tier 3: Database Engine: </a:t>
            </a:r>
            <a:r>
              <a:rPr sz="1050">
                <a:solidFill>
                  <a:srgbClr val="94A3B8"/>
                </a:solidFill>
                <a:latin typeface="Calibri"/>
              </a:rPr>
              <a:t>PostgreSQL 15 / Supabase Cloud storing relational tables with connection pooling and B-tree indexes.</a:t>
            </a:r>
          </a:p>
          <a:p>
            <a:pPr>
              <a:spcBef>
                <a:spcPts val="600"/>
              </a:spcBef>
            </a:pPr>
            <a:r>
              <a:rPr sz="1050" b="1">
                <a:solidFill>
                  <a:srgbClr val="F8FAFC"/>
                </a:solidFill>
                <a:latin typeface="Calibri"/>
              </a:rPr>
              <a:t>•  Tier 4: AI Microservice: </a:t>
            </a:r>
            <a:r>
              <a:rPr sz="1050">
                <a:solidFill>
                  <a:srgbClr val="94A3B8"/>
                </a:solidFill>
                <a:latin typeface="Calibri"/>
              </a:rPr>
              <a:t>Python FastAPI microservice executing role-based prompts with Google Gemini 1.5 Flash.</a:t>
            </a:r>
          </a:p>
          <a:p>
            <a:pPr>
              <a:spcBef>
                <a:spcPts val="600"/>
              </a:spcBef>
            </a:pPr>
            <a:r>
              <a:rPr sz="1050" b="1">
                <a:solidFill>
                  <a:srgbClr val="F8FAFC"/>
                </a:solidFill>
                <a:latin typeface="Calibri"/>
              </a:rPr>
              <a:t>•  Data Grounding: </a:t>
            </a:r>
            <a:r>
              <a:rPr sz="1050">
                <a:solidFill>
                  <a:srgbClr val="94A3B8"/>
                </a:solidFill>
                <a:latin typeface="Calibri"/>
              </a:rPr>
              <a:t>Kaggle historical CSVs and Hugging Face streaming datasets calibrating triage accuracy and SLAs.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EMPIRICAL EVALUATION</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Empirical Evaluation</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Empirical Proof: Benchmarks &amp; Performance Metrics</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Rigorous data proving accuracy, latency, and test pass rates across 100 benchmark scenarios.</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24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pic>
        <p:nvPicPr>
          <p:cNvPr id="10" name="Picture 9" descr="docs_performance_metrics.png"/>
          <p:cNvPicPr>
            <a:picLocks noChangeAspect="1"/>
          </p:cNvPicPr>
          <p:nvPr/>
        </p:nvPicPr>
        <p:blipFill>
          <a:blip r:embed="rId2"/>
          <a:stretch>
            <a:fillRect/>
          </a:stretch>
        </p:blipFill>
        <p:spPr>
          <a:xfrm>
            <a:off x="731520" y="1737360"/>
            <a:ext cx="5120640" cy="2887409"/>
          </a:xfrm>
          <a:prstGeom prst="rect">
            <a:avLst/>
          </a:prstGeom>
        </p:spPr>
      </p:pic>
      <p:graphicFrame>
        <p:nvGraphicFramePr>
          <p:cNvPr id="11" name="Table 10"/>
          <p:cNvGraphicFramePr>
            <a:graphicFrameLocks noGrp="1"/>
          </p:cNvGraphicFramePr>
          <p:nvPr/>
        </p:nvGraphicFramePr>
        <p:xfrm>
          <a:off x="6035040" y="1737360"/>
          <a:ext cx="5425135" cy="4389120"/>
        </p:xfrm>
        <a:graphic>
          <a:graphicData uri="http://schemas.openxmlformats.org/drawingml/2006/table">
            <a:tbl>
              <a:tblPr firstRow="1" bandRow="1">
                <a:tableStyleId>{5C22544A-7EE6-4342-B048-85BDC9FD1C3A}</a:tableStyleId>
              </a:tblPr>
              <a:tblGrid>
                <a:gridCol w="1371600"/>
                <a:gridCol w="1280160"/>
                <a:gridCol w="731520"/>
                <a:gridCol w="1218895"/>
                <a:gridCol w="822960"/>
              </a:tblGrid>
              <a:tr h="548640">
                <a:tc>
                  <a:txBody>
                    <a:bodyPr/>
                    <a:lstStyle/>
                    <a:p>
                      <a:pPr algn="l">
                        <a:defRPr sz="1100" b="1">
                          <a:solidFill>
                            <a:srgbClr val="F8FAFC"/>
                          </a:solidFill>
                          <a:latin typeface="Calibri"/>
                        </a:defRPr>
                      </a:pPr>
                      <a:r>
                        <a:t>AI Feature / Capability</a:t>
                      </a:r>
                    </a:p>
                  </a:txBody>
                  <a:tcPr anchor="ctr">
                    <a:solidFill>
                      <a:srgbClr val="1E3A8A"/>
                    </a:solidFill>
                  </a:tcPr>
                </a:tc>
                <a:tc>
                  <a:txBody>
                    <a:bodyPr/>
                    <a:lstStyle/>
                    <a:p>
                      <a:pPr algn="l">
                        <a:defRPr sz="1100" b="1">
                          <a:solidFill>
                            <a:srgbClr val="F8FAFC"/>
                          </a:solidFill>
                          <a:latin typeface="Calibri"/>
                        </a:defRPr>
                      </a:pPr>
                      <a:r>
                        <a:t>Benchmark Dataset</a:t>
                      </a:r>
                    </a:p>
                  </a:txBody>
                  <a:tcPr anchor="ctr">
                    <a:solidFill>
                      <a:srgbClr val="1E3A8A"/>
                    </a:solidFill>
                  </a:tcPr>
                </a:tc>
                <a:tc>
                  <a:txBody>
                    <a:bodyPr/>
                    <a:lstStyle/>
                    <a:p>
                      <a:pPr algn="l">
                        <a:defRPr sz="1100" b="1">
                          <a:solidFill>
                            <a:srgbClr val="F8FAFC"/>
                          </a:solidFill>
                          <a:latin typeface="Calibri"/>
                        </a:defRPr>
                      </a:pPr>
                      <a:r>
                        <a:t>Sample Size</a:t>
                      </a:r>
                    </a:p>
                  </a:txBody>
                  <a:tcPr anchor="ctr">
                    <a:solidFill>
                      <a:srgbClr val="1E3A8A"/>
                    </a:solidFill>
                  </a:tcPr>
                </a:tc>
                <a:tc>
                  <a:txBody>
                    <a:bodyPr/>
                    <a:lstStyle/>
                    <a:p>
                      <a:pPr algn="l">
                        <a:defRPr sz="1100" b="1">
                          <a:solidFill>
                            <a:srgbClr val="F8FAFC"/>
                          </a:solidFill>
                          <a:latin typeface="Calibri"/>
                        </a:defRPr>
                      </a:pPr>
                      <a:r>
                        <a:t>Accuracy / Metric</a:t>
                      </a:r>
                    </a:p>
                  </a:txBody>
                  <a:tcPr anchor="ctr">
                    <a:solidFill>
                      <a:srgbClr val="1E3A8A"/>
                    </a:solidFill>
                  </a:tcPr>
                </a:tc>
                <a:tc>
                  <a:txBody>
                    <a:bodyPr/>
                    <a:lstStyle/>
                    <a:p>
                      <a:pPr algn="l">
                        <a:defRPr sz="1100" b="1">
                          <a:solidFill>
                            <a:srgbClr val="F8FAFC"/>
                          </a:solidFill>
                          <a:latin typeface="Calibri"/>
                        </a:defRPr>
                      </a:pPr>
                      <a:r>
                        <a:t>Avg Latency</a:t>
                      </a:r>
                    </a:p>
                  </a:txBody>
                  <a:tcPr anchor="ctr">
                    <a:solidFill>
                      <a:srgbClr val="1E3A8A"/>
                    </a:solidFill>
                  </a:tcPr>
                </a:tc>
              </a:tr>
              <a:tr h="548640">
                <a:tc>
                  <a:txBody>
                    <a:bodyPr/>
                    <a:lstStyle/>
                    <a:p>
                      <a:pPr algn="l">
                        <a:defRPr sz="1000">
                          <a:solidFill>
                            <a:srgbClr val="F8FAFC"/>
                          </a:solidFill>
                          <a:latin typeface="Calibri"/>
                        </a:defRPr>
                      </a:pPr>
                      <a:r>
                        <a:t>Ticket Classification</a:t>
                      </a:r>
                    </a:p>
                  </a:txBody>
                  <a:tcPr anchor="ctr">
                    <a:solidFill>
                      <a:srgbClr val="1E293B"/>
                    </a:solidFill>
                  </a:tcPr>
                </a:tc>
                <a:tc>
                  <a:txBody>
                    <a:bodyPr/>
                    <a:lstStyle/>
                    <a:p>
                      <a:pPr algn="l">
                        <a:defRPr sz="1000">
                          <a:solidFill>
                            <a:srgbClr val="94A3B8"/>
                          </a:solidFill>
                          <a:latin typeface="Calibri"/>
                        </a:defRPr>
                      </a:pPr>
                      <a:r>
                        <a:t>Kaggle Customer Support</a:t>
                      </a:r>
                    </a:p>
                  </a:txBody>
                  <a:tcPr anchor="ctr">
                    <a:solidFill>
                      <a:srgbClr val="1E293B"/>
                    </a:solidFill>
                  </a:tcPr>
                </a:tc>
                <a:tc>
                  <a:txBody>
                    <a:bodyPr/>
                    <a:lstStyle/>
                    <a:p>
                      <a:pPr algn="l">
                        <a:defRPr sz="1000">
                          <a:solidFill>
                            <a:srgbClr val="94A3B8"/>
                          </a:solidFill>
                          <a:latin typeface="Calibri"/>
                        </a:defRPr>
                      </a:pPr>
                      <a:r>
                        <a:t>100 tickets</a:t>
                      </a:r>
                    </a:p>
                  </a:txBody>
                  <a:tcPr anchor="ctr">
                    <a:solidFill>
                      <a:srgbClr val="1E293B"/>
                    </a:solidFill>
                  </a:tcPr>
                </a:tc>
                <a:tc>
                  <a:txBody>
                    <a:bodyPr/>
                    <a:lstStyle/>
                    <a:p>
                      <a:pPr algn="l">
                        <a:defRPr sz="1000">
                          <a:solidFill>
                            <a:srgbClr val="94A3B8"/>
                          </a:solidFill>
                          <a:latin typeface="Calibri"/>
                        </a:defRPr>
                      </a:pPr>
                      <a:r>
                        <a:t>96.0% category match</a:t>
                      </a:r>
                    </a:p>
                  </a:txBody>
                  <a:tcPr anchor="ctr">
                    <a:solidFill>
                      <a:srgbClr val="1E293B"/>
                    </a:solidFill>
                  </a:tcPr>
                </a:tc>
                <a:tc>
                  <a:txBody>
                    <a:bodyPr/>
                    <a:lstStyle/>
                    <a:p>
                      <a:pPr algn="l">
                        <a:defRPr sz="1000">
                          <a:solidFill>
                            <a:srgbClr val="94A3B8"/>
                          </a:solidFill>
                          <a:latin typeface="Calibri"/>
                        </a:defRPr>
                      </a:pPr>
                      <a:r>
                        <a:t>420 ms</a:t>
                      </a:r>
                    </a:p>
                  </a:txBody>
                  <a:tcPr anchor="ctr">
                    <a:solidFill>
                      <a:srgbClr val="1E293B"/>
                    </a:solidFill>
                  </a:tcPr>
                </a:tc>
              </a:tr>
              <a:tr h="548640">
                <a:tc>
                  <a:txBody>
                    <a:bodyPr/>
                    <a:lstStyle/>
                    <a:p>
                      <a:pPr algn="l">
                        <a:defRPr sz="1000">
                          <a:solidFill>
                            <a:srgbClr val="F8FAFC"/>
                          </a:solidFill>
                          <a:latin typeface="Calibri"/>
                        </a:defRPr>
                      </a:pPr>
                      <a:r>
                        <a:t>Customer Mood Detection</a:t>
                      </a:r>
                    </a:p>
                  </a:txBody>
                  <a:tcPr anchor="ctr">
                    <a:solidFill>
                      <a:srgbClr val="182234"/>
                    </a:solidFill>
                  </a:tcPr>
                </a:tc>
                <a:tc>
                  <a:txBody>
                    <a:bodyPr/>
                    <a:lstStyle/>
                    <a:p>
                      <a:pPr algn="l">
                        <a:defRPr sz="1000">
                          <a:solidFill>
                            <a:srgbClr val="94A3B8"/>
                          </a:solidFill>
                          <a:latin typeface="Calibri"/>
                        </a:defRPr>
                      </a:pPr>
                      <a:r>
                        <a:t>Hugging Face GoEmotions</a:t>
                      </a:r>
                    </a:p>
                  </a:txBody>
                  <a:tcPr anchor="ctr">
                    <a:solidFill>
                      <a:srgbClr val="182234"/>
                    </a:solidFill>
                  </a:tcPr>
                </a:tc>
                <a:tc>
                  <a:txBody>
                    <a:bodyPr/>
                    <a:lstStyle/>
                    <a:p>
                      <a:pPr algn="l">
                        <a:defRPr sz="1000">
                          <a:solidFill>
                            <a:srgbClr val="94A3B8"/>
                          </a:solidFill>
                          <a:latin typeface="Calibri"/>
                        </a:defRPr>
                      </a:pPr>
                      <a:r>
                        <a:t>100 messages</a:t>
                      </a:r>
                    </a:p>
                  </a:txBody>
                  <a:tcPr anchor="ctr">
                    <a:solidFill>
                      <a:srgbClr val="182234"/>
                    </a:solidFill>
                  </a:tcPr>
                </a:tc>
                <a:tc>
                  <a:txBody>
                    <a:bodyPr/>
                    <a:lstStyle/>
                    <a:p>
                      <a:pPr algn="l">
                        <a:defRPr sz="1000">
                          <a:solidFill>
                            <a:srgbClr val="94A3B8"/>
                          </a:solidFill>
                          <a:latin typeface="Calibri"/>
                        </a:defRPr>
                      </a:pPr>
                      <a:r>
                        <a:t>94.0% mood alignment</a:t>
                      </a:r>
                    </a:p>
                  </a:txBody>
                  <a:tcPr anchor="ctr">
                    <a:solidFill>
                      <a:srgbClr val="182234"/>
                    </a:solidFill>
                  </a:tcPr>
                </a:tc>
                <a:tc>
                  <a:txBody>
                    <a:bodyPr/>
                    <a:lstStyle/>
                    <a:p>
                      <a:pPr algn="l">
                        <a:defRPr sz="1000">
                          <a:solidFill>
                            <a:srgbClr val="94A3B8"/>
                          </a:solidFill>
                          <a:latin typeface="Calibri"/>
                        </a:defRPr>
                      </a:pPr>
                      <a:r>
                        <a:t>380 ms</a:t>
                      </a:r>
                    </a:p>
                  </a:txBody>
                  <a:tcPr anchor="ctr">
                    <a:solidFill>
                      <a:srgbClr val="182234"/>
                    </a:solidFill>
                  </a:tcPr>
                </a:tc>
              </a:tr>
              <a:tr h="548640">
                <a:tc>
                  <a:txBody>
                    <a:bodyPr/>
                    <a:lstStyle/>
                    <a:p>
                      <a:pPr algn="l">
                        <a:defRPr sz="1000">
                          <a:solidFill>
                            <a:srgbClr val="F8FAFC"/>
                          </a:solidFill>
                          <a:latin typeface="Calibri"/>
                        </a:defRPr>
                      </a:pPr>
                      <a:r>
                        <a:t>Patience Guardrail</a:t>
                      </a:r>
                    </a:p>
                  </a:txBody>
                  <a:tcPr anchor="ctr">
                    <a:solidFill>
                      <a:srgbClr val="1E293B"/>
                    </a:solidFill>
                  </a:tcPr>
                </a:tc>
                <a:tc>
                  <a:txBody>
                    <a:bodyPr/>
                    <a:lstStyle/>
                    <a:p>
                      <a:pPr algn="l">
                        <a:defRPr sz="1000">
                          <a:solidFill>
                            <a:srgbClr val="94A3B8"/>
                          </a:solidFill>
                          <a:latin typeface="Calibri"/>
                        </a:defRPr>
                      </a:pPr>
                      <a:r>
                        <a:t>Kaggle Twitter Support</a:t>
                      </a:r>
                    </a:p>
                  </a:txBody>
                  <a:tcPr anchor="ctr">
                    <a:solidFill>
                      <a:srgbClr val="1E293B"/>
                    </a:solidFill>
                  </a:tcPr>
                </a:tc>
                <a:tc>
                  <a:txBody>
                    <a:bodyPr/>
                    <a:lstStyle/>
                    <a:p>
                      <a:pPr algn="l">
                        <a:defRPr sz="1000">
                          <a:solidFill>
                            <a:srgbClr val="94A3B8"/>
                          </a:solidFill>
                          <a:latin typeface="Calibri"/>
                        </a:defRPr>
                      </a:pPr>
                      <a:r>
                        <a:t>80 dialogues</a:t>
                      </a:r>
                    </a:p>
                  </a:txBody>
                  <a:tcPr anchor="ctr">
                    <a:solidFill>
                      <a:srgbClr val="1E293B"/>
                    </a:solidFill>
                  </a:tcPr>
                </a:tc>
                <a:tc>
                  <a:txBody>
                    <a:bodyPr/>
                    <a:lstStyle/>
                    <a:p>
                      <a:pPr algn="l">
                        <a:defRPr sz="1000">
                          <a:solidFill>
                            <a:srgbClr val="94A3B8"/>
                          </a:solidFill>
                          <a:latin typeface="Calibri"/>
                        </a:defRPr>
                      </a:pPr>
                      <a:r>
                        <a:t>91.2% score calibration</a:t>
                      </a:r>
                    </a:p>
                  </a:txBody>
                  <a:tcPr anchor="ctr">
                    <a:solidFill>
                      <a:srgbClr val="1E293B"/>
                    </a:solidFill>
                  </a:tcPr>
                </a:tc>
                <a:tc>
                  <a:txBody>
                    <a:bodyPr/>
                    <a:lstStyle/>
                    <a:p>
                      <a:pPr algn="l">
                        <a:defRPr sz="1000">
                          <a:solidFill>
                            <a:srgbClr val="94A3B8"/>
                          </a:solidFill>
                          <a:latin typeface="Calibri"/>
                        </a:defRPr>
                      </a:pPr>
                      <a:r>
                        <a:t>390 ms</a:t>
                      </a:r>
                    </a:p>
                  </a:txBody>
                  <a:tcPr anchor="ctr">
                    <a:solidFill>
                      <a:srgbClr val="1E293B"/>
                    </a:solidFill>
                  </a:tcPr>
                </a:tc>
              </a:tr>
              <a:tr h="548640">
                <a:tc>
                  <a:txBody>
                    <a:bodyPr/>
                    <a:lstStyle/>
                    <a:p>
                      <a:pPr algn="l">
                        <a:defRPr sz="1000">
                          <a:solidFill>
                            <a:srgbClr val="F8FAFC"/>
                          </a:solidFill>
                          <a:latin typeface="Calibri"/>
                        </a:defRPr>
                      </a:pPr>
                      <a:r>
                        <a:t>Resolution Forecasting</a:t>
                      </a:r>
                    </a:p>
                  </a:txBody>
                  <a:tcPr anchor="ctr">
                    <a:solidFill>
                      <a:srgbClr val="182234"/>
                    </a:solidFill>
                  </a:tcPr>
                </a:tc>
                <a:tc>
                  <a:txBody>
                    <a:bodyPr/>
                    <a:lstStyle/>
                    <a:p>
                      <a:pPr algn="l">
                        <a:defRPr sz="1000">
                          <a:solidFill>
                            <a:srgbClr val="94A3B8"/>
                          </a:solidFill>
                          <a:latin typeface="Calibri"/>
                        </a:defRPr>
                      </a:pPr>
                      <a:r>
                        <a:t>Kaggle SLA Records</a:t>
                      </a:r>
                    </a:p>
                  </a:txBody>
                  <a:tcPr anchor="ctr">
                    <a:solidFill>
                      <a:srgbClr val="182234"/>
                    </a:solidFill>
                  </a:tcPr>
                </a:tc>
                <a:tc>
                  <a:txBody>
                    <a:bodyPr/>
                    <a:lstStyle/>
                    <a:p>
                      <a:pPr algn="l">
                        <a:defRPr sz="1000">
                          <a:solidFill>
                            <a:srgbClr val="94A3B8"/>
                          </a:solidFill>
                          <a:latin typeface="Calibri"/>
                        </a:defRPr>
                      </a:pPr>
                      <a:r>
                        <a:t>100 tickets</a:t>
                      </a:r>
                    </a:p>
                  </a:txBody>
                  <a:tcPr anchor="ctr">
                    <a:solidFill>
                      <a:srgbClr val="182234"/>
                    </a:solidFill>
                  </a:tcPr>
                </a:tc>
                <a:tc>
                  <a:txBody>
                    <a:bodyPr/>
                    <a:lstStyle/>
                    <a:p>
                      <a:pPr algn="l">
                        <a:defRPr sz="1000">
                          <a:solidFill>
                            <a:srgbClr val="94A3B8"/>
                          </a:solidFill>
                          <a:latin typeface="Calibri"/>
                        </a:defRPr>
                      </a:pPr>
                      <a:r>
                        <a:t>89.5% timeframe accuracy</a:t>
                      </a:r>
                    </a:p>
                  </a:txBody>
                  <a:tcPr anchor="ctr">
                    <a:solidFill>
                      <a:srgbClr val="182234"/>
                    </a:solidFill>
                  </a:tcPr>
                </a:tc>
                <a:tc>
                  <a:txBody>
                    <a:bodyPr/>
                    <a:lstStyle/>
                    <a:p>
                      <a:pPr algn="l">
                        <a:defRPr sz="1000">
                          <a:solidFill>
                            <a:srgbClr val="94A3B8"/>
                          </a:solidFill>
                          <a:latin typeface="Calibri"/>
                        </a:defRPr>
                      </a:pPr>
                      <a:r>
                        <a:t>410 ms</a:t>
                      </a:r>
                    </a:p>
                  </a:txBody>
                  <a:tcPr anchor="ctr">
                    <a:solidFill>
                      <a:srgbClr val="182234"/>
                    </a:solidFill>
                  </a:tcPr>
                </a:tc>
              </a:tr>
              <a:tr h="548640">
                <a:tc>
                  <a:txBody>
                    <a:bodyPr/>
                    <a:lstStyle/>
                    <a:p>
                      <a:pPr algn="l">
                        <a:defRPr sz="1000">
                          <a:solidFill>
                            <a:srgbClr val="F8FAFC"/>
                          </a:solidFill>
                          <a:latin typeface="Calibri"/>
                        </a:defRPr>
                      </a:pPr>
                      <a:r>
                        <a:t>TTL Response Cache</a:t>
                      </a:r>
                    </a:p>
                  </a:txBody>
                  <a:tcPr anchor="ctr">
                    <a:solidFill>
                      <a:srgbClr val="1E293B"/>
                    </a:solidFill>
                  </a:tcPr>
                </a:tc>
                <a:tc>
                  <a:txBody>
                    <a:bodyPr/>
                    <a:lstStyle/>
                    <a:p>
                      <a:pPr algn="l">
                        <a:defRPr sz="1000">
                          <a:solidFill>
                            <a:srgbClr val="94A3B8"/>
                          </a:solidFill>
                          <a:latin typeface="Calibri"/>
                        </a:defRPr>
                      </a:pPr>
                      <a:r>
                        <a:t>SHA-256 In-Memory Cache</a:t>
                      </a:r>
                    </a:p>
                  </a:txBody>
                  <a:tcPr anchor="ctr">
                    <a:solidFill>
                      <a:srgbClr val="1E293B"/>
                    </a:solidFill>
                  </a:tcPr>
                </a:tc>
                <a:tc>
                  <a:txBody>
                    <a:bodyPr/>
                    <a:lstStyle/>
                    <a:p>
                      <a:pPr algn="l">
                        <a:defRPr sz="1000">
                          <a:solidFill>
                            <a:srgbClr val="94A3B8"/>
                          </a:solidFill>
                          <a:latin typeface="Calibri"/>
                        </a:defRPr>
                      </a:pPr>
                      <a:r>
                        <a:t>500 requests</a:t>
                      </a:r>
                    </a:p>
                  </a:txBody>
                  <a:tcPr anchor="ctr">
                    <a:solidFill>
                      <a:srgbClr val="1E293B"/>
                    </a:solidFill>
                  </a:tcPr>
                </a:tc>
                <a:tc>
                  <a:txBody>
                    <a:bodyPr/>
                    <a:lstStyle/>
                    <a:p>
                      <a:pPr algn="l">
                        <a:defRPr sz="1000">
                          <a:solidFill>
                            <a:srgbClr val="94A3B8"/>
                          </a:solidFill>
                          <a:latin typeface="Calibri"/>
                        </a:defRPr>
                      </a:pPr>
                      <a:r>
                        <a:t>100% cache hit precision</a:t>
                      </a:r>
                    </a:p>
                  </a:txBody>
                  <a:tcPr anchor="ctr">
                    <a:solidFill>
                      <a:srgbClr val="1E293B"/>
                    </a:solidFill>
                  </a:tcPr>
                </a:tc>
                <a:tc>
                  <a:txBody>
                    <a:bodyPr/>
                    <a:lstStyle/>
                    <a:p>
                      <a:pPr algn="l">
                        <a:defRPr sz="1000">
                          <a:solidFill>
                            <a:srgbClr val="94A3B8"/>
                          </a:solidFill>
                          <a:latin typeface="Calibri"/>
                        </a:defRPr>
                      </a:pPr>
                      <a:r>
                        <a:t>12 ms</a:t>
                      </a:r>
                    </a:p>
                  </a:txBody>
                  <a:tcPr anchor="ctr">
                    <a:solidFill>
                      <a:srgbClr val="1E293B"/>
                    </a:solidFill>
                  </a:tcPr>
                </a:tc>
              </a:tr>
              <a:tr h="548640">
                <a:tc>
                  <a:txBody>
                    <a:bodyPr/>
                    <a:lstStyle/>
                    <a:p>
                      <a:pPr algn="l">
                        <a:defRPr sz="1000">
                          <a:solidFill>
                            <a:srgbClr val="F8FAFC"/>
                          </a:solidFill>
                          <a:latin typeface="Calibri"/>
                        </a:defRPr>
                      </a:pPr>
                      <a:r>
                        <a:t>Concierge Ticket Crafting</a:t>
                      </a:r>
                    </a:p>
                  </a:txBody>
                  <a:tcPr anchor="ctr">
                    <a:solidFill>
                      <a:srgbClr val="182234"/>
                    </a:solidFill>
                  </a:tcPr>
                </a:tc>
                <a:tc>
                  <a:txBody>
                    <a:bodyPr/>
                    <a:lstStyle/>
                    <a:p>
                      <a:pPr algn="l">
                        <a:defRPr sz="1000">
                          <a:solidFill>
                            <a:srgbClr val="94A3B8"/>
                          </a:solidFill>
                          <a:latin typeface="Calibri"/>
                        </a:defRPr>
                      </a:pPr>
                      <a:r>
                        <a:t>Natural Language Chats</a:t>
                      </a:r>
                    </a:p>
                  </a:txBody>
                  <a:tcPr anchor="ctr">
                    <a:solidFill>
                      <a:srgbClr val="182234"/>
                    </a:solidFill>
                  </a:tcPr>
                </a:tc>
                <a:tc>
                  <a:txBody>
                    <a:bodyPr/>
                    <a:lstStyle/>
                    <a:p>
                      <a:pPr algn="l">
                        <a:defRPr sz="1000">
                          <a:solidFill>
                            <a:srgbClr val="94A3B8"/>
                          </a:solidFill>
                          <a:latin typeface="Calibri"/>
                        </a:defRPr>
                      </a:pPr>
                      <a:r>
                        <a:t>50 scenarios</a:t>
                      </a:r>
                    </a:p>
                  </a:txBody>
                  <a:tcPr anchor="ctr">
                    <a:solidFill>
                      <a:srgbClr val="182234"/>
                    </a:solidFill>
                  </a:tcPr>
                </a:tc>
                <a:tc>
                  <a:txBody>
                    <a:bodyPr/>
                    <a:lstStyle/>
                    <a:p>
                      <a:pPr algn="l">
                        <a:defRPr sz="1000">
                          <a:solidFill>
                            <a:srgbClr val="94A3B8"/>
                          </a:solidFill>
                          <a:latin typeface="Calibri"/>
                        </a:defRPr>
                      </a:pPr>
                      <a:r>
                        <a:t>98.0% schema compliance</a:t>
                      </a:r>
                    </a:p>
                  </a:txBody>
                  <a:tcPr anchor="ctr">
                    <a:solidFill>
                      <a:srgbClr val="182234"/>
                    </a:solidFill>
                  </a:tcPr>
                </a:tc>
                <a:tc>
                  <a:txBody>
                    <a:bodyPr/>
                    <a:lstStyle/>
                    <a:p>
                      <a:pPr algn="l">
                        <a:defRPr sz="1000">
                          <a:solidFill>
                            <a:srgbClr val="94A3B8"/>
                          </a:solidFill>
                          <a:latin typeface="Calibri"/>
                        </a:defRPr>
                      </a:pPr>
                      <a:r>
                        <a:t>650 ms</a:t>
                      </a:r>
                    </a:p>
                  </a:txBody>
                  <a:tcPr anchor="ctr">
                    <a:solidFill>
                      <a:srgbClr val="182234"/>
                    </a:solidFill>
                  </a:tcPr>
                </a:tc>
              </a:tr>
              <a:tr h="548640">
                <a:tc>
                  <a:txBody>
                    <a:bodyPr/>
                    <a:lstStyle/>
                    <a:p>
                      <a:pPr algn="l">
                        <a:defRPr sz="1000">
                          <a:solidFill>
                            <a:srgbClr val="F8FAFC"/>
                          </a:solidFill>
                          <a:latin typeface="Calibri"/>
                        </a:defRPr>
                      </a:pPr>
                      <a:r>
                        <a:t>Automated Test Suites</a:t>
                      </a:r>
                    </a:p>
                  </a:txBody>
                  <a:tcPr anchor="ctr">
                    <a:solidFill>
                      <a:srgbClr val="1E293B"/>
                    </a:solidFill>
                  </a:tcPr>
                </a:tc>
                <a:tc>
                  <a:txBody>
                    <a:bodyPr/>
                    <a:lstStyle/>
                    <a:p>
                      <a:pPr algn="l">
                        <a:defRPr sz="1000">
                          <a:solidFill>
                            <a:srgbClr val="94A3B8"/>
                          </a:solidFill>
                          <a:latin typeface="Calibri"/>
                        </a:defRPr>
                      </a:pPr>
                      <a:r>
                        <a:t>Jest &amp; Pytest Suites</a:t>
                      </a:r>
                    </a:p>
                  </a:txBody>
                  <a:tcPr anchor="ctr">
                    <a:solidFill>
                      <a:srgbClr val="1E293B"/>
                    </a:solidFill>
                  </a:tcPr>
                </a:tc>
                <a:tc>
                  <a:txBody>
                    <a:bodyPr/>
                    <a:lstStyle/>
                    <a:p>
                      <a:pPr algn="l">
                        <a:defRPr sz="1000">
                          <a:solidFill>
                            <a:srgbClr val="94A3B8"/>
                          </a:solidFill>
                          <a:latin typeface="Calibri"/>
                        </a:defRPr>
                      </a:pPr>
                      <a:r>
                        <a:t>89 test specs</a:t>
                      </a:r>
                    </a:p>
                  </a:txBody>
                  <a:tcPr anchor="ctr">
                    <a:solidFill>
                      <a:srgbClr val="1E293B"/>
                    </a:solidFill>
                  </a:tcPr>
                </a:tc>
                <a:tc>
                  <a:txBody>
                    <a:bodyPr/>
                    <a:lstStyle/>
                    <a:p>
                      <a:pPr algn="l">
                        <a:defRPr sz="1000">
                          <a:solidFill>
                            <a:srgbClr val="94A3B8"/>
                          </a:solidFill>
                          <a:latin typeface="Calibri"/>
                        </a:defRPr>
                      </a:pPr>
                      <a:r>
                        <a:t>100% Pass Rate (89/89)</a:t>
                      </a:r>
                    </a:p>
                  </a:txBody>
                  <a:tcPr anchor="ctr">
                    <a:solidFill>
                      <a:srgbClr val="1E293B"/>
                    </a:solidFill>
                  </a:tcPr>
                </a:tc>
                <a:tc>
                  <a:txBody>
                    <a:bodyPr/>
                    <a:lstStyle/>
                    <a:p>
                      <a:pPr algn="l">
                        <a:defRPr sz="1000">
                          <a:solidFill>
                            <a:srgbClr val="94A3B8"/>
                          </a:solidFill>
                          <a:latin typeface="Calibri"/>
                        </a:defRPr>
                      </a:pPr>
                      <a:r>
                        <a:t>2.07s</a:t>
                      </a:r>
                    </a:p>
                  </a:txBody>
                  <a:tcPr anchor="ctr">
                    <a:solidFill>
                      <a:srgbClr val="1E293B"/>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BUSINESS ROI &amp; CONCLUSION</a:t>
            </a:r>
          </a:p>
        </p:txBody>
      </p:sp>
      <p:sp>
        <p:nvSpPr>
          <p:cNvPr id="4" name="Rounded Rectangle 3"/>
          <p:cNvSpPr/>
          <p:nvPr/>
        </p:nvSpPr>
        <p:spPr>
          <a:xfrm>
            <a:off x="7315200" y="365760"/>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Executive Handover</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latin typeface="Calibri"/>
              </a:defRPr>
            </a:pPr>
            <a:r>
              <a:t>Client Business Impact, Strategic Roadmap &amp; Handover</a:t>
            </a:r>
          </a:p>
        </p:txBody>
      </p:sp>
      <p:sp>
        <p:nvSpPr>
          <p:cNvPr id="6" name="TextBox 5"/>
          <p:cNvSpPr txBox="1"/>
          <p:nvPr/>
        </p:nvSpPr>
        <p:spPr>
          <a:xfrm>
            <a:off x="731520" y="1216152"/>
            <a:ext cx="10698480" cy="320040"/>
          </a:xfrm>
          <a:prstGeom prst="rect">
            <a:avLst/>
          </a:prstGeom>
          <a:noFill/>
        </p:spPr>
        <p:txBody>
          <a:bodyPr wrap="square" lIns="0" tIns="0" rIns="0" bIns="0">
            <a:spAutoFit/>
          </a:bodyPr>
          <a:lstStyle/>
          <a:p>
            <a:pPr>
              <a:defRPr sz="1200">
                <a:solidFill>
                  <a:srgbClr val="94A3B8"/>
                </a:solidFill>
                <a:latin typeface="Calibri"/>
              </a:defRPr>
            </a:pPr>
            <a:r>
              <a:t>Delivering tangible financial ROI and enterprise readiness for modern customer support.</a:t>
            </a:r>
          </a:p>
        </p:txBody>
      </p:sp>
      <p:sp>
        <p:nvSpPr>
          <p:cNvPr id="7" name="Rectangle 6"/>
          <p:cNvSpPr/>
          <p:nvPr/>
        </p:nvSpPr>
        <p:spPr>
          <a:xfrm>
            <a:off x="731520" y="157276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492240"/>
            <a:ext cx="1188720" cy="274320"/>
          </a:xfrm>
          <a:prstGeom prst="rect">
            <a:avLst/>
          </a:prstGeom>
          <a:noFill/>
        </p:spPr>
        <p:txBody>
          <a:bodyPr wrap="none">
            <a:spAutoFit/>
          </a:bodyPr>
          <a:lstStyle/>
          <a:p>
            <a:pPr algn="r">
              <a:defRPr sz="1000">
                <a:solidFill>
                  <a:srgbClr val="94A3B8"/>
                </a:solidFill>
                <a:latin typeface="Calibri"/>
              </a:defRPr>
            </a:pPr>
            <a:r>
              <a:t>25 / 25</a:t>
            </a:r>
          </a:p>
        </p:txBody>
      </p:sp>
      <p:sp>
        <p:nvSpPr>
          <p:cNvPr id="9" name="TextBox 8"/>
          <p:cNvSpPr txBox="1"/>
          <p:nvPr/>
        </p:nvSpPr>
        <p:spPr>
          <a:xfrm>
            <a:off x="731520" y="6492240"/>
            <a:ext cx="7772400" cy="274320"/>
          </a:xfrm>
          <a:prstGeom prst="rect">
            <a:avLst/>
          </a:prstGeom>
          <a:noFill/>
        </p:spPr>
        <p:txBody>
          <a:bodyPr wrap="none">
            <a:spAutoFit/>
          </a:bodyPr>
          <a:lstStyle/>
          <a:p>
            <a:pPr>
              <a:defRPr sz="950">
                <a:solidFill>
                  <a:srgbClr val="94A3B8"/>
                </a:solidFill>
                <a:latin typeface="Calibri"/>
              </a:defRPr>
            </a:pPr>
            <a:r>
              <a:t>SupportSense AI — Enterprise Client Pitch | Persistent Systems Internship | Roll No. 23CO76</a:t>
            </a:r>
          </a:p>
        </p:txBody>
      </p:sp>
      <p:sp>
        <p:nvSpPr>
          <p:cNvPr id="10" name="Rounded Rectangle 9"/>
          <p:cNvSpPr/>
          <p:nvPr/>
        </p:nvSpPr>
        <p:spPr>
          <a:xfrm>
            <a:off x="731520" y="1737360"/>
            <a:ext cx="5257800" cy="4389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800600" cy="320040"/>
          </a:xfrm>
          <a:prstGeom prst="rect">
            <a:avLst/>
          </a:prstGeom>
          <a:noFill/>
        </p:spPr>
        <p:txBody>
          <a:bodyPr wrap="square" lIns="0" tIns="0" rIns="0" bIns="0">
            <a:spAutoFit/>
          </a:bodyPr>
          <a:lstStyle/>
          <a:p>
            <a:pPr>
              <a:defRPr sz="1250" b="1">
                <a:solidFill>
                  <a:srgbClr val="F8FAFC"/>
                </a:solidFill>
                <a:latin typeface="Calibri"/>
              </a:defRPr>
            </a:pPr>
            <a:r>
              <a:t>Quantifiable Client ROI &amp; Value</a:t>
            </a:r>
          </a:p>
          <a:p>
            <a:pPr>
              <a:defRPr sz="950">
                <a:solidFill>
                  <a:srgbClr val="94A3B8"/>
                </a:solidFill>
                <a:latin typeface="Calibri"/>
              </a:defRPr>
            </a:pPr>
            <a:r>
              <a:t>Proven business outcomes</a:t>
            </a:r>
          </a:p>
        </p:txBody>
      </p:sp>
      <p:sp>
        <p:nvSpPr>
          <p:cNvPr id="12" name="TextBox 11"/>
          <p:cNvSpPr txBox="1"/>
          <p:nvPr/>
        </p:nvSpPr>
        <p:spPr>
          <a:xfrm>
            <a:off x="914400" y="2377440"/>
            <a:ext cx="4892040" cy="3474720"/>
          </a:xfrm>
          <a:prstGeom prst="rect">
            <a:avLst/>
          </a:prstGeom>
          <a:noFill/>
        </p:spPr>
        <p:txBody>
          <a:bodyPr wrap="square" lIns="0" tIns="0" rIns="0" bIns="0">
            <a:spAutoFit/>
          </a:bodyPr>
          <a:lstStyle/>
          <a:p>
            <a:pPr>
              <a:spcBef>
                <a:spcPts val="500"/>
              </a:spcBef>
            </a:pPr>
            <a:r>
              <a:rPr sz="1050" b="1">
                <a:solidFill>
                  <a:srgbClr val="F8FAFC"/>
                </a:solidFill>
                <a:latin typeface="Calibri"/>
              </a:rPr>
              <a:t>•  75% First Response Acceleration: </a:t>
            </a:r>
            <a:r>
              <a:rPr sz="1050">
                <a:solidFill>
                  <a:srgbClr val="94A3B8"/>
                </a:solidFill>
                <a:latin typeface="Calibri"/>
              </a:rPr>
              <a:t>Slashes initial response wait from 8.5 hours to 2.1 minutes, guaranteeing SLA compliance and eliminating penalty risks.</a:t>
            </a:r>
          </a:p>
          <a:p>
            <a:pPr>
              <a:spcBef>
                <a:spcPts val="500"/>
              </a:spcBef>
            </a:pPr>
            <a:r>
              <a:rPr sz="1050" b="1">
                <a:solidFill>
                  <a:srgbClr val="F8FAFC"/>
                </a:solidFill>
                <a:latin typeface="Calibri"/>
              </a:rPr>
              <a:t>•  35% Operational Ticket Deflection: </a:t>
            </a:r>
            <a:r>
              <a:rPr sz="1050">
                <a:solidFill>
                  <a:srgbClr val="94A3B8"/>
                </a:solidFill>
                <a:latin typeface="Calibri"/>
              </a:rPr>
              <a:t>Real-time Knowledge Base suggestions and HTTP 409 duplicate alerts remove more than a third of repetitive ticket volume.</a:t>
            </a:r>
          </a:p>
          <a:p>
            <a:pPr>
              <a:spcBef>
                <a:spcPts val="500"/>
              </a:spcBef>
            </a:pPr>
            <a:r>
              <a:rPr sz="1050" b="1">
                <a:solidFill>
                  <a:srgbClr val="F8FAFC"/>
                </a:solidFill>
                <a:latin typeface="Calibri"/>
              </a:rPr>
              <a:t>•  28% First Contact Resolution Boost: </a:t>
            </a:r>
            <a:r>
              <a:rPr sz="1050">
                <a:solidFill>
                  <a:srgbClr val="94A3B8"/>
                </a:solidFill>
                <a:latin typeface="Calibri"/>
              </a:rPr>
              <a:t>Dynamic troubleshooting checklists and dataset-grounded timelines empower tier-1 agents to resolve issues on first contact.</a:t>
            </a:r>
          </a:p>
          <a:p>
            <a:pPr>
              <a:spcBef>
                <a:spcPts val="500"/>
              </a:spcBef>
            </a:pPr>
            <a:r>
              <a:rPr sz="1050" b="1">
                <a:solidFill>
                  <a:srgbClr val="F8FAFC"/>
                </a:solidFill>
                <a:latin typeface="Calibri"/>
              </a:rPr>
              <a:t>•  &gt; 80% Reduction in LLM API Costs: </a:t>
            </a:r>
            <a:r>
              <a:rPr sz="1050">
                <a:solidFill>
                  <a:srgbClr val="94A3B8"/>
                </a:solidFill>
                <a:latin typeface="Calibri"/>
              </a:rPr>
              <a:t>Gemini 1.5 Flash efficiency combined with SHA-256 TTL caching cuts operational AI overhead compared to commercial SaaS add-ons.</a:t>
            </a:r>
          </a:p>
          <a:p>
            <a:pPr>
              <a:spcBef>
                <a:spcPts val="500"/>
              </a:spcBef>
            </a:pPr>
            <a:r>
              <a:rPr sz="1050" b="1">
                <a:solidFill>
                  <a:srgbClr val="F8FAFC"/>
                </a:solidFill>
                <a:latin typeface="Calibri"/>
              </a:rPr>
              <a:t>•  Zero Vendor Lock-In: </a:t>
            </a:r>
            <a:r>
              <a:rPr sz="1050">
                <a:solidFill>
                  <a:srgbClr val="94A3B8"/>
                </a:solidFill>
                <a:latin typeface="Calibri"/>
              </a:rPr>
              <a:t>100% self-hostable Docker architecture with complete client data privacy.</a:t>
            </a:r>
          </a:p>
        </p:txBody>
      </p:sp>
      <p:sp>
        <p:nvSpPr>
          <p:cNvPr id="13" name="Rounded Rectangle 12"/>
          <p:cNvSpPr/>
          <p:nvPr/>
        </p:nvSpPr>
        <p:spPr>
          <a:xfrm>
            <a:off x="6172200" y="1737360"/>
            <a:ext cx="5257800" cy="4389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920240"/>
            <a:ext cx="4800600" cy="320040"/>
          </a:xfrm>
          <a:prstGeom prst="rect">
            <a:avLst/>
          </a:prstGeom>
          <a:noFill/>
        </p:spPr>
        <p:txBody>
          <a:bodyPr wrap="square" lIns="0" tIns="0" rIns="0" bIns="0">
            <a:spAutoFit/>
          </a:bodyPr>
          <a:lstStyle/>
          <a:p>
            <a:pPr>
              <a:defRPr sz="1250" b="1">
                <a:solidFill>
                  <a:srgbClr val="F8FAFC"/>
                </a:solidFill>
                <a:latin typeface="Calibri"/>
              </a:defRPr>
            </a:pPr>
            <a:r>
              <a:t>Strategic Future Roadmap &amp; Handover</a:t>
            </a:r>
          </a:p>
          <a:p>
            <a:pPr>
              <a:defRPr sz="950">
                <a:solidFill>
                  <a:srgbClr val="94A3B8"/>
                </a:solidFill>
                <a:latin typeface="Calibri"/>
              </a:defRPr>
            </a:pPr>
            <a:r>
              <a:t>Next-generation expansion vectors</a:t>
            </a:r>
          </a:p>
        </p:txBody>
      </p:sp>
      <p:sp>
        <p:nvSpPr>
          <p:cNvPr id="15" name="TextBox 14"/>
          <p:cNvSpPr txBox="1"/>
          <p:nvPr/>
        </p:nvSpPr>
        <p:spPr>
          <a:xfrm>
            <a:off x="6355080" y="2377440"/>
            <a:ext cx="4892040" cy="3474720"/>
          </a:xfrm>
          <a:prstGeom prst="rect">
            <a:avLst/>
          </a:prstGeom>
          <a:noFill/>
        </p:spPr>
        <p:txBody>
          <a:bodyPr wrap="square" lIns="0" tIns="0" rIns="0" bIns="0">
            <a:spAutoFit/>
          </a:bodyPr>
          <a:lstStyle/>
          <a:p>
            <a:pPr>
              <a:spcBef>
                <a:spcPts val="500"/>
              </a:spcBef>
            </a:pPr>
            <a:r>
              <a:rPr sz="1050" b="1">
                <a:solidFill>
                  <a:srgbClr val="F8FAFC"/>
                </a:solidFill>
                <a:latin typeface="Calibri"/>
              </a:rPr>
              <a:t>•  Enterprise Vector RAG (pgvector): </a:t>
            </a:r>
            <a:r>
              <a:rPr sz="1050">
                <a:solidFill>
                  <a:srgbClr val="94A3B8"/>
                </a:solidFill>
                <a:latin typeface="Calibri"/>
              </a:rPr>
              <a:t>Index internal PDF product manuals, API wikis, and historical resolution logs for semantic question answering.</a:t>
            </a:r>
          </a:p>
          <a:p>
            <a:pPr>
              <a:spcBef>
                <a:spcPts val="500"/>
              </a:spcBef>
            </a:pPr>
            <a:r>
              <a:rPr sz="1050" b="1">
                <a:solidFill>
                  <a:srgbClr val="F8FAFC"/>
                </a:solidFill>
                <a:latin typeface="Calibri"/>
              </a:rPr>
              <a:t>•  Real-Time Telephony Support (Whisper): </a:t>
            </a:r>
            <a:r>
              <a:rPr sz="1050">
                <a:solidFill>
                  <a:srgbClr val="94A3B8"/>
                </a:solidFill>
                <a:latin typeface="Calibri"/>
              </a:rPr>
              <a:t>Integrate speech-to-text models to transcribe incoming voice support calls and automatically draft structured tickets.</a:t>
            </a:r>
          </a:p>
          <a:p>
            <a:pPr>
              <a:spcBef>
                <a:spcPts val="500"/>
              </a:spcBef>
            </a:pPr>
            <a:r>
              <a:rPr sz="1050" b="1">
                <a:solidFill>
                  <a:srgbClr val="F8FAFC"/>
                </a:solidFill>
                <a:latin typeface="Calibri"/>
              </a:rPr>
              <a:t>•  Predictive SLA Breach Alerting: </a:t>
            </a:r>
            <a:r>
              <a:rPr sz="1050">
                <a:solidFill>
                  <a:srgbClr val="94A3B8"/>
                </a:solidFill>
                <a:latin typeface="Calibri"/>
              </a:rPr>
              <a:t>Machine learning forecasting of queue bottlenecks to dynamically rebalance agent workloads.</a:t>
            </a:r>
          </a:p>
          <a:p>
            <a:pPr>
              <a:spcBef>
                <a:spcPts val="500"/>
              </a:spcBef>
            </a:pPr>
            <a:r>
              <a:rPr sz="1050" b="1">
                <a:solidFill>
                  <a:srgbClr val="F8FAFC"/>
                </a:solidFill>
                <a:latin typeface="Calibri"/>
              </a:rPr>
              <a:t>•  Cross-Platform Mobile App (React Native): </a:t>
            </a:r>
            <a:r>
              <a:rPr sz="1050">
                <a:solidFill>
                  <a:srgbClr val="94A3B8"/>
                </a:solidFill>
                <a:latin typeface="Calibri"/>
              </a:rPr>
              <a:t>Dedicated on-call mobile workbench for tier-3 engineers and support directors.</a:t>
            </a:r>
          </a:p>
          <a:p>
            <a:pPr>
              <a:spcBef>
                <a:spcPts val="500"/>
              </a:spcBef>
            </a:pPr>
            <a:r>
              <a:rPr sz="1050" b="1">
                <a:solidFill>
                  <a:srgbClr val="F8FAFC"/>
                </a:solidFill>
                <a:latin typeface="Calibri"/>
              </a:rPr>
              <a:t>•  Production Handover Status: </a:t>
            </a:r>
            <a:r>
              <a:rPr sz="1050">
                <a:solidFill>
                  <a:srgbClr val="94A3B8"/>
                </a:solidFill>
                <a:latin typeface="Calibri"/>
              </a:rPr>
              <a:t>Fully documented (13 engineering guides), Dockerized, test-verified, and ready for immediate enterprise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