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Welcome mentors and clients, introduce our 4-member developer team, and frame the pitch.</a:t>
            </a:r>
          </a:p>
          <a:p>
            <a:r>
              <a:t>─────────────────────────────────────────────────────────────</a:t>
            </a:r>
          </a:p>
          <a:p>
            <a:r>
              <a:t>TALKING SCRIPT:</a:t>
            </a:r>
          </a:p>
          <a:p>
            <a:r>
              <a:t>Good morning everyone. Today our team is proud to present SupportSense AI, an enterprise-grade AI-assisted customer support platform built during our Persistent Systems internship. We are presenting directly from developer to developer. Our team consists of Rohan Salkar as Frontend &amp; UI/UX Lead, Yash Sanikop (Roll No. 23CO76) as Frontend &amp; AI Lead, Shrujan Mitbavkar as Backend &amp; Database Lead, and Aarti Singh as DevOps, QA &amp; Documentation Lead. Together, we will walk you through our product from ideation to production deployment, showing the live features we built and the exact numbers proving its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Explain the core value proposition and our ethical Human-in-the-Loop philosophy.</a:t>
            </a:r>
          </a:p>
          <a:p>
            <a:r>
              <a:t>─────────────────────────────────────────────────────────────</a:t>
            </a:r>
          </a:p>
          <a:p>
            <a:r>
              <a:t>TALKING SCRIPT:</a:t>
            </a:r>
          </a:p>
          <a:p>
            <a:r>
              <a:t>As developers presenting to our clients, our primary goal was solving support center burnout. SupportSense AI operates under an ethical Human-in-the-Loop philosophy: AI Assists, Humans Decide. Notice the numbers: we achieved a 75% reduction in First Response Time, a 35% ticket deflection rate, a 96% AI triage accuracy, and 100% database consistency through atomic SQL commits. The system never takes dangerous actions autonomously like issuing refunds or editing databases—it empowers agents with intelligent decision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Explain the 4 industry bottlenecks that motivated the SupportSense AI project.</a:t>
            </a:r>
          </a:p>
          <a:p>
            <a:r>
              <a:t>─────────────────────────────────────────────────────────────</a:t>
            </a:r>
          </a:p>
          <a:p>
            <a:r>
              <a:t>TALKING SCRIPT:</a:t>
            </a:r>
          </a:p>
          <a:p>
            <a:r>
              <a:t>In our ideation phase, we analyzed enterprise support workflows and identified four critical bottlenecks. First, First Response Time stretches 8 to 14 hours because human agents manually triage everything. Second, queue gaming: users shouting 'URGENT' in all caps hijack queues, burying real outages. Third, duplicate tickets bloat queues by 30% because customers submit repeated requests. And fourth, reopened tickets cause context blindness, wasting 15 minutes per ticket. SupportSense AI was specifically engineered to eradicate these four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Demonstrate why clients should choose SupportSense AI over expensive SaaS giants.</a:t>
            </a:r>
          </a:p>
          <a:p>
            <a:r>
              <a:t>─────────────────────────────────────────────────────────────</a:t>
            </a:r>
          </a:p>
          <a:p>
            <a:r>
              <a:t>TALKING SCRIPT:</a:t>
            </a:r>
          </a:p>
          <a:p>
            <a:r>
              <a:t>Here you can see how SupportSense AI compares against established giants like Zendesk and Freshdesk. Traditional platforms charge exorbitant per-seat licensing fees and offer simple keyword rules. In contrast, SupportSense AI decouples customer emotion from technical priority, provides 1-click tone polishing, proactively catches duplicate tickets before submission, and summarizes reopened tickets. Best of all, our architecture is 100% self-hostable with zero vendor lock-in, saving enterprise clients over 85% in annual licensing fees.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Explain our 4-sprint Agile Scrum execution and complete burn-down.</a:t>
            </a:r>
          </a:p>
          <a:p>
            <a:r>
              <a:t>─────────────────────────────────────────────────────────────</a:t>
            </a:r>
          </a:p>
          <a:p>
            <a:r>
              <a:t>TALKING SCRIPT:</a:t>
            </a:r>
          </a:p>
          <a:p>
            <a:r>
              <a:t>Our development journey followed a disciplined Agile Scrum methodology across four 2-week sprints. As shown in our Jira burndown chart on the left, we maintained zero backlog carryover, burning all 166 story points to zero on schedule. Sprint 1 was research and PRD; Sprint 2 delivered the core 3-tier scaffold; Sprint 3 wired live Gemini triage and the agent workbench; and Sprint 4 delivered the AI Concierge, Supabase pooling, and Render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Highlight balanced team workload and mentor governance.</a:t>
            </a:r>
          </a:p>
          <a:p>
            <a:r>
              <a:t>─────────────────────────────────────────────────────────────</a:t>
            </a:r>
          </a:p>
          <a:p>
            <a:r>
              <a:t>TALKING SCRIPT:</a:t>
            </a:r>
          </a:p>
          <a:p>
            <a:r>
              <a:t>Our team operated as a cohesive cross-functional unit with balanced technical ownership across 166 story points. Rohan led Frontend &amp; UI/UX; Yash Sanikop (Roll No. 23CO76) engineered the FastAPI AI microservice, Gemini integration, and AI concierge; Shrujan spearheaded Express REST controllers, PostgreSQL relational schema, and transactions; and Aarti headed Docker, Render deployment, and test automation. We are now ready to show you the actual frontend interface we built.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40s</a:t>
            </a:r>
          </a:p>
          <a:p>
            <a:r>
              <a:t>🎯 CORE GOAL: Set the stage for the frontend, user experience, and security section.</a:t>
            </a:r>
          </a:p>
          <a:p>
            <a:r>
              <a:t>─────────────────────────────────────────────────────────────</a:t>
            </a:r>
          </a:p>
          <a:p>
            <a:r>
              <a:t>TALKING SCRIPT:</a:t>
            </a:r>
          </a:p>
          <a:p>
            <a:r>
              <a:t>Thank you. In this first technical section, Aarti and I will walk you through the client tier, user experience, and security architecture. I will cover the React 18 Single Page Application, our MoonRow design system, responsive layouts, the dual-pane agent workbench, and AI tone polishing. Aarti will then demonstrate our security hardening, stateless JWT authentication, and role-based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50s</a:t>
            </a:r>
          </a:p>
          <a:p>
            <a:r>
              <a:t>🎯 CORE GOAL: Demonstrate the frontend performance, design system, and live Dark/Light theme switching.</a:t>
            </a:r>
          </a:p>
          <a:p>
            <a:r>
              <a:t>─────────────────────────────────────────────────────────────</a:t>
            </a:r>
          </a:p>
          <a:p>
            <a:r>
              <a:t>TALKING SCRIPT:</a:t>
            </a:r>
          </a:p>
          <a:p>
            <a:r>
              <a:t>As Frontend &amp; UI/UX Lead, I designed the interface with the speed and polish of modern tools like Linear and Stripe. We chose React 18 with Vite, which achieves an ultra-lean 263 kB bundle that builds in 8.3 seconds. On the right, you can see live screenshots taken directly from our Render deployment comparing our Dark Mode and Light Mode! Our Tailwind MoonRow design system uses semantic CSS tokens, allowing instant theme toggling with zero layout shift, while strictly enforcing WCAG 2.1 AA contrast compliance.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50s</a:t>
            </a:r>
          </a:p>
          <a:p>
            <a:r>
              <a:t>🎯 CORE GOAL: Walk the client through the daily agent workspace and live decision drawer.</a:t>
            </a:r>
          </a:p>
          <a:p>
            <a:r>
              <a:t>─────────────────────────────────────────────────────────────</a:t>
            </a:r>
          </a:p>
          <a:p>
            <a:r>
              <a:t>TALKING SCRIPT:</a:t>
            </a:r>
          </a:p>
          <a:p>
            <a:r>
              <a:t>This slide showcases where support agents spend their day: the Dual-Pane Agent Workbench. On the left, agents view customer communications with strict visual isolation between public customer messages and private internal staff notes, preventing accidental leaks. On the right is our actual live production screenshot from Render! The AI Decision Drawer delivers real-time customer mood pills, patience scores, resolution estimates, and interactive troubleshooting checkboxes that save directly to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50s</a:t>
            </a:r>
          </a:p>
          <a:p>
            <a:r>
              <a:t>🎯 CORE GOAL: Demonstrate how deflection saves costs and how tone polishing improves customer satisfaction.</a:t>
            </a:r>
          </a:p>
          <a:p>
            <a:r>
              <a:t>─────────────────────────────────────────────────────────────</a:t>
            </a:r>
          </a:p>
          <a:p>
            <a:r>
              <a:t>TALKING SCRIPT:</a:t>
            </a:r>
          </a:p>
          <a:p>
            <a:r>
              <a:t>Here we show two customer and agent-facing AI tools in live production. On the left is our Real-Time FAQ Deflection panel. When a customer types 'Cannot download EU VAT invoice', our debounced search scans verified documentation and shows instant answers, deflecting 35% of tickets before submission! On the right is our 1-Click Tone Polisher. Busy agents can type rough notes, click 'Empathetic' or 'Concise TL;DR', and cycle through three polished variations with anti-nesting greeting rules. Now, Aarti Singh will present Security Hardening and Role-Based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Aarti Singh | ⏱️ TIME: 45s</a:t>
            </a:r>
          </a:p>
          <a:p>
            <a:r>
              <a:t>🎯 CORE GOAL: Explain our security hardening, JWT token architecture, and live login authentication portal.</a:t>
            </a:r>
          </a:p>
          <a:p>
            <a:r>
              <a:t>─────────────────────────────────────────────────────────────</a:t>
            </a:r>
          </a:p>
          <a:p>
            <a:r>
              <a:t>TALKING SCRIPT:</a:t>
            </a:r>
          </a:p>
          <a:p>
            <a:r>
              <a:t>Thank you, Rohan. As DevOps, QA &amp; Documentation Lead, my role was securing the ecosystem against OWASP vulnerabilities. We implemented stateless JSON Web Token authentication with 1-hour expiration, backed by bcrypt password hashing with 10 salt rounds. On the right, you can see our live production login screen on Render! Our registration endpoint strictly sanitizes payloads so external users cannot escalate privileges to Agent or Admin. Combined with express rate-limiting, CORS origin whitelisting, and Helmet headers, our authentication layer is enterprise-hardened.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Aarti Singh | ⏱️ TIME: 45s</a:t>
            </a:r>
          </a:p>
          <a:p>
            <a:r>
              <a:t>🎯 CORE GOAL: Demonstrate strict department data segregation and how clients can test personas in 1 click.</a:t>
            </a:r>
          </a:p>
          <a:p>
            <a:r>
              <a:t>─────────────────────────────────────────────────────────────</a:t>
            </a:r>
          </a:p>
          <a:p>
            <a:r>
              <a:t>TALKING SCRIPT:</a:t>
            </a:r>
          </a:p>
          <a:p>
            <a:r>
              <a:t>In enterprise support, strict data segregation is critical. We established a granular Role-Based Access Control matrix across three roles and four departments. Customers can only access their own tickets and can never view internal staff notes. Agents are organized into Technical Support, Finance &amp; Billing, Identity &amp; Access, and API Platform. To make evaluating our system effortless for clients, we built the 1-Click Persona Testing Bar. Stakeholders can click a single button to switch between Sarah the Customer, Alex the Tech Agent, or Admin without retyping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Yash Sanikop | ⏱️ TIME: 50s</a:t>
            </a:r>
          </a:p>
          <a:p>
            <a:r>
              <a:t>🎯 CORE GOAL: Demonstrate the AI Concierge chatbot widget and duplicate ticket interception in production.</a:t>
            </a:r>
          </a:p>
          <a:p>
            <a:r>
              <a:t>─────────────────────────────────────────────────────────────</a:t>
            </a:r>
          </a:p>
          <a:p>
            <a:r>
              <a:t>TALKING SCRIPT:</a:t>
            </a:r>
          </a:p>
          <a:p>
            <a:r>
              <a:t>As Frontend &amp; AI Lead (Student Intern Yash Sanikop, Roll No. 23CO76), I engineered the bridge connecting user-facing widgets with our Gemini AI pipeline. Non-technical customers often struggle to describe technical bugs. On the left is our live screenshot of the AI Concierge widget! A user describes their issue in everyday language; the Concierge asks clarifying questions and compiles a formal ticket ready for 1-click dispatch. On the right, we show Duplicate Ticket Interception. If a customer tries to submit a ticket for an issue that was already solved for them, our backend intercepts it with an HTTP 409 response, displays the previous verified resolution steps, and prevents queue bloat!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Shrujan Mitbavkar | ⏱️ TIME: 45s</a:t>
            </a:r>
          </a:p>
          <a:p>
            <a:r>
              <a:t>🎯 CORE GOAL: Present the live operations dashboard and ticket queue table to the client.</a:t>
            </a:r>
          </a:p>
          <a:p>
            <a:r>
              <a:t>─────────────────────────────────────────────────────────────</a:t>
            </a:r>
          </a:p>
          <a:p>
            <a:r>
              <a:t>TALKING SCRIPT:</a:t>
            </a:r>
          </a:p>
          <a:p>
            <a:r>
              <a:t>As Backend &amp; Database Lead, I ensured our API and database seamlessly feed the executive dashboards. On the left is our live production screenshot from Render showing real-time queue health, priority distribution, and status breakdown donuts. On the right is our live Ticket Queue Table. Support managers can filter by department, priority, and status with sub-50 millisecond query execution, powered by compound B-tree indexes on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Shrujan Mitbavkar | ⏱️ TIME: 40s</a:t>
            </a:r>
          </a:p>
          <a:p>
            <a:r>
              <a:t>🎯 CORE GOAL: Set the stage for backend architecture, database integrity, and the AI microservice.</a:t>
            </a:r>
          </a:p>
          <a:p>
            <a:r>
              <a:t>─────────────────────────────────────────────────────────────</a:t>
            </a:r>
          </a:p>
          <a:p>
            <a:r>
              <a:t>TALKING SCRIPT:</a:t>
            </a:r>
          </a:p>
          <a:p>
            <a:r>
              <a:t>Thank you, Aarti. In this second half of our presentation, Yash and I will take you deep into the engine room: our backend, database, and AI microservice. I will explain our Node.js and Express REST architecture, our normalized PostgreSQL schema, atomic SQL transactions, and Supabase cloud pooling. Yash will then detail our Python FastAPI AI microservice, Gemini 1.5 Flash SDK integration, model instance pooling, SHA-256 TTL caching, and prompt engineering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Shrujan Mitbavkar | ⏱️ TIME: 45s</a:t>
            </a:r>
          </a:p>
          <a:p>
            <a:r>
              <a:t>🎯 CORE GOAL: Explain the Express backend architecture, latency, and circuit breaker patterns.</a:t>
            </a:r>
          </a:p>
          <a:p>
            <a:r>
              <a:t>─────────────────────────────────────────────────────────────</a:t>
            </a:r>
          </a:p>
          <a:p>
            <a:r>
              <a:t>TALKING SCRIPT:</a:t>
            </a:r>
          </a:p>
          <a:p>
            <a:r>
              <a:t>As Backend Lead, my mission was constructing a high-throughput Node.js and Express REST engine. Our P95 latency is under 200 milliseconds. All AI interactions are decoupled through our aiService proxy with a strict 5-second AbortSignal timeout. If the upstream LLM ever delays, our fast-fail circuit breaker returns safe fallback data so tickets are created without interruption. Our controllers strictly enforce business rules, audit logging, and inter-department forwarding.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Shrujan Mitbavkar | ⏱️ TIME: 45s</a:t>
            </a:r>
          </a:p>
          <a:p>
            <a:r>
              <a:t>🎯 CORE GOAL: Explain the 3NF schema, Supabase cloud pooling, and compound indexes.</a:t>
            </a:r>
          </a:p>
          <a:p>
            <a:r>
              <a:t>─────────────────────────────────────────────────────────────</a:t>
            </a:r>
          </a:p>
          <a:p>
            <a:r>
              <a:t>TALKING SCRIPT:</a:t>
            </a:r>
          </a:p>
          <a:p>
            <a:r>
              <a:t>Turning to our database tier: we implemented a normalized PostgreSQL 15 schema adhering strictly to Third Normal Form. Our schema features six core entities, including tickets, threaded messages, AI metadata, checklists, and weekly insights. We migrated our database to Supabase Cloud with PgBouncer connection pooling, enforcing SSL encryption and sub-50ms query execution through compound B-tree indexes. Our automated dbInit.js script ensures zero-configuration schema creation upon boot.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Shrujan Mitbavkar | ⏱️ TIME: 50s</a:t>
            </a:r>
          </a:p>
          <a:p>
            <a:r>
              <a:t>🎯 CORE GOAL: Highlight our atomic transactions, status state machine, and concurrency stress test.</a:t>
            </a:r>
          </a:p>
          <a:p>
            <a:r>
              <a:t>─────────────────────────────────────────────────────────────</a:t>
            </a:r>
          </a:p>
          <a:p>
            <a:r>
              <a:t>TALKING SCRIPT:</a:t>
            </a:r>
          </a:p>
          <a:p>
            <a:r>
              <a:t>Slide 18 represents our greatest backend engineering achievement: bulletproof data integrity. Under SCRUM-112, we wrapped ticket creation and initial message insertion into an atomic SQL transaction. If a network blip interrupts message insertion, the entire ticket rolls back—guaranteeing zero orphaned records. Under SCRUM-111, our status transition state machine strictly enforces valid ticket lifecycle progression. And under SCRUM-110, we subjected our database to 100 concurrent parallel submissions; our sequence generator produced 100% unique ticket numbers with zero race conditions. I will now pass the floor to Yash Sanikop to present our AI Microservice.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Yash Sanikop | ⏱️ TIME: 50s</a:t>
            </a:r>
          </a:p>
          <a:p>
            <a:r>
              <a:t>🎯 CORE GOAL: Explain our FastAPI microservice, Gemini 1.5 Flash SDK, model pooling, and 12ms caching.</a:t>
            </a:r>
          </a:p>
          <a:p>
            <a:r>
              <a:t>─────────────────────────────────────────────────────────────</a:t>
            </a:r>
          </a:p>
          <a:p>
            <a:r>
              <a:t>TALKING SCRIPT:</a:t>
            </a:r>
          </a:p>
          <a:p>
            <a:r>
              <a:t>Thank you, Shrujan. As Frontend &amp; AI Lead (Student Intern Yash Sanikop, Roll No. 23CO76), I architected our Python FastAPI microservice and integrated the Google Gemini 1.5 Flash SDK. We chose Google Gemini 1.5 Flash for its sub-second speed and low token cost. Directly instantiating LLM clients on every request causes memory thrashing, so I implemented GenerativeModel instance pooling and an SHA-256 in-memory TTL response cache. This drops repeated queries from 1,800 milliseconds down to just 12 milliseconds! All outputs are validated against strict Pydantic v2 schemas, and our deterministic regex fallback handler guarantees that even if the external LLM is offline, our support platform never crashes.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Yash Sanikop | ⏱️ TIME: 50s</a:t>
            </a:r>
          </a:p>
          <a:p>
            <a:r>
              <a:t>🎯 CORE GOAL: Demonstrate how prompt engineering and knowledge base grounding eliminate hallucinations.</a:t>
            </a:r>
          </a:p>
          <a:p>
            <a:r>
              <a:t>─────────────────────────────────────────────────────────────</a:t>
            </a:r>
          </a:p>
          <a:p>
            <a:r>
              <a:t>TALKING SCRIPT:</a:t>
            </a:r>
          </a:p>
          <a:p>
            <a:r>
              <a:t>A key innovation of SupportSense AI is that our model does not hallucinate arbitrary predictions. We ground its reasoning in verified Knowledge Base articles and open-source datasets from Kaggle and Hugging Face. On the right is our live production screenshot from Render of the Knowledge Base management portal! Furthermore, in templates.py, I authored eight specialized 40-line persona system prompts. Our Anti-Gaming Prompting explicitly separates emotion from priority: if a customer shouts 'URGENT!!!' over a minor UI color preference, the system records Frustrated in customer_mood, but keeps technical priority at LOW, preserving SLA fairness.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Yash Sanikop | ⏱️ TIME: 50s</a:t>
            </a:r>
          </a:p>
          <a:p>
            <a:r>
              <a:t>🎯 CORE GOAL: Demonstrate department automated policies and learning insights in live production.</a:t>
            </a:r>
          </a:p>
          <a:p>
            <a:r>
              <a:t>─────────────────────────────────────────────────────────────</a:t>
            </a:r>
          </a:p>
          <a:p>
            <a:r>
              <a:t>TALKING SCRIPT:</a:t>
            </a:r>
          </a:p>
          <a:p>
            <a:r>
              <a:t>Slide 21 showcases two operational automations. On the left is our live production screenshot of Department Policies. Each department has defined routing policies and confidence thresholds; if qualified, it dispatches an instant confirmation message, slashing First Response Time to two minutes! On the right is our live Learning Insights page. The AI aggregates weekly support friction points and product bugs into actionable intelligence. Additionally, under SCRUM-113, our async worker condenses reopened tickets into a 5-bullet summary, saving newly assigned agents 15 minutes of re-reading time. Now, Aarti Singh will present Docker containerization and Render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Aarti Singh | ⏱️ TIME: 45s</a:t>
            </a:r>
          </a:p>
          <a:p>
            <a:r>
              <a:t>🎯 CORE GOAL: Demonstrate our containerization, Render cloud deployment, and automated CI/CD pipeline.</a:t>
            </a:r>
          </a:p>
          <a:p>
            <a:r>
              <a:t>─────────────────────────────────────────────────────────────</a:t>
            </a:r>
          </a:p>
          <a:p>
            <a:r>
              <a:t>TALKING SCRIPT:</a:t>
            </a:r>
          </a:p>
          <a:p>
            <a:r>
              <a:t>To ensure seamless client adoption and production stability, I headed our Docker containerization and Render Blueprint cloud orchestration. We built multi-stage Dockerfiles for all tiers, resulting in ultra-compact images: Nginx frontend at 25 MB, Express backend at 140 MB, and FastAPI at 210 MB. A single 'docker compose up' command boots the entire stack locally. For cloud deployment, our render.yaml Blueprint provisions all services on Render with one click, connected to Supabase PostgreSQL over SSL. Furthermore, our GitHub Actions CI/CD pipeline validates every commit by booting a test PostgreSQL container and running all unit and integration tests. Now, our entire team will rejoin for the System Architecture and Empirical Benchmarks.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Joint Team (Shrujan &amp; Yash) | ⏱️ TIME: 45s</a:t>
            </a:r>
          </a:p>
          <a:p>
            <a:r>
              <a:t>🎯 CORE GOAL: Walk the client through the complete end-to-end request flow across all 4 tiers.</a:t>
            </a:r>
          </a:p>
          <a:p>
            <a:r>
              <a:t>─────────────────────────────────────────────────────────────</a:t>
            </a:r>
          </a:p>
          <a:p>
            <a:r>
              <a:t>TALKING SCRIPT:</a:t>
            </a:r>
          </a:p>
          <a:p>
            <a:r>
              <a:t>This slide presents the complete system architecture diagram of SupportSense AI. The Client Tier communicates with the Express Application Tier over HTTPS REST using JWT Bearer authentication. The Express backend handles business logic, state machines, and atomic database persistence to PostgreSQL. When AI triage or decision support is needed, the backend delegates asynchronously to our Python FastAPI AI microservice, which executes specialized role-based prompts grounded in Kaggle datasets. This decoupled micro-architecture guarantees high availability, modular scaling, and zero single points of failure.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Joint Team (Aarti &amp; Yash) | ⏱️ TIME: 45s</a:t>
            </a:r>
          </a:p>
          <a:p>
            <a:r>
              <a:t>🎯 CORE GOAL: Present the empirical benchmark table and live analytics dashboard.</a:t>
            </a:r>
          </a:p>
          <a:p>
            <a:r>
              <a:t>─────────────────────────────────────────────────────────────</a:t>
            </a:r>
          </a:p>
          <a:p>
            <a:r>
              <a:t>TALKING SCRIPT:</a:t>
            </a:r>
          </a:p>
          <a:p>
            <a:r>
              <a:t>Every claim we make today is backed by empirical proof. As seen on the left and verified in our test reports: our ticket classification achieved 96.0% accuracy; customer mood detection reached 94.0% alignment; and resolution forecasting reached 89.5% accuracy. Inference latency averages 420 milliseconds, dropping to 12 milliseconds on cache hits. On the right is our live production screenshot of the Analytics Dashboard on Render. Furthermore, our automated test suite achieved a 100% pass rate across 89 unit, integration, concurrency, and transaction rollback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Joint Team (Rohan Salkar) | ⏱️ TIME: 50s</a:t>
            </a:r>
          </a:p>
          <a:p>
            <a:r>
              <a:t>🎯 CORE GOAL: Conclude with financial ROI, future roadmap, and invite questions.</a:t>
            </a:r>
          </a:p>
          <a:p>
            <a:r>
              <a:t>─────────────────────────────────────────────────────────────</a:t>
            </a:r>
          </a:p>
          <a:p>
            <a:r>
              <a:t>TALKING SCRIPT:</a:t>
            </a:r>
          </a:p>
          <a:p>
            <a:r>
              <a:t>In conclusion, SupportSense AI delivers transformational business outcomes for enterprise support centers: a 75% reduction in First Response Time, a 35% ticket deflection rate, a 28% increase in First Contact Resolution, and over 80% savings in AI API costs. Our strategic roadmap includes Vector RAG with pgvector, real-time telephony transcription, and predictive SLA alerting. With 13 comprehensive engineering modules, 100% test pass rates, and turnkey Docker orchestration, SupportSense AI is enterprise-ready today. On behalf of Rohan, Aarti, Shrujan, and Yash, thank you for your time. We would now be delighted to answer any questions and demonstrate a live walkthrough of the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822960" y="822960"/>
            <a:ext cx="1097280" cy="1172666"/>
          </a:xfrm>
          <a:prstGeom prst="rect">
            <a:avLst/>
          </a:prstGeom>
        </p:spPr>
      </p:pic>
      <p:sp>
        <p:nvSpPr>
          <p:cNvPr id="4" name="TextBox 3"/>
          <p:cNvSpPr txBox="1"/>
          <p:nvPr/>
        </p:nvSpPr>
        <p:spPr>
          <a:xfrm>
            <a:off x="2103120" y="777240"/>
            <a:ext cx="9326880" cy="2011680"/>
          </a:xfrm>
          <a:prstGeom prst="rect">
            <a:avLst/>
          </a:prstGeom>
          <a:noFill/>
        </p:spPr>
        <p:txBody>
          <a:bodyPr wrap="square">
            <a:spAutoFit/>
          </a:bodyPr>
          <a:lstStyle/>
          <a:p>
            <a:pPr>
              <a:defRPr sz="3800" b="1">
                <a:solidFill>
                  <a:srgbClr val="F8FAFC"/>
                </a:solidFill>
                <a:latin typeface="Calibri"/>
              </a:defRPr>
            </a:pPr>
            <a:r>
              <a:t>SupportSense AI</a:t>
            </a:r>
          </a:p>
          <a:p>
            <a:pPr>
              <a:spcBef>
                <a:spcPts val="400"/>
              </a:spcBef>
              <a:defRPr sz="1900" b="1">
                <a:solidFill>
                  <a:srgbClr val="38BDF8"/>
                </a:solidFill>
                <a:latin typeface="Calibri"/>
              </a:defRPr>
            </a:pPr>
            <a:r>
              <a:t>Enterprise AI-Assisted Customer Support Ecosystem</a:t>
            </a:r>
          </a:p>
          <a:p>
            <a:pPr>
              <a:spcBef>
                <a:spcPts val="400"/>
              </a:spcBef>
              <a:defRPr sz="1150">
                <a:solidFill>
                  <a:srgbClr val="94A3B8"/>
                </a:solidFill>
                <a:latin typeface="Calibri"/>
              </a:defRPr>
            </a:pPr>
            <a:r>
              <a:t>Real-Time Triage • Sentiment Monitoring • Resolution Forecasting • Automated Policies</a:t>
            </a:r>
          </a:p>
        </p:txBody>
      </p:sp>
      <p:sp>
        <p:nvSpPr>
          <p:cNvPr id="5" name="Rectangle 4"/>
          <p:cNvSpPr/>
          <p:nvPr/>
        </p:nvSpPr>
        <p:spPr>
          <a:xfrm>
            <a:off x="822960" y="2834640"/>
            <a:ext cx="10545775" cy="18288"/>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063240"/>
            <a:ext cx="2514600" cy="30175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3227832"/>
            <a:ext cx="2112264" cy="320040"/>
          </a:xfrm>
          <a:prstGeom prst="rect">
            <a:avLst/>
          </a:prstGeom>
          <a:noFill/>
        </p:spPr>
        <p:txBody>
          <a:bodyPr wrap="square" lIns="0" tIns="0" rIns="0" bIns="0">
            <a:spAutoFit/>
          </a:bodyPr>
          <a:lstStyle/>
          <a:p>
            <a:pPr>
              <a:defRPr sz="1200" b="1">
                <a:solidFill>
                  <a:srgbClr val="F8FAFC"/>
                </a:solidFill>
                <a:latin typeface="Calibri"/>
              </a:defRPr>
            </a:pPr>
            <a:r>
              <a:t>Rohan Salkar</a:t>
            </a:r>
          </a:p>
          <a:p>
            <a:pPr>
              <a:defRPr sz="919">
                <a:solidFill>
                  <a:srgbClr val="94A3B8"/>
                </a:solidFill>
                <a:latin typeface="Calibri"/>
              </a:defRPr>
            </a:pPr>
            <a:r>
              <a:t>Frontend &amp; UI/UX Lead</a:t>
            </a:r>
          </a:p>
        </p:txBody>
      </p:sp>
      <p:sp>
        <p:nvSpPr>
          <p:cNvPr id="8" name="TextBox 7"/>
          <p:cNvSpPr txBox="1"/>
          <p:nvPr/>
        </p:nvSpPr>
        <p:spPr>
          <a:xfrm>
            <a:off x="1005840" y="3931920"/>
            <a:ext cx="2148840" cy="1965960"/>
          </a:xfrm>
          <a:prstGeom prst="rect">
            <a:avLst/>
          </a:prstGeom>
          <a:noFill/>
        </p:spPr>
        <p:txBody>
          <a:bodyPr wrap="square" lIns="0" tIns="0" rIns="0" bIns="0">
            <a:spAutoFit/>
          </a:bodyPr>
          <a:lstStyle/>
          <a:p>
            <a:pPr>
              <a:defRPr sz="919">
                <a:solidFill>
                  <a:srgbClr val="94A3B8"/>
                </a:solidFill>
                <a:latin typeface="Calibri"/>
              </a:defRPr>
            </a:pPr>
            <a:r>
              <a:t>Headed React 18 SPA architecture, Tailwind CSS MoonRow design system, dark/light theme switching, responsive layouts, and tone polishing modals.</a:t>
            </a:r>
          </a:p>
        </p:txBody>
      </p:sp>
      <p:sp>
        <p:nvSpPr>
          <p:cNvPr id="9" name="Rounded Rectangle 8"/>
          <p:cNvSpPr/>
          <p:nvPr/>
        </p:nvSpPr>
        <p:spPr>
          <a:xfrm>
            <a:off x="3520440" y="3063240"/>
            <a:ext cx="2514600" cy="30175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21608" y="3227832"/>
            <a:ext cx="2112264" cy="320040"/>
          </a:xfrm>
          <a:prstGeom prst="rect">
            <a:avLst/>
          </a:prstGeom>
          <a:noFill/>
        </p:spPr>
        <p:txBody>
          <a:bodyPr wrap="square" lIns="0" tIns="0" rIns="0" bIns="0">
            <a:spAutoFit/>
          </a:bodyPr>
          <a:lstStyle/>
          <a:p>
            <a:pPr>
              <a:defRPr sz="1200" b="1">
                <a:solidFill>
                  <a:srgbClr val="F8FAFC"/>
                </a:solidFill>
                <a:latin typeface="Calibri"/>
              </a:defRPr>
            </a:pPr>
            <a:r>
              <a:t>Yash Sanikop</a:t>
            </a:r>
          </a:p>
          <a:p>
            <a:pPr>
              <a:defRPr sz="919">
                <a:solidFill>
                  <a:srgbClr val="94A3B8"/>
                </a:solidFill>
                <a:latin typeface="Calibri"/>
              </a:defRPr>
            </a:pPr>
            <a:r>
              <a:t>Frontend &amp; AI Lead</a:t>
            </a:r>
            <a:br/>
            <a:r>
              <a:t>(Intern: Roll No. 23CO76)</a:t>
            </a:r>
          </a:p>
        </p:txBody>
      </p:sp>
      <p:sp>
        <p:nvSpPr>
          <p:cNvPr id="11" name="TextBox 10"/>
          <p:cNvSpPr txBox="1"/>
          <p:nvPr/>
        </p:nvSpPr>
        <p:spPr>
          <a:xfrm>
            <a:off x="3703320" y="3931920"/>
            <a:ext cx="2148840" cy="1965960"/>
          </a:xfrm>
          <a:prstGeom prst="rect">
            <a:avLst/>
          </a:prstGeom>
          <a:noFill/>
        </p:spPr>
        <p:txBody>
          <a:bodyPr wrap="square" lIns="0" tIns="0" rIns="0" bIns="0">
            <a:spAutoFit/>
          </a:bodyPr>
          <a:lstStyle/>
          <a:p>
            <a:pPr>
              <a:defRPr sz="919">
                <a:solidFill>
                  <a:srgbClr val="94A3B8"/>
                </a:solidFill>
                <a:latin typeface="Calibri"/>
              </a:defRPr>
            </a:pPr>
            <a:r>
              <a:t>Responsible for FastAPI AI microservice, Gemini 1.5 Flash SDK integration, model instance pooling, TTL caching, prompt engineering, and conversational AI concierge widgets.</a:t>
            </a:r>
          </a:p>
        </p:txBody>
      </p:sp>
      <p:sp>
        <p:nvSpPr>
          <p:cNvPr id="12" name="Rounded Rectangle 11"/>
          <p:cNvSpPr/>
          <p:nvPr/>
        </p:nvSpPr>
        <p:spPr>
          <a:xfrm>
            <a:off x="6217920" y="3063240"/>
            <a:ext cx="2514600" cy="30175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3227832"/>
            <a:ext cx="2112264" cy="320040"/>
          </a:xfrm>
          <a:prstGeom prst="rect">
            <a:avLst/>
          </a:prstGeom>
          <a:noFill/>
        </p:spPr>
        <p:txBody>
          <a:bodyPr wrap="square" lIns="0" tIns="0" rIns="0" bIns="0">
            <a:spAutoFit/>
          </a:bodyPr>
          <a:lstStyle/>
          <a:p>
            <a:pPr>
              <a:defRPr sz="1200" b="1">
                <a:solidFill>
                  <a:srgbClr val="F8FAFC"/>
                </a:solidFill>
                <a:latin typeface="Calibri"/>
              </a:defRPr>
            </a:pPr>
            <a:r>
              <a:t>Shrujan Mitbavkar</a:t>
            </a:r>
          </a:p>
          <a:p>
            <a:pPr>
              <a:defRPr sz="919">
                <a:solidFill>
                  <a:srgbClr val="94A3B8"/>
                </a:solidFill>
                <a:latin typeface="Calibri"/>
              </a:defRPr>
            </a:pPr>
            <a:r>
              <a:t>Backend &amp; Database Lead</a:t>
            </a:r>
          </a:p>
        </p:txBody>
      </p:sp>
      <p:sp>
        <p:nvSpPr>
          <p:cNvPr id="14" name="TextBox 13"/>
          <p:cNvSpPr txBox="1"/>
          <p:nvPr/>
        </p:nvSpPr>
        <p:spPr>
          <a:xfrm>
            <a:off x="6400800" y="3931920"/>
            <a:ext cx="2148840" cy="1965960"/>
          </a:xfrm>
          <a:prstGeom prst="rect">
            <a:avLst/>
          </a:prstGeom>
          <a:noFill/>
        </p:spPr>
        <p:txBody>
          <a:bodyPr wrap="square" lIns="0" tIns="0" rIns="0" bIns="0">
            <a:spAutoFit/>
          </a:bodyPr>
          <a:lstStyle/>
          <a:p>
            <a:pPr>
              <a:defRPr sz="919">
                <a:solidFill>
                  <a:srgbClr val="94A3B8"/>
                </a:solidFill>
                <a:latin typeface="Calibri"/>
              </a:defRPr>
            </a:pPr>
            <a:r>
              <a:t>Managed Express REST controllers, PostgreSQL relational schema modeling, database transactions, state machines, and Supabase cloud connection pooling.</a:t>
            </a:r>
          </a:p>
        </p:txBody>
      </p:sp>
      <p:sp>
        <p:nvSpPr>
          <p:cNvPr id="15" name="Rounded Rectangle 14"/>
          <p:cNvSpPr/>
          <p:nvPr/>
        </p:nvSpPr>
        <p:spPr>
          <a:xfrm>
            <a:off x="8915400" y="3063240"/>
            <a:ext cx="2514600" cy="30175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3227832"/>
            <a:ext cx="2112264" cy="320040"/>
          </a:xfrm>
          <a:prstGeom prst="rect">
            <a:avLst/>
          </a:prstGeom>
          <a:noFill/>
        </p:spPr>
        <p:txBody>
          <a:bodyPr wrap="square" lIns="0" tIns="0" rIns="0" bIns="0">
            <a:spAutoFit/>
          </a:bodyPr>
          <a:lstStyle/>
          <a:p>
            <a:pPr>
              <a:defRPr sz="1200" b="1">
                <a:solidFill>
                  <a:srgbClr val="F8FAFC"/>
                </a:solidFill>
                <a:latin typeface="Calibri"/>
              </a:defRPr>
            </a:pPr>
            <a:r>
              <a:t>Aarti Singh</a:t>
            </a:r>
          </a:p>
          <a:p>
            <a:pPr>
              <a:defRPr sz="919">
                <a:solidFill>
                  <a:srgbClr val="94A3B8"/>
                </a:solidFill>
                <a:latin typeface="Calibri"/>
              </a:defRPr>
            </a:pPr>
            <a:r>
              <a:t>DevOps, QA &amp; Doc Lead</a:t>
            </a:r>
          </a:p>
        </p:txBody>
      </p:sp>
      <p:sp>
        <p:nvSpPr>
          <p:cNvPr id="17" name="TextBox 16"/>
          <p:cNvSpPr txBox="1"/>
          <p:nvPr/>
        </p:nvSpPr>
        <p:spPr>
          <a:xfrm>
            <a:off x="9098280" y="3931920"/>
            <a:ext cx="2148840" cy="1965960"/>
          </a:xfrm>
          <a:prstGeom prst="rect">
            <a:avLst/>
          </a:prstGeom>
          <a:noFill/>
        </p:spPr>
        <p:txBody>
          <a:bodyPr wrap="square" lIns="0" tIns="0" rIns="0" bIns="0">
            <a:spAutoFit/>
          </a:bodyPr>
          <a:lstStyle/>
          <a:p>
            <a:pPr>
              <a:defRPr sz="919">
                <a:solidFill>
                  <a:srgbClr val="94A3B8"/>
                </a:solidFill>
                <a:latin typeface="Calibri"/>
              </a:defRPr>
            </a:pPr>
            <a:r>
              <a:t>Headed Docker containerization, Render Blueprint orchestration, automated Jest and Pytest suites, security hardening, and technical governance specifications.</a:t>
            </a:r>
          </a:p>
        </p:txBody>
      </p:sp>
      <p:sp>
        <p:nvSpPr>
          <p:cNvPr id="18" name="TextBox 17"/>
          <p:cNvSpPr txBox="1"/>
          <p:nvPr/>
        </p:nvSpPr>
        <p:spPr>
          <a:xfrm>
            <a:off x="822960" y="6217920"/>
            <a:ext cx="10515600" cy="365760"/>
          </a:xfrm>
          <a:prstGeom prst="rect">
            <a:avLst/>
          </a:prstGeom>
          <a:noFill/>
        </p:spPr>
        <p:txBody>
          <a:bodyPr wrap="none">
            <a:spAutoFit/>
          </a:bodyPr>
          <a:lstStyle/>
          <a:p>
            <a:pPr>
              <a:defRPr sz="919">
                <a:solidFill>
                  <a:srgbClr val="94A3B8"/>
                </a:solidFill>
                <a:latin typeface="Calibri"/>
              </a:defRPr>
            </a:pPr>
            <a:r>
              <a:t>Persistent Systems Ltd. Internship Program | Student Intern: Yash Sanikop (Roll No. 23CO76) | Industry Mentor: Vishal Bidikar | Guide: Prof. Laxmikant Bordekar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EXECUTIVE SUMMARY</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Executive Summary: Business Impact &amp; Human-in-the-Loop Value</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Delivering enterprise ROI through intelligent decision-support without risky unverified automations.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02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2514600" cy="15544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801368"/>
            <a:ext cx="2185416" cy="1335024"/>
          </a:xfrm>
          <a:prstGeom prst="rect">
            <a:avLst/>
          </a:prstGeom>
          <a:noFill/>
        </p:spPr>
        <p:txBody>
          <a:bodyPr wrap="square" lIns="0" tIns="0" rIns="0" bIns="0">
            <a:spAutoFit/>
          </a:bodyPr>
          <a:lstStyle/>
          <a:p>
            <a:pPr>
              <a:defRPr sz="2700" b="1">
                <a:solidFill>
                  <a:srgbClr val="38BDF8"/>
                </a:solidFill>
                <a:latin typeface="Calibri"/>
              </a:defRPr>
            </a:pPr>
            <a:r>
              <a:t>75%</a:t>
            </a:r>
          </a:p>
          <a:p>
            <a:pPr>
              <a:spcBef>
                <a:spcPts val="300"/>
              </a:spcBef>
              <a:defRPr sz="1150" b="1">
                <a:solidFill>
                  <a:srgbClr val="F8FAFC"/>
                </a:solidFill>
                <a:latin typeface="Calibri"/>
              </a:defRPr>
            </a:pPr>
            <a:r>
              <a:t>First Response Reduction</a:t>
            </a:r>
          </a:p>
          <a:p>
            <a:pPr>
              <a:spcBef>
                <a:spcPts val="200"/>
              </a:spcBef>
              <a:defRPr sz="900">
                <a:solidFill>
                  <a:srgbClr val="94A3B8"/>
                </a:solidFill>
                <a:latin typeface="Calibri"/>
              </a:defRPr>
            </a:pPr>
            <a:r>
              <a:t>From 8.5 hours to 2.1 mins via instant department confirmations</a:t>
            </a:r>
          </a:p>
        </p:txBody>
      </p:sp>
      <p:sp>
        <p:nvSpPr>
          <p:cNvPr id="12" name="Rounded Rectangle 11"/>
          <p:cNvSpPr/>
          <p:nvPr/>
        </p:nvSpPr>
        <p:spPr>
          <a:xfrm>
            <a:off x="3429000" y="1691640"/>
            <a:ext cx="2514600" cy="15544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801368"/>
            <a:ext cx="2185416" cy="1335024"/>
          </a:xfrm>
          <a:prstGeom prst="rect">
            <a:avLst/>
          </a:prstGeom>
          <a:noFill/>
        </p:spPr>
        <p:txBody>
          <a:bodyPr wrap="square" lIns="0" tIns="0" rIns="0" bIns="0">
            <a:spAutoFit/>
          </a:bodyPr>
          <a:lstStyle/>
          <a:p>
            <a:pPr>
              <a:defRPr sz="2700" b="1">
                <a:solidFill>
                  <a:srgbClr val="10B981"/>
                </a:solidFill>
                <a:latin typeface="Calibri"/>
              </a:defRPr>
            </a:pPr>
            <a:r>
              <a:t>35%</a:t>
            </a:r>
          </a:p>
          <a:p>
            <a:pPr>
              <a:spcBef>
                <a:spcPts val="300"/>
              </a:spcBef>
              <a:defRPr sz="1150" b="1">
                <a:solidFill>
                  <a:srgbClr val="F8FAFC"/>
                </a:solidFill>
                <a:latin typeface="Calibri"/>
              </a:defRPr>
            </a:pPr>
            <a:r>
              <a:t>Ticket Deflection Rate</a:t>
            </a:r>
          </a:p>
          <a:p>
            <a:pPr>
              <a:spcBef>
                <a:spcPts val="200"/>
              </a:spcBef>
              <a:defRPr sz="900">
                <a:solidFill>
                  <a:srgbClr val="94A3B8"/>
                </a:solidFill>
                <a:latin typeface="Calibri"/>
              </a:defRPr>
            </a:pPr>
            <a:r>
              <a:t>Real-time Knowledge Base suggestions &amp; duplicate alerts</a:t>
            </a:r>
          </a:p>
        </p:txBody>
      </p:sp>
      <p:sp>
        <p:nvSpPr>
          <p:cNvPr id="14" name="Rounded Rectangle 13"/>
          <p:cNvSpPr/>
          <p:nvPr/>
        </p:nvSpPr>
        <p:spPr>
          <a:xfrm>
            <a:off x="6126480" y="1691640"/>
            <a:ext cx="2514600" cy="15544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801368"/>
            <a:ext cx="2185416" cy="1335024"/>
          </a:xfrm>
          <a:prstGeom prst="rect">
            <a:avLst/>
          </a:prstGeom>
          <a:noFill/>
        </p:spPr>
        <p:txBody>
          <a:bodyPr wrap="square" lIns="0" tIns="0" rIns="0" bIns="0">
            <a:spAutoFit/>
          </a:bodyPr>
          <a:lstStyle/>
          <a:p>
            <a:pPr>
              <a:defRPr sz="2700" b="1">
                <a:solidFill>
                  <a:srgbClr val="F59E0B"/>
                </a:solidFill>
                <a:latin typeface="Calibri"/>
              </a:defRPr>
            </a:pPr>
            <a:r>
              <a:t>96.0%</a:t>
            </a:r>
          </a:p>
          <a:p>
            <a:pPr>
              <a:spcBef>
                <a:spcPts val="300"/>
              </a:spcBef>
              <a:defRPr sz="1150" b="1">
                <a:solidFill>
                  <a:srgbClr val="F8FAFC"/>
                </a:solidFill>
                <a:latin typeface="Calibri"/>
              </a:defRPr>
            </a:pPr>
            <a:r>
              <a:t>AI Triage Accuracy</a:t>
            </a:r>
          </a:p>
          <a:p>
            <a:pPr>
              <a:spcBef>
                <a:spcPts val="200"/>
              </a:spcBef>
              <a:defRPr sz="900">
                <a:solidFill>
                  <a:srgbClr val="94A3B8"/>
                </a:solidFill>
                <a:latin typeface="Calibri"/>
              </a:defRPr>
            </a:pPr>
            <a:r>
              <a:t>Calibrated on 100 historical Kaggle and Hugging Face records</a:t>
            </a:r>
          </a:p>
        </p:txBody>
      </p:sp>
      <p:sp>
        <p:nvSpPr>
          <p:cNvPr id="16" name="Rounded Rectangle 15"/>
          <p:cNvSpPr/>
          <p:nvPr/>
        </p:nvSpPr>
        <p:spPr>
          <a:xfrm>
            <a:off x="8823960" y="1691640"/>
            <a:ext cx="2514600" cy="155448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8552" y="1801368"/>
            <a:ext cx="2185416" cy="1335024"/>
          </a:xfrm>
          <a:prstGeom prst="rect">
            <a:avLst/>
          </a:prstGeom>
          <a:noFill/>
        </p:spPr>
        <p:txBody>
          <a:bodyPr wrap="square" lIns="0" tIns="0" rIns="0" bIns="0">
            <a:spAutoFit/>
          </a:bodyPr>
          <a:lstStyle/>
          <a:p>
            <a:pPr>
              <a:defRPr sz="2700" b="1">
                <a:solidFill>
                  <a:srgbClr val="A855F7"/>
                </a:solidFill>
                <a:latin typeface="Calibri"/>
              </a:defRPr>
            </a:pPr>
            <a:r>
              <a:t>100%</a:t>
            </a:r>
          </a:p>
          <a:p>
            <a:pPr>
              <a:spcBef>
                <a:spcPts val="300"/>
              </a:spcBef>
              <a:defRPr sz="1150" b="1">
                <a:solidFill>
                  <a:srgbClr val="F8FAFC"/>
                </a:solidFill>
                <a:latin typeface="Calibri"/>
              </a:defRPr>
            </a:pPr>
            <a:r>
              <a:t>Data Consistency</a:t>
            </a:r>
          </a:p>
          <a:p>
            <a:pPr>
              <a:spcBef>
                <a:spcPts val="200"/>
              </a:spcBef>
              <a:defRPr sz="900">
                <a:solidFill>
                  <a:srgbClr val="94A3B8"/>
                </a:solidFill>
                <a:latin typeface="Calibri"/>
              </a:defRPr>
            </a:pPr>
            <a:r>
              <a:t>Atomic PostgreSQL commits with 0 orphaned tickets on failure</a:t>
            </a:r>
          </a:p>
        </p:txBody>
      </p:sp>
      <p:sp>
        <p:nvSpPr>
          <p:cNvPr id="18" name="Rounded Rectangle 17"/>
          <p:cNvSpPr/>
          <p:nvPr/>
        </p:nvSpPr>
        <p:spPr>
          <a:xfrm>
            <a:off x="731520" y="3474720"/>
            <a:ext cx="3383280"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639312"/>
            <a:ext cx="2980944" cy="320040"/>
          </a:xfrm>
          <a:prstGeom prst="rect">
            <a:avLst/>
          </a:prstGeom>
          <a:noFill/>
        </p:spPr>
        <p:txBody>
          <a:bodyPr wrap="square" lIns="0" tIns="0" rIns="0" bIns="0">
            <a:spAutoFit/>
          </a:bodyPr>
          <a:lstStyle/>
          <a:p>
            <a:pPr>
              <a:defRPr sz="1200" b="1">
                <a:solidFill>
                  <a:srgbClr val="F8FAFC"/>
                </a:solidFill>
                <a:latin typeface="Calibri"/>
              </a:defRPr>
            </a:pPr>
            <a:r>
              <a:t>1. Operational Velocity</a:t>
            </a:r>
          </a:p>
          <a:p>
            <a:pPr>
              <a:defRPr sz="919">
                <a:solidFill>
                  <a:srgbClr val="94A3B8"/>
                </a:solidFill>
                <a:latin typeface="Calibri"/>
              </a:defRPr>
            </a:pPr>
            <a:r>
              <a:t>Slashing triage bottlenecks</a:t>
            </a:r>
          </a:p>
        </p:txBody>
      </p:sp>
      <p:sp>
        <p:nvSpPr>
          <p:cNvPr id="20" name="TextBox 19"/>
          <p:cNvSpPr txBox="1"/>
          <p:nvPr/>
        </p:nvSpPr>
        <p:spPr>
          <a:xfrm>
            <a:off x="914400" y="4069080"/>
            <a:ext cx="3017520" cy="2103120"/>
          </a:xfrm>
          <a:prstGeom prst="rect">
            <a:avLst/>
          </a:prstGeom>
          <a:noFill/>
        </p:spPr>
        <p:txBody>
          <a:bodyPr wrap="square" lIns="0" tIns="0" rIns="0" bIns="0">
            <a:spAutoFit/>
          </a:bodyPr>
          <a:lstStyle/>
          <a:p>
            <a:pPr>
              <a:spcBef>
                <a:spcPts val="400"/>
              </a:spcBef>
            </a:pPr>
            <a:r>
              <a:rPr sz="1050" b="1">
                <a:solidFill>
                  <a:srgbClr val="F8FAFC"/>
                </a:solidFill>
                <a:latin typeface="Calibri"/>
              </a:rPr>
              <a:t>•  Instant Auto-Replies: </a:t>
            </a:r>
            <a:r>
              <a:rPr sz="1050">
                <a:solidFill>
                  <a:srgbClr val="94A3B8"/>
                </a:solidFill>
                <a:latin typeface="Calibri"/>
              </a:rPr>
              <a:t>Non-destructive department replies sent in &lt; 2 seconds.</a:t>
            </a:r>
          </a:p>
          <a:p>
            <a:pPr>
              <a:spcBef>
                <a:spcPts val="400"/>
              </a:spcBef>
            </a:pPr>
            <a:r>
              <a:rPr sz="1050" b="1">
                <a:solidFill>
                  <a:srgbClr val="F8FAFC"/>
                </a:solidFill>
                <a:latin typeface="Calibri"/>
              </a:rPr>
              <a:t>•  Dynamic Checklists: </a:t>
            </a:r>
            <a:r>
              <a:rPr sz="1050">
                <a:solidFill>
                  <a:srgbClr val="94A3B8"/>
                </a:solidFill>
                <a:latin typeface="Calibri"/>
              </a:rPr>
              <a:t>3–5 tailored verification steps prevent overlooked items.</a:t>
            </a:r>
          </a:p>
          <a:p>
            <a:pPr>
              <a:spcBef>
                <a:spcPts val="400"/>
              </a:spcBef>
            </a:pPr>
            <a:r>
              <a:rPr sz="1050" b="1">
                <a:solidFill>
                  <a:srgbClr val="F8FAFC"/>
                </a:solidFill>
                <a:latin typeface="Calibri"/>
              </a:rPr>
              <a:t>•  Patience Guardrail: </a:t>
            </a:r>
            <a:r>
              <a:rPr sz="1050">
                <a:solidFill>
                  <a:srgbClr val="94A3B8"/>
                </a:solidFill>
                <a:latin typeface="Calibri"/>
              </a:rPr>
              <a:t>4-tier customer patience indicators signal SLA risks early.</a:t>
            </a:r>
          </a:p>
        </p:txBody>
      </p:sp>
      <p:sp>
        <p:nvSpPr>
          <p:cNvPr id="21" name="Rounded Rectangle 20"/>
          <p:cNvSpPr/>
          <p:nvPr/>
        </p:nvSpPr>
        <p:spPr>
          <a:xfrm>
            <a:off x="4389120" y="3474720"/>
            <a:ext cx="3383280"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0288" y="3639312"/>
            <a:ext cx="2980944" cy="320040"/>
          </a:xfrm>
          <a:prstGeom prst="rect">
            <a:avLst/>
          </a:prstGeom>
          <a:noFill/>
        </p:spPr>
        <p:txBody>
          <a:bodyPr wrap="square" lIns="0" tIns="0" rIns="0" bIns="0">
            <a:spAutoFit/>
          </a:bodyPr>
          <a:lstStyle/>
          <a:p>
            <a:pPr>
              <a:defRPr sz="1200" b="1">
                <a:solidFill>
                  <a:srgbClr val="F8FAFC"/>
                </a:solidFill>
                <a:latin typeface="Calibri"/>
              </a:defRPr>
            </a:pPr>
            <a:r>
              <a:t>2. Human-in-the-Loop Safety</a:t>
            </a:r>
          </a:p>
          <a:p>
            <a:pPr>
              <a:defRPr sz="919">
                <a:solidFill>
                  <a:srgbClr val="94A3B8"/>
                </a:solidFill>
                <a:latin typeface="Calibri"/>
              </a:defRPr>
            </a:pPr>
            <a:r>
              <a:t>AI Assists, Humans Decide</a:t>
            </a:r>
          </a:p>
        </p:txBody>
      </p:sp>
      <p:sp>
        <p:nvSpPr>
          <p:cNvPr id="23" name="TextBox 22"/>
          <p:cNvSpPr txBox="1"/>
          <p:nvPr/>
        </p:nvSpPr>
        <p:spPr>
          <a:xfrm>
            <a:off x="4572000" y="4069080"/>
            <a:ext cx="3017520" cy="2103120"/>
          </a:xfrm>
          <a:prstGeom prst="rect">
            <a:avLst/>
          </a:prstGeom>
          <a:noFill/>
        </p:spPr>
        <p:txBody>
          <a:bodyPr wrap="square" lIns="0" tIns="0" rIns="0" bIns="0">
            <a:spAutoFit/>
          </a:bodyPr>
          <a:lstStyle/>
          <a:p>
            <a:pPr>
              <a:spcBef>
                <a:spcPts val="400"/>
              </a:spcBef>
            </a:pPr>
            <a:r>
              <a:rPr sz="1050" b="1">
                <a:solidFill>
                  <a:srgbClr val="F8FAFC"/>
                </a:solidFill>
                <a:latin typeface="Calibri"/>
              </a:rPr>
              <a:t>•  Bounded Automation: </a:t>
            </a:r>
            <a:r>
              <a:rPr sz="1050">
                <a:solidFill>
                  <a:srgbClr val="94A3B8"/>
                </a:solidFill>
                <a:latin typeface="Calibri"/>
              </a:rPr>
              <a:t>AI never issues refunds, edits DB, or sends unvetted replies.</a:t>
            </a:r>
          </a:p>
          <a:p>
            <a:pPr>
              <a:spcBef>
                <a:spcPts val="400"/>
              </a:spcBef>
            </a:pPr>
            <a:r>
              <a:rPr sz="1050" b="1">
                <a:solidFill>
                  <a:srgbClr val="F8FAFC"/>
                </a:solidFill>
                <a:latin typeface="Calibri"/>
              </a:rPr>
              <a:t>•  Pre-Send Audits: </a:t>
            </a:r>
            <a:r>
              <a:rPr sz="1050">
                <a:solidFill>
                  <a:srgbClr val="94A3B8"/>
                </a:solidFill>
                <a:latin typeface="Calibri"/>
              </a:rPr>
              <a:t>Scores Professionalism, Empathy, Clarity, Actionability.</a:t>
            </a:r>
          </a:p>
          <a:p>
            <a:pPr>
              <a:spcBef>
                <a:spcPts val="400"/>
              </a:spcBef>
            </a:pPr>
            <a:r>
              <a:rPr sz="1050" b="1">
                <a:solidFill>
                  <a:srgbClr val="F8FAFC"/>
                </a:solidFill>
                <a:latin typeface="Calibri"/>
              </a:rPr>
              <a:t>•  Confidence Checks: </a:t>
            </a:r>
            <a:r>
              <a:rPr sz="1050">
                <a:solidFill>
                  <a:srgbClr val="94A3B8"/>
                </a:solidFill>
                <a:latin typeface="Calibri"/>
              </a:rPr>
              <a:t>If Gemini confidence drops &lt; 60%, human review is required.</a:t>
            </a:r>
          </a:p>
        </p:txBody>
      </p:sp>
      <p:sp>
        <p:nvSpPr>
          <p:cNvPr id="24" name="Rounded Rectangle 23"/>
          <p:cNvSpPr/>
          <p:nvPr/>
        </p:nvSpPr>
        <p:spPr>
          <a:xfrm>
            <a:off x="8046720" y="3474720"/>
            <a:ext cx="3383280"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47888" y="3639312"/>
            <a:ext cx="2980944" cy="320040"/>
          </a:xfrm>
          <a:prstGeom prst="rect">
            <a:avLst/>
          </a:prstGeom>
          <a:noFill/>
        </p:spPr>
        <p:txBody>
          <a:bodyPr wrap="square" lIns="0" tIns="0" rIns="0" bIns="0">
            <a:spAutoFit/>
          </a:bodyPr>
          <a:lstStyle/>
          <a:p>
            <a:pPr>
              <a:defRPr sz="1200" b="1">
                <a:solidFill>
                  <a:srgbClr val="F8FAFC"/>
                </a:solidFill>
                <a:latin typeface="Calibri"/>
              </a:defRPr>
            </a:pPr>
            <a:r>
              <a:t>3. Continuous Learning</a:t>
            </a:r>
          </a:p>
          <a:p>
            <a:pPr>
              <a:defRPr sz="919">
                <a:solidFill>
                  <a:srgbClr val="94A3B8"/>
                </a:solidFill>
                <a:latin typeface="Calibri"/>
              </a:defRPr>
            </a:pPr>
            <a:r>
              <a:t>Turning closed tickets into IP</a:t>
            </a:r>
          </a:p>
        </p:txBody>
      </p:sp>
      <p:sp>
        <p:nvSpPr>
          <p:cNvPr id="26" name="TextBox 25"/>
          <p:cNvSpPr txBox="1"/>
          <p:nvPr/>
        </p:nvSpPr>
        <p:spPr>
          <a:xfrm>
            <a:off x="8229600" y="4069080"/>
            <a:ext cx="3017520" cy="2103120"/>
          </a:xfrm>
          <a:prstGeom prst="rect">
            <a:avLst/>
          </a:prstGeom>
          <a:noFill/>
        </p:spPr>
        <p:txBody>
          <a:bodyPr wrap="square" lIns="0" tIns="0" rIns="0" bIns="0">
            <a:spAutoFit/>
          </a:bodyPr>
          <a:lstStyle/>
          <a:p>
            <a:pPr>
              <a:spcBef>
                <a:spcPts val="400"/>
              </a:spcBef>
            </a:pPr>
            <a:r>
              <a:rPr sz="1050" b="1">
                <a:solidFill>
                  <a:srgbClr val="F8FAFC"/>
                </a:solidFill>
                <a:latin typeface="Calibri"/>
              </a:rPr>
              <a:t>•  Weekly AI Insights: </a:t>
            </a:r>
            <a:r>
              <a:rPr sz="1050">
                <a:solidFill>
                  <a:srgbClr val="94A3B8"/>
                </a:solidFill>
                <a:latin typeface="Calibri"/>
              </a:rPr>
              <a:t>Aggregates recurring customer friction and emerging bugs.</a:t>
            </a:r>
          </a:p>
          <a:p>
            <a:pPr>
              <a:spcBef>
                <a:spcPts val="400"/>
              </a:spcBef>
            </a:pPr>
            <a:r>
              <a:rPr sz="1050" b="1">
                <a:solidFill>
                  <a:srgbClr val="F8FAFC"/>
                </a:solidFill>
                <a:latin typeface="Calibri"/>
              </a:rPr>
              <a:t>•  Auto-Generated FAQs: </a:t>
            </a:r>
            <a:r>
              <a:rPr sz="1050">
                <a:solidFill>
                  <a:srgbClr val="94A3B8"/>
                </a:solidFill>
                <a:latin typeface="Calibri"/>
              </a:rPr>
              <a:t>Recommends new documentation topics from deflection gaps.</a:t>
            </a:r>
          </a:p>
          <a:p>
            <a:pPr>
              <a:spcBef>
                <a:spcPts val="400"/>
              </a:spcBef>
            </a:pPr>
            <a:r>
              <a:rPr sz="1050" b="1">
                <a:solidFill>
                  <a:srgbClr val="F8FAFC"/>
                </a:solidFill>
                <a:latin typeface="Calibri"/>
              </a:rPr>
              <a:t>•  Zero Vendor Lock-in: </a:t>
            </a:r>
            <a:r>
              <a:rPr sz="1050">
                <a:solidFill>
                  <a:srgbClr val="94A3B8"/>
                </a:solidFill>
                <a:latin typeface="Calibri"/>
              </a:rPr>
              <a:t>Self-hostable Docker architecture with total data privacy.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IDEATION PHASE</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The Enterprise Support Crisis: 4 Critical Industry Bottlenecks</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Why traditional ticketing systems fail high-volume enterprise environments.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03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257800" cy="210312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F8FAFC"/>
                </a:solidFill>
                <a:latin typeface="Calibri"/>
              </a:defRPr>
            </a:pPr>
            <a:r>
              <a:t>1. Sluggish First Response Times (FRT)</a:t>
            </a:r>
          </a:p>
        </p:txBody>
      </p:sp>
      <p:sp>
        <p:nvSpPr>
          <p:cNvPr id="12" name="TextBox 11"/>
          <p:cNvSpPr txBox="1"/>
          <p:nvPr/>
        </p:nvSpPr>
        <p:spPr>
          <a:xfrm>
            <a:off x="960120" y="2240280"/>
            <a:ext cx="4800600" cy="1371600"/>
          </a:xfrm>
          <a:prstGeom prst="rect">
            <a:avLst/>
          </a:prstGeom>
          <a:noFill/>
        </p:spPr>
        <p:txBody>
          <a:bodyPr wrap="square" lIns="0" tIns="0" rIns="0" bIns="0">
            <a:spAutoFit/>
          </a:bodyPr>
          <a:lstStyle/>
          <a:p>
            <a:pPr>
              <a:defRPr sz="1050">
                <a:solidFill>
                  <a:srgbClr val="94A3B8"/>
                </a:solidFill>
                <a:latin typeface="Calibri"/>
              </a:defRPr>
            </a:pPr>
            <a:r>
              <a:t>Enterprise support queues take 8 to 14 hours for initial responses. Manual triage requires reading, classifying, assigning, and drafting from scratch, causing SLA breaches and customer churn.</a:t>
            </a:r>
          </a:p>
        </p:txBody>
      </p:sp>
      <p:sp>
        <p:nvSpPr>
          <p:cNvPr id="13" name="Rounded Rectangle 12"/>
          <p:cNvSpPr/>
          <p:nvPr/>
        </p:nvSpPr>
        <p:spPr>
          <a:xfrm>
            <a:off x="6172200" y="1691640"/>
            <a:ext cx="5257800" cy="2103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856232"/>
            <a:ext cx="4855464" cy="320040"/>
          </a:xfrm>
          <a:prstGeom prst="rect">
            <a:avLst/>
          </a:prstGeom>
          <a:noFill/>
        </p:spPr>
        <p:txBody>
          <a:bodyPr wrap="square" lIns="0" tIns="0" rIns="0" bIns="0">
            <a:spAutoFit/>
          </a:bodyPr>
          <a:lstStyle/>
          <a:p>
            <a:pPr>
              <a:defRPr sz="1200" b="1">
                <a:solidFill>
                  <a:srgbClr val="F8FAFC"/>
                </a:solidFill>
                <a:latin typeface="Calibri"/>
              </a:defRPr>
            </a:pPr>
            <a:r>
              <a:t>2. Queue Gaming &amp; Shouting Hijacking</a:t>
            </a:r>
          </a:p>
        </p:txBody>
      </p:sp>
      <p:sp>
        <p:nvSpPr>
          <p:cNvPr id="15" name="TextBox 14"/>
          <p:cNvSpPr txBox="1"/>
          <p:nvPr/>
        </p:nvSpPr>
        <p:spPr>
          <a:xfrm>
            <a:off x="6400800" y="2240280"/>
            <a:ext cx="4800600" cy="1371600"/>
          </a:xfrm>
          <a:prstGeom prst="rect">
            <a:avLst/>
          </a:prstGeom>
          <a:noFill/>
        </p:spPr>
        <p:txBody>
          <a:bodyPr wrap="square" lIns="0" tIns="0" rIns="0" bIns="0">
            <a:spAutoFit/>
          </a:bodyPr>
          <a:lstStyle/>
          <a:p>
            <a:pPr>
              <a:defRPr sz="1050">
                <a:solidFill>
                  <a:srgbClr val="94A3B8"/>
                </a:solidFill>
                <a:latin typeface="Calibri"/>
              </a:defRPr>
            </a:pPr>
            <a:r>
              <a:t>Frustrated users type 'URGENT!!!' or 'EMERGENCY' for minor issues, tricking simple keyword filters and burying genuine production outages under shouting users.</a:t>
            </a:r>
          </a:p>
        </p:txBody>
      </p:sp>
      <p:sp>
        <p:nvSpPr>
          <p:cNvPr id="16" name="Rounded Rectangle 15"/>
          <p:cNvSpPr/>
          <p:nvPr/>
        </p:nvSpPr>
        <p:spPr>
          <a:xfrm>
            <a:off x="731520" y="3977639"/>
            <a:ext cx="5257800" cy="21031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142231"/>
            <a:ext cx="4855464" cy="320040"/>
          </a:xfrm>
          <a:prstGeom prst="rect">
            <a:avLst/>
          </a:prstGeom>
          <a:noFill/>
        </p:spPr>
        <p:txBody>
          <a:bodyPr wrap="square" lIns="0" tIns="0" rIns="0" bIns="0">
            <a:spAutoFit/>
          </a:bodyPr>
          <a:lstStyle/>
          <a:p>
            <a:pPr>
              <a:defRPr sz="1200" b="1">
                <a:solidFill>
                  <a:srgbClr val="F8FAFC"/>
                </a:solidFill>
                <a:latin typeface="Calibri"/>
              </a:defRPr>
            </a:pPr>
            <a:r>
              <a:t>3. Queue Duplication Bloat</a:t>
            </a:r>
          </a:p>
        </p:txBody>
      </p:sp>
      <p:sp>
        <p:nvSpPr>
          <p:cNvPr id="18" name="TextBox 17"/>
          <p:cNvSpPr txBox="1"/>
          <p:nvPr/>
        </p:nvSpPr>
        <p:spPr>
          <a:xfrm>
            <a:off x="960120" y="4526279"/>
            <a:ext cx="4800600" cy="1371600"/>
          </a:xfrm>
          <a:prstGeom prst="rect">
            <a:avLst/>
          </a:prstGeom>
          <a:noFill/>
        </p:spPr>
        <p:txBody>
          <a:bodyPr wrap="square" lIns="0" tIns="0" rIns="0" bIns="0">
            <a:spAutoFit/>
          </a:bodyPr>
          <a:lstStyle/>
          <a:p>
            <a:pPr>
              <a:defRPr sz="1050">
                <a:solidFill>
                  <a:srgbClr val="94A3B8"/>
                </a:solidFill>
                <a:latin typeface="Calibri"/>
              </a:defRPr>
            </a:pPr>
            <a:r>
              <a:t>Customers submit multiple tickets for the same issue or repeat already resolved queries. This bloats queues by over 30% and forces agents to re-diagnose solved problems.</a:t>
            </a:r>
          </a:p>
        </p:txBody>
      </p:sp>
      <p:sp>
        <p:nvSpPr>
          <p:cNvPr id="19" name="Rounded Rectangle 18"/>
          <p:cNvSpPr/>
          <p:nvPr/>
        </p:nvSpPr>
        <p:spPr>
          <a:xfrm>
            <a:off x="6172200" y="3977639"/>
            <a:ext cx="5257800" cy="21031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4142231"/>
            <a:ext cx="4855464" cy="320040"/>
          </a:xfrm>
          <a:prstGeom prst="rect">
            <a:avLst/>
          </a:prstGeom>
          <a:noFill/>
        </p:spPr>
        <p:txBody>
          <a:bodyPr wrap="square" lIns="0" tIns="0" rIns="0" bIns="0">
            <a:spAutoFit/>
          </a:bodyPr>
          <a:lstStyle/>
          <a:p>
            <a:pPr>
              <a:defRPr sz="1200" b="1">
                <a:solidFill>
                  <a:srgbClr val="F8FAFC"/>
                </a:solidFill>
                <a:latin typeface="Calibri"/>
              </a:defRPr>
            </a:pPr>
            <a:r>
              <a:t>4. Reopened Ticket Context Blindness</a:t>
            </a:r>
          </a:p>
        </p:txBody>
      </p:sp>
      <p:sp>
        <p:nvSpPr>
          <p:cNvPr id="21" name="TextBox 20"/>
          <p:cNvSpPr txBox="1"/>
          <p:nvPr/>
        </p:nvSpPr>
        <p:spPr>
          <a:xfrm>
            <a:off x="6400800" y="4526279"/>
            <a:ext cx="4800600" cy="1371600"/>
          </a:xfrm>
          <a:prstGeom prst="rect">
            <a:avLst/>
          </a:prstGeom>
          <a:noFill/>
        </p:spPr>
        <p:txBody>
          <a:bodyPr wrap="square" lIns="0" tIns="0" rIns="0" bIns="0">
            <a:spAutoFit/>
          </a:bodyPr>
          <a:lstStyle/>
          <a:p>
            <a:pPr>
              <a:defRPr sz="1050">
                <a:solidFill>
                  <a:srgbClr val="94A3B8"/>
                </a:solidFill>
                <a:latin typeface="Calibri"/>
              </a:defRPr>
            </a:pPr>
            <a:r>
              <a:t>When customers reopen closed tickets, newly assigned agents must read through 20+ past messages to grasp history, introducing 15+ minutes of delay per ticket.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MARKET DIFFERENTIATION</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Competitive Matrix: Why SupportSense AI Outperforms Alternatives</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Architectural advantages over Zendesk, Freshdesk, and generic OpenAI wrappers.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04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graphicFrame>
        <p:nvGraphicFramePr>
          <p:cNvPr id="10" name="Table 9"/>
          <p:cNvGraphicFramePr>
            <a:graphicFrameLocks noGrp="1"/>
          </p:cNvGraphicFramePr>
          <p:nvPr/>
        </p:nvGraphicFramePr>
        <p:xfrm>
          <a:off x="731520" y="1691640"/>
          <a:ext cx="10728655" cy="4480560"/>
        </p:xfrm>
        <a:graphic>
          <a:graphicData uri="http://schemas.openxmlformats.org/drawingml/2006/table">
            <a:tbl>
              <a:tblPr firstRow="1" bandRow="1">
                <a:tableStyleId>{5C22544A-7EE6-4342-B048-85BDC9FD1C3A}</a:tableStyleId>
              </a:tblPr>
              <a:tblGrid>
                <a:gridCol w="2286000"/>
                <a:gridCol w="2011680"/>
                <a:gridCol w="2011680"/>
                <a:gridCol w="4419295"/>
              </a:tblGrid>
              <a:tr h="560070">
                <a:tc>
                  <a:txBody>
                    <a:bodyPr/>
                    <a:lstStyle/>
                    <a:p>
                      <a:pPr algn="l">
                        <a:defRPr sz="1000" b="1">
                          <a:solidFill>
                            <a:srgbClr val="38BDF8"/>
                          </a:solidFill>
                          <a:latin typeface="Calibri"/>
                        </a:defRPr>
                      </a:pPr>
                      <a:r>
                        <a:t>Feature / Capability</a:t>
                      </a:r>
                    </a:p>
                  </a:txBody>
                  <a:tcPr anchor="ctr">
                    <a:solidFill>
                      <a:srgbClr val="1E293B"/>
                    </a:solidFill>
                  </a:tcPr>
                </a:tc>
                <a:tc>
                  <a:txBody>
                    <a:bodyPr/>
                    <a:lstStyle/>
                    <a:p>
                      <a:pPr algn="l">
                        <a:defRPr sz="1000" b="1">
                          <a:solidFill>
                            <a:srgbClr val="38BDF8"/>
                          </a:solidFill>
                          <a:latin typeface="Calibri"/>
                        </a:defRPr>
                      </a:pPr>
                      <a:r>
                        <a:t>Zendesk Enterprise</a:t>
                      </a:r>
                    </a:p>
                  </a:txBody>
                  <a:tcPr anchor="ctr">
                    <a:solidFill>
                      <a:srgbClr val="1E293B"/>
                    </a:solidFill>
                  </a:tcPr>
                </a:tc>
                <a:tc>
                  <a:txBody>
                    <a:bodyPr/>
                    <a:lstStyle/>
                    <a:p>
                      <a:pPr algn="l">
                        <a:defRPr sz="1000" b="1">
                          <a:solidFill>
                            <a:srgbClr val="38BDF8"/>
                          </a:solidFill>
                          <a:latin typeface="Calibri"/>
                        </a:defRPr>
                      </a:pPr>
                      <a:r>
                        <a:t>Freshdesk Pro</a:t>
                      </a:r>
                    </a:p>
                  </a:txBody>
                  <a:tcPr anchor="ctr">
                    <a:solidFill>
                      <a:srgbClr val="1E293B"/>
                    </a:solidFill>
                  </a:tcPr>
                </a:tc>
                <a:tc>
                  <a:txBody>
                    <a:bodyPr/>
                    <a:lstStyle/>
                    <a:p>
                      <a:pPr algn="l">
                        <a:defRPr sz="1000" b="1">
                          <a:solidFill>
                            <a:srgbClr val="38BDF8"/>
                          </a:solidFill>
                          <a:latin typeface="Calibri"/>
                        </a:defRPr>
                      </a:pPr>
                      <a:r>
                        <a:t>SupportSense AI (Ours)</a:t>
                      </a:r>
                    </a:p>
                  </a:txBody>
                  <a:tcPr anchor="ctr">
                    <a:solidFill>
                      <a:srgbClr val="1E293B"/>
                    </a:solidFill>
                  </a:tcPr>
                </a:tc>
              </a:tr>
              <a:tr h="560070">
                <a:tc>
                  <a:txBody>
                    <a:bodyPr/>
                    <a:lstStyle/>
                    <a:p>
                      <a:pPr algn="l">
                        <a:defRPr sz="950">
                          <a:solidFill>
                            <a:srgbClr val="F8FAFC"/>
                          </a:solidFill>
                          <a:latin typeface="Calibri"/>
                        </a:defRPr>
                      </a:pPr>
                      <a:r>
                        <a:t>AI Triage &amp; Urgency Decoupling</a:t>
                      </a:r>
                    </a:p>
                  </a:txBody>
                  <a:tcPr anchor="ctr">
                    <a:solidFill>
                      <a:srgbClr val="182234"/>
                    </a:solidFill>
                  </a:tcPr>
                </a:tc>
                <a:tc>
                  <a:txBody>
                    <a:bodyPr/>
                    <a:lstStyle/>
                    <a:p>
                      <a:pPr algn="l">
                        <a:defRPr sz="950">
                          <a:solidFill>
                            <a:srgbClr val="94A3B8"/>
                          </a:solidFill>
                          <a:latin typeface="Calibri"/>
                        </a:defRPr>
                      </a:pPr>
                      <a:r>
                        <a:t>Basic Keyword Rules</a:t>
                      </a:r>
                    </a:p>
                  </a:txBody>
                  <a:tcPr anchor="ctr">
                    <a:solidFill>
                      <a:srgbClr val="182234"/>
                    </a:solidFill>
                  </a:tcPr>
                </a:tc>
                <a:tc>
                  <a:txBody>
                    <a:bodyPr/>
                    <a:lstStyle/>
                    <a:p>
                      <a:pPr algn="l">
                        <a:defRPr sz="950">
                          <a:solidFill>
                            <a:srgbClr val="94A3B8"/>
                          </a:solidFill>
                          <a:latin typeface="Calibri"/>
                        </a:defRPr>
                      </a:pPr>
                      <a:r>
                        <a:t>Rule-based tags</a:t>
                      </a:r>
                    </a:p>
                  </a:txBody>
                  <a:tcPr anchor="ctr">
                    <a:solidFill>
                      <a:srgbClr val="182234"/>
                    </a:solidFill>
                  </a:tcPr>
                </a:tc>
                <a:tc>
                  <a:txBody>
                    <a:bodyPr/>
                    <a:lstStyle/>
                    <a:p>
                      <a:pPr algn="l">
                        <a:defRPr sz="950">
                          <a:solidFill>
                            <a:srgbClr val="94A3B8"/>
                          </a:solidFill>
                          <a:latin typeface="Calibri"/>
                        </a:defRPr>
                      </a:pPr>
                      <a:r>
                        <a:t>Gemini 1.5 Flash Emotional Decoupling (96.0%)</a:t>
                      </a:r>
                    </a:p>
                  </a:txBody>
                  <a:tcPr anchor="ctr">
                    <a:solidFill>
                      <a:srgbClr val="182234"/>
                    </a:solidFill>
                  </a:tcPr>
                </a:tc>
              </a:tr>
              <a:tr h="560070">
                <a:tc>
                  <a:txBody>
                    <a:bodyPr/>
                    <a:lstStyle/>
                    <a:p>
                      <a:pPr algn="l">
                        <a:defRPr sz="950">
                          <a:solidFill>
                            <a:srgbClr val="F8FAFC"/>
                          </a:solidFill>
                          <a:latin typeface="Calibri"/>
                        </a:defRPr>
                      </a:pPr>
                      <a:r>
                        <a:t>Real-Time FAQ Deflection</a:t>
                      </a:r>
                    </a:p>
                  </a:txBody>
                  <a:tcPr anchor="ctr">
                    <a:solidFill>
                      <a:srgbClr val="1E293B"/>
                    </a:solidFill>
                  </a:tcPr>
                </a:tc>
                <a:tc>
                  <a:txBody>
                    <a:bodyPr/>
                    <a:lstStyle/>
                    <a:p>
                      <a:pPr algn="l">
                        <a:defRPr sz="950">
                          <a:solidFill>
                            <a:srgbClr val="94A3B8"/>
                          </a:solidFill>
                          <a:latin typeface="Calibri"/>
                        </a:defRPr>
                      </a:pPr>
                      <a:r>
                        <a:t>Static Popups</a:t>
                      </a:r>
                    </a:p>
                  </a:txBody>
                  <a:tcPr anchor="ctr">
                    <a:solidFill>
                      <a:srgbClr val="1E293B"/>
                    </a:solidFill>
                  </a:tcPr>
                </a:tc>
                <a:tc>
                  <a:txBody>
                    <a:bodyPr/>
                    <a:lstStyle/>
                    <a:p>
                      <a:pPr algn="l">
                        <a:defRPr sz="950">
                          <a:solidFill>
                            <a:srgbClr val="94A3B8"/>
                          </a:solidFill>
                          <a:latin typeface="Calibri"/>
                        </a:defRPr>
                      </a:pPr>
                      <a:r>
                        <a:t>External Bot Add-on</a:t>
                      </a:r>
                    </a:p>
                  </a:txBody>
                  <a:tcPr anchor="ctr">
                    <a:solidFill>
                      <a:srgbClr val="1E293B"/>
                    </a:solidFill>
                  </a:tcPr>
                </a:tc>
                <a:tc>
                  <a:txBody>
                    <a:bodyPr/>
                    <a:lstStyle/>
                    <a:p>
                      <a:pPr algn="l">
                        <a:defRPr sz="950">
                          <a:solidFill>
                            <a:srgbClr val="94A3B8"/>
                          </a:solidFill>
                          <a:latin typeface="Calibri"/>
                        </a:defRPr>
                      </a:pPr>
                      <a:r>
                        <a:t>Debounced 300ms Dynamic Deflection (35% rate)</a:t>
                      </a:r>
                    </a:p>
                  </a:txBody>
                  <a:tcPr anchor="ctr">
                    <a:solidFill>
                      <a:srgbClr val="1E293B"/>
                    </a:solidFill>
                  </a:tcPr>
                </a:tc>
              </a:tr>
              <a:tr h="560070">
                <a:tc>
                  <a:txBody>
                    <a:bodyPr/>
                    <a:lstStyle/>
                    <a:p>
                      <a:pPr algn="l">
                        <a:defRPr sz="950">
                          <a:solidFill>
                            <a:srgbClr val="F8FAFC"/>
                          </a:solidFill>
                          <a:latin typeface="Calibri"/>
                        </a:defRPr>
                      </a:pPr>
                      <a:r>
                        <a:t>Agent Tone Polishing (4 Tones)</a:t>
                      </a:r>
                    </a:p>
                  </a:txBody>
                  <a:tcPr anchor="ctr">
                    <a:solidFill>
                      <a:srgbClr val="182234"/>
                    </a:solidFill>
                  </a:tcPr>
                </a:tc>
                <a:tc>
                  <a:txBody>
                    <a:bodyPr/>
                    <a:lstStyle/>
                    <a:p>
                      <a:pPr algn="l">
                        <a:defRPr sz="950">
                          <a:solidFill>
                            <a:srgbClr val="94A3B8"/>
                          </a:solidFill>
                          <a:latin typeface="Calibri"/>
                        </a:defRPr>
                      </a:pPr>
                      <a:r>
                        <a:t>Not Available</a:t>
                      </a:r>
                    </a:p>
                  </a:txBody>
                  <a:tcPr anchor="ctr">
                    <a:solidFill>
                      <a:srgbClr val="182234"/>
                    </a:solidFill>
                  </a:tcPr>
                </a:tc>
                <a:tc>
                  <a:txBody>
                    <a:bodyPr/>
                    <a:lstStyle/>
                    <a:p>
                      <a:pPr algn="l">
                        <a:defRPr sz="950">
                          <a:solidFill>
                            <a:srgbClr val="94A3B8"/>
                          </a:solidFill>
                          <a:latin typeface="Calibri"/>
                        </a:defRPr>
                      </a:pPr>
                      <a:r>
                        <a:t>Add-on Bot ($$$)</a:t>
                      </a:r>
                    </a:p>
                  </a:txBody>
                  <a:tcPr anchor="ctr">
                    <a:solidFill>
                      <a:srgbClr val="182234"/>
                    </a:solidFill>
                  </a:tcPr>
                </a:tc>
                <a:tc>
                  <a:txBody>
                    <a:bodyPr/>
                    <a:lstStyle/>
                    <a:p>
                      <a:pPr algn="l">
                        <a:defRPr sz="950">
                          <a:solidFill>
                            <a:srgbClr val="94A3B8"/>
                          </a:solidFill>
                          <a:latin typeface="Calibri"/>
                        </a:defRPr>
                      </a:pPr>
                      <a:r>
                        <a:t>1-Click Cycling (Empathetic, Concise, Formal, Tech)</a:t>
                      </a:r>
                    </a:p>
                  </a:txBody>
                  <a:tcPr anchor="ctr">
                    <a:solidFill>
                      <a:srgbClr val="182234"/>
                    </a:solidFill>
                  </a:tcPr>
                </a:tc>
              </a:tr>
              <a:tr h="560070">
                <a:tc>
                  <a:txBody>
                    <a:bodyPr/>
                    <a:lstStyle/>
                    <a:p>
                      <a:pPr algn="l">
                        <a:defRPr sz="950">
                          <a:solidFill>
                            <a:srgbClr val="F8FAFC"/>
                          </a:solidFill>
                          <a:latin typeface="Calibri"/>
                        </a:defRPr>
                      </a:pPr>
                      <a:r>
                        <a:t>Duplicate Ticket Interception</a:t>
                      </a:r>
                    </a:p>
                  </a:txBody>
                  <a:tcPr anchor="ctr">
                    <a:solidFill>
                      <a:srgbClr val="1E293B"/>
                    </a:solidFill>
                  </a:tcPr>
                </a:tc>
                <a:tc>
                  <a:txBody>
                    <a:bodyPr/>
                    <a:lstStyle/>
                    <a:p>
                      <a:pPr algn="l">
                        <a:defRPr sz="950">
                          <a:solidFill>
                            <a:srgbClr val="94A3B8"/>
                          </a:solidFill>
                          <a:latin typeface="Calibri"/>
                        </a:defRPr>
                      </a:pPr>
                      <a:r>
                        <a:t>Post-creation merging</a:t>
                      </a:r>
                    </a:p>
                  </a:txBody>
                  <a:tcPr anchor="ctr">
                    <a:solidFill>
                      <a:srgbClr val="1E293B"/>
                    </a:solidFill>
                  </a:tcPr>
                </a:tc>
                <a:tc>
                  <a:txBody>
                    <a:bodyPr/>
                    <a:lstStyle/>
                    <a:p>
                      <a:pPr algn="l">
                        <a:defRPr sz="950">
                          <a:solidFill>
                            <a:srgbClr val="94A3B8"/>
                          </a:solidFill>
                          <a:latin typeface="Calibri"/>
                        </a:defRPr>
                      </a:pPr>
                      <a:r>
                        <a:t>Manual agent merge</a:t>
                      </a:r>
                    </a:p>
                  </a:txBody>
                  <a:tcPr anchor="ctr">
                    <a:solidFill>
                      <a:srgbClr val="1E293B"/>
                    </a:solidFill>
                  </a:tcPr>
                </a:tc>
                <a:tc>
                  <a:txBody>
                    <a:bodyPr/>
                    <a:lstStyle/>
                    <a:p>
                      <a:pPr algn="l">
                        <a:defRPr sz="950">
                          <a:solidFill>
                            <a:srgbClr val="94A3B8"/>
                          </a:solidFill>
                          <a:latin typeface="Calibri"/>
                        </a:defRPr>
                      </a:pPr>
                      <a:r>
                        <a:t>Proactive HTTP 409 Interception with verified steps</a:t>
                      </a:r>
                    </a:p>
                  </a:txBody>
                  <a:tcPr anchor="ctr">
                    <a:solidFill>
                      <a:srgbClr val="1E293B"/>
                    </a:solidFill>
                  </a:tcPr>
                </a:tc>
              </a:tr>
              <a:tr h="560070">
                <a:tc>
                  <a:txBody>
                    <a:bodyPr/>
                    <a:lstStyle/>
                    <a:p>
                      <a:pPr algn="l">
                        <a:defRPr sz="950">
                          <a:solidFill>
                            <a:srgbClr val="F8FAFC"/>
                          </a:solidFill>
                          <a:latin typeface="Calibri"/>
                        </a:defRPr>
                      </a:pPr>
                      <a:r>
                        <a:t>Reopened Timeline Summarizer</a:t>
                      </a:r>
                    </a:p>
                  </a:txBody>
                  <a:tcPr anchor="ctr">
                    <a:solidFill>
                      <a:srgbClr val="182234"/>
                    </a:solidFill>
                  </a:tcPr>
                </a:tc>
                <a:tc>
                  <a:txBody>
                    <a:bodyPr/>
                    <a:lstStyle/>
                    <a:p>
                      <a:pPr algn="l">
                        <a:defRPr sz="950">
                          <a:solidFill>
                            <a:srgbClr val="94A3B8"/>
                          </a:solidFill>
                          <a:latin typeface="Calibri"/>
                        </a:defRPr>
                      </a:pPr>
                      <a:r>
                        <a:t>Not Available</a:t>
                      </a:r>
                    </a:p>
                  </a:txBody>
                  <a:tcPr anchor="ctr">
                    <a:solidFill>
                      <a:srgbClr val="182234"/>
                    </a:solidFill>
                  </a:tcPr>
                </a:tc>
                <a:tc>
                  <a:txBody>
                    <a:bodyPr/>
                    <a:lstStyle/>
                    <a:p>
                      <a:pPr algn="l">
                        <a:defRPr sz="950">
                          <a:solidFill>
                            <a:srgbClr val="94A3B8"/>
                          </a:solidFill>
                          <a:latin typeface="Calibri"/>
                        </a:defRPr>
                      </a:pPr>
                      <a:r>
                        <a:t>Not Available</a:t>
                      </a:r>
                    </a:p>
                  </a:txBody>
                  <a:tcPr anchor="ctr">
                    <a:solidFill>
                      <a:srgbClr val="182234"/>
                    </a:solidFill>
                  </a:tcPr>
                </a:tc>
                <a:tc>
                  <a:txBody>
                    <a:bodyPr/>
                    <a:lstStyle/>
                    <a:p>
                      <a:pPr algn="l">
                        <a:defRPr sz="950">
                          <a:solidFill>
                            <a:srgbClr val="94A3B8"/>
                          </a:solidFill>
                          <a:latin typeface="Calibri"/>
                        </a:defRPr>
                      </a:pPr>
                      <a:r>
                        <a:t>Async Fire-and-Forget 5-bullet TL;DR banner</a:t>
                      </a:r>
                    </a:p>
                  </a:txBody>
                  <a:tcPr anchor="ctr">
                    <a:solidFill>
                      <a:srgbClr val="182234"/>
                    </a:solidFill>
                  </a:tcPr>
                </a:tc>
              </a:tr>
              <a:tr h="560070">
                <a:tc>
                  <a:txBody>
                    <a:bodyPr/>
                    <a:lstStyle/>
                    <a:p>
                      <a:pPr algn="l">
                        <a:defRPr sz="950">
                          <a:solidFill>
                            <a:srgbClr val="F8FAFC"/>
                          </a:solidFill>
                          <a:latin typeface="Calibri"/>
                        </a:defRPr>
                      </a:pPr>
                      <a:r>
                        <a:t>Data Sovereignty &amp; Deployment</a:t>
                      </a:r>
                    </a:p>
                  </a:txBody>
                  <a:tcPr anchor="ctr">
                    <a:solidFill>
                      <a:srgbClr val="1E293B"/>
                    </a:solidFill>
                  </a:tcPr>
                </a:tc>
                <a:tc>
                  <a:txBody>
                    <a:bodyPr/>
                    <a:lstStyle/>
                    <a:p>
                      <a:pPr algn="l">
                        <a:defRPr sz="950">
                          <a:solidFill>
                            <a:srgbClr val="94A3B8"/>
                          </a:solidFill>
                          <a:latin typeface="Calibri"/>
                        </a:defRPr>
                      </a:pPr>
                      <a:r>
                        <a:t>SaaS Cloud Only</a:t>
                      </a:r>
                    </a:p>
                  </a:txBody>
                  <a:tcPr anchor="ctr">
                    <a:solidFill>
                      <a:srgbClr val="1E293B"/>
                    </a:solidFill>
                  </a:tcPr>
                </a:tc>
                <a:tc>
                  <a:txBody>
                    <a:bodyPr/>
                    <a:lstStyle/>
                    <a:p>
                      <a:pPr algn="l">
                        <a:defRPr sz="950">
                          <a:solidFill>
                            <a:srgbClr val="94A3B8"/>
                          </a:solidFill>
                          <a:latin typeface="Calibri"/>
                        </a:defRPr>
                      </a:pPr>
                      <a:r>
                        <a:t>SaaS Cloud Only</a:t>
                      </a:r>
                    </a:p>
                  </a:txBody>
                  <a:tcPr anchor="ctr">
                    <a:solidFill>
                      <a:srgbClr val="1E293B"/>
                    </a:solidFill>
                  </a:tcPr>
                </a:tc>
                <a:tc>
                  <a:txBody>
                    <a:bodyPr/>
                    <a:lstStyle/>
                    <a:p>
                      <a:pPr algn="l">
                        <a:defRPr sz="950">
                          <a:solidFill>
                            <a:srgbClr val="94A3B8"/>
                          </a:solidFill>
                          <a:latin typeface="Calibri"/>
                        </a:defRPr>
                      </a:pPr>
                      <a:r>
                        <a:t>100% Self-Hostable Docker / Cloud (Render &amp; Supabase)</a:t>
                      </a:r>
                    </a:p>
                  </a:txBody>
                  <a:tcPr anchor="ctr">
                    <a:solidFill>
                      <a:srgbClr val="1E293B"/>
                    </a:solidFill>
                  </a:tcPr>
                </a:tc>
              </a:tr>
              <a:tr h="560070">
                <a:tc>
                  <a:txBody>
                    <a:bodyPr/>
                    <a:lstStyle/>
                    <a:p>
                      <a:pPr algn="l">
                        <a:defRPr sz="950">
                          <a:solidFill>
                            <a:srgbClr val="F8FAFC"/>
                          </a:solidFill>
                          <a:latin typeface="Calibri"/>
                        </a:defRPr>
                      </a:pPr>
                      <a:r>
                        <a:t>Licensing / Annual Cost (20 Agents)</a:t>
                      </a:r>
                    </a:p>
                  </a:txBody>
                  <a:tcPr anchor="ctr">
                    <a:solidFill>
                      <a:srgbClr val="182234"/>
                    </a:solidFill>
                  </a:tcPr>
                </a:tc>
                <a:tc>
                  <a:txBody>
                    <a:bodyPr/>
                    <a:lstStyle/>
                    <a:p>
                      <a:pPr algn="l">
                        <a:defRPr sz="950">
                          <a:solidFill>
                            <a:srgbClr val="94A3B8"/>
                          </a:solidFill>
                          <a:latin typeface="Calibri"/>
                        </a:defRPr>
                      </a:pPr>
                      <a:r>
                        <a:t>$36,000 / year</a:t>
                      </a:r>
                    </a:p>
                  </a:txBody>
                  <a:tcPr anchor="ctr">
                    <a:solidFill>
                      <a:srgbClr val="182234"/>
                    </a:solidFill>
                  </a:tcPr>
                </a:tc>
                <a:tc>
                  <a:txBody>
                    <a:bodyPr/>
                    <a:lstStyle/>
                    <a:p>
                      <a:pPr algn="l">
                        <a:defRPr sz="950">
                          <a:solidFill>
                            <a:srgbClr val="94A3B8"/>
                          </a:solidFill>
                          <a:latin typeface="Calibri"/>
                        </a:defRPr>
                      </a:pPr>
                      <a:r>
                        <a:t>$24,000 / year</a:t>
                      </a:r>
                    </a:p>
                  </a:txBody>
                  <a:tcPr anchor="ctr">
                    <a:solidFill>
                      <a:srgbClr val="182234"/>
                    </a:solidFill>
                  </a:tcPr>
                </a:tc>
                <a:tc>
                  <a:txBody>
                    <a:bodyPr/>
                    <a:lstStyle/>
                    <a:p>
                      <a:pPr algn="l">
                        <a:defRPr sz="950">
                          <a:solidFill>
                            <a:srgbClr val="94A3B8"/>
                          </a:solidFill>
                          <a:latin typeface="Calibri"/>
                        </a:defRPr>
                      </a:pPr>
                      <a:r>
                        <a:t>&lt; $4,000 / year (Over 85% Cost Reduction)</a:t>
                      </a:r>
                    </a:p>
                  </a:txBody>
                  <a:tcPr anchor="ctr">
                    <a:solidFill>
                      <a:srgbClr val="182234"/>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PRODUCT DEVELOPMENT</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From Ideation to Production: 4-Sprint Agile Delivery</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Delivering 166 Story Points with 100% Jira burndown compliance across 8 weeks.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05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pic>
        <p:nvPicPr>
          <p:cNvPr id="10" name="Picture 9" descr="docs_sprint_burndown_charts.png"/>
          <p:cNvPicPr>
            <a:picLocks noChangeAspect="1"/>
          </p:cNvPicPr>
          <p:nvPr/>
        </p:nvPicPr>
        <p:blipFill>
          <a:blip r:embed="rId2"/>
          <a:stretch>
            <a:fillRect/>
          </a:stretch>
        </p:blipFill>
        <p:spPr>
          <a:xfrm>
            <a:off x="731520" y="1691640"/>
            <a:ext cx="5852160" cy="4125983"/>
          </a:xfrm>
          <a:prstGeom prst="rect">
            <a:avLst/>
          </a:prstGeom>
        </p:spPr>
      </p:pic>
      <p:sp>
        <p:nvSpPr>
          <p:cNvPr id="11" name="Rounded Rectangle 10"/>
          <p:cNvSpPr/>
          <p:nvPr/>
        </p:nvSpPr>
        <p:spPr>
          <a:xfrm>
            <a:off x="6766560" y="1691640"/>
            <a:ext cx="4693615"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7728" y="1856232"/>
            <a:ext cx="4291279" cy="320040"/>
          </a:xfrm>
          <a:prstGeom prst="rect">
            <a:avLst/>
          </a:prstGeom>
          <a:noFill/>
        </p:spPr>
        <p:txBody>
          <a:bodyPr wrap="square" lIns="0" tIns="0" rIns="0" bIns="0">
            <a:spAutoFit/>
          </a:bodyPr>
          <a:lstStyle/>
          <a:p>
            <a:pPr>
              <a:defRPr sz="1200" b="1">
                <a:solidFill>
                  <a:srgbClr val="F8FAFC"/>
                </a:solidFill>
                <a:latin typeface="Calibri"/>
              </a:defRPr>
            </a:pPr>
            <a:r>
              <a:t>Sprint 1: Research &amp; AI Datasets</a:t>
            </a:r>
          </a:p>
          <a:p>
            <a:pPr>
              <a:defRPr sz="919">
                <a:solidFill>
                  <a:srgbClr val="94A3B8"/>
                </a:solidFill>
                <a:latin typeface="Calibri"/>
              </a:defRPr>
            </a:pPr>
            <a:r>
              <a:t>Weeks 1–2 | 18 pts burned (100%)</a:t>
            </a:r>
          </a:p>
        </p:txBody>
      </p:sp>
      <p:sp>
        <p:nvSpPr>
          <p:cNvPr id="13" name="TextBox 12"/>
          <p:cNvSpPr txBox="1"/>
          <p:nvPr/>
        </p:nvSpPr>
        <p:spPr>
          <a:xfrm>
            <a:off x="6949440" y="2167128"/>
            <a:ext cx="4343400" cy="502920"/>
          </a:xfrm>
          <a:prstGeom prst="rect">
            <a:avLst/>
          </a:prstGeom>
          <a:noFill/>
        </p:spPr>
        <p:txBody>
          <a:bodyPr wrap="square" lIns="0" tIns="0" rIns="0" bIns="0">
            <a:spAutoFit/>
          </a:bodyPr>
          <a:lstStyle/>
          <a:p>
            <a:pPr>
              <a:defRPr sz="950">
                <a:solidFill>
                  <a:srgbClr val="94A3B8"/>
                </a:solidFill>
                <a:latin typeface="Calibri"/>
              </a:defRPr>
            </a:pPr>
            <a:r>
              <a:t>Benchmarked Zendesk; evaluated Gemini latency; collected Kaggle &amp; Hugging Face datasets; drafted PRD and 3-tier architecture.</a:t>
            </a:r>
          </a:p>
        </p:txBody>
      </p:sp>
      <p:sp>
        <p:nvSpPr>
          <p:cNvPr id="14" name="Rounded Rectangle 13"/>
          <p:cNvSpPr/>
          <p:nvPr/>
        </p:nvSpPr>
        <p:spPr>
          <a:xfrm>
            <a:off x="6766560" y="2807208"/>
            <a:ext cx="4693615"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67728" y="2971800"/>
            <a:ext cx="4291279" cy="320040"/>
          </a:xfrm>
          <a:prstGeom prst="rect">
            <a:avLst/>
          </a:prstGeom>
          <a:noFill/>
        </p:spPr>
        <p:txBody>
          <a:bodyPr wrap="square" lIns="0" tIns="0" rIns="0" bIns="0">
            <a:spAutoFit/>
          </a:bodyPr>
          <a:lstStyle/>
          <a:p>
            <a:pPr>
              <a:defRPr sz="1200" b="1">
                <a:solidFill>
                  <a:srgbClr val="F8FAFC"/>
                </a:solidFill>
                <a:latin typeface="Calibri"/>
              </a:defRPr>
            </a:pPr>
            <a:r>
              <a:t>Sprint 2: Prototype Architecture &amp; DB</a:t>
            </a:r>
          </a:p>
          <a:p>
            <a:pPr>
              <a:defRPr sz="919">
                <a:solidFill>
                  <a:srgbClr val="94A3B8"/>
                </a:solidFill>
                <a:latin typeface="Calibri"/>
              </a:defRPr>
            </a:pPr>
            <a:r>
              <a:t>Weeks 3–4 | 59 pts burned (100%)</a:t>
            </a:r>
          </a:p>
        </p:txBody>
      </p:sp>
      <p:sp>
        <p:nvSpPr>
          <p:cNvPr id="16" name="TextBox 15"/>
          <p:cNvSpPr txBox="1"/>
          <p:nvPr/>
        </p:nvSpPr>
        <p:spPr>
          <a:xfrm>
            <a:off x="6949440" y="3282696"/>
            <a:ext cx="4343400" cy="502920"/>
          </a:xfrm>
          <a:prstGeom prst="rect">
            <a:avLst/>
          </a:prstGeom>
          <a:noFill/>
        </p:spPr>
        <p:txBody>
          <a:bodyPr wrap="square" lIns="0" tIns="0" rIns="0" bIns="0">
            <a:spAutoFit/>
          </a:bodyPr>
          <a:lstStyle/>
          <a:p>
            <a:pPr>
              <a:defRPr sz="950">
                <a:solidFill>
                  <a:srgbClr val="94A3B8"/>
                </a:solidFill>
                <a:latin typeface="Calibri"/>
              </a:defRPr>
            </a:pPr>
            <a:r>
              <a:t>Built React 18 SPA, MoonRow theme, Express REST backend, JWT auth, PostgreSQL 15 schema, and FastAPI scaffold.</a:t>
            </a:r>
          </a:p>
        </p:txBody>
      </p:sp>
      <p:sp>
        <p:nvSpPr>
          <p:cNvPr id="17" name="Rounded Rectangle 16"/>
          <p:cNvSpPr/>
          <p:nvPr/>
        </p:nvSpPr>
        <p:spPr>
          <a:xfrm>
            <a:off x="6766560" y="3922776"/>
            <a:ext cx="4693615"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67728" y="4087368"/>
            <a:ext cx="4291279" cy="320040"/>
          </a:xfrm>
          <a:prstGeom prst="rect">
            <a:avLst/>
          </a:prstGeom>
          <a:noFill/>
        </p:spPr>
        <p:txBody>
          <a:bodyPr wrap="square" lIns="0" tIns="0" rIns="0" bIns="0">
            <a:spAutoFit/>
          </a:bodyPr>
          <a:lstStyle/>
          <a:p>
            <a:pPr>
              <a:defRPr sz="1200" b="1">
                <a:solidFill>
                  <a:srgbClr val="F8FAFC"/>
                </a:solidFill>
                <a:latin typeface="Calibri"/>
              </a:defRPr>
            </a:pPr>
            <a:r>
              <a:t>Sprint 3: Live AI Triage &amp; Workbench</a:t>
            </a:r>
          </a:p>
          <a:p>
            <a:pPr>
              <a:defRPr sz="919">
                <a:solidFill>
                  <a:srgbClr val="94A3B8"/>
                </a:solidFill>
                <a:latin typeface="Calibri"/>
              </a:defRPr>
            </a:pPr>
            <a:r>
              <a:t>Weeks 5–6 | 38 pts burned (100%)</a:t>
            </a:r>
          </a:p>
        </p:txBody>
      </p:sp>
      <p:sp>
        <p:nvSpPr>
          <p:cNvPr id="19" name="TextBox 18"/>
          <p:cNvSpPr txBox="1"/>
          <p:nvPr/>
        </p:nvSpPr>
        <p:spPr>
          <a:xfrm>
            <a:off x="6949440" y="4398264"/>
            <a:ext cx="4343400" cy="502920"/>
          </a:xfrm>
          <a:prstGeom prst="rect">
            <a:avLst/>
          </a:prstGeom>
          <a:noFill/>
        </p:spPr>
        <p:txBody>
          <a:bodyPr wrap="square" lIns="0" tIns="0" rIns="0" bIns="0">
            <a:spAutoFit/>
          </a:bodyPr>
          <a:lstStyle/>
          <a:p>
            <a:pPr>
              <a:defRPr sz="950">
                <a:solidFill>
                  <a:srgbClr val="94A3B8"/>
                </a:solidFill>
                <a:latin typeface="Calibri"/>
              </a:defRPr>
            </a:pPr>
            <a:r>
              <a:t>Connected Gemini AI triage, mood detection, dynamic checklists, tone checker, and status state machine.</a:t>
            </a:r>
          </a:p>
        </p:txBody>
      </p:sp>
      <p:sp>
        <p:nvSpPr>
          <p:cNvPr id="20" name="Rounded Rectangle 19"/>
          <p:cNvSpPr/>
          <p:nvPr/>
        </p:nvSpPr>
        <p:spPr>
          <a:xfrm>
            <a:off x="6766560" y="5038344"/>
            <a:ext cx="4693615" cy="1051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67728" y="5202936"/>
            <a:ext cx="4291279" cy="320040"/>
          </a:xfrm>
          <a:prstGeom prst="rect">
            <a:avLst/>
          </a:prstGeom>
          <a:noFill/>
        </p:spPr>
        <p:txBody>
          <a:bodyPr wrap="square" lIns="0" tIns="0" rIns="0" bIns="0">
            <a:spAutoFit/>
          </a:bodyPr>
          <a:lstStyle/>
          <a:p>
            <a:pPr>
              <a:defRPr sz="1200" b="1">
                <a:solidFill>
                  <a:srgbClr val="F8FAFC"/>
                </a:solidFill>
                <a:latin typeface="Calibri"/>
              </a:defRPr>
            </a:pPr>
            <a:r>
              <a:t>Sprint 4: Advanced AI &amp; Cloud Deploy</a:t>
            </a:r>
          </a:p>
          <a:p>
            <a:pPr>
              <a:defRPr sz="919">
                <a:solidFill>
                  <a:srgbClr val="94A3B8"/>
                </a:solidFill>
                <a:latin typeface="Calibri"/>
              </a:defRPr>
            </a:pPr>
            <a:r>
              <a:t>Weeks 7–8 | 51 pts burned (100%)</a:t>
            </a:r>
          </a:p>
        </p:txBody>
      </p:sp>
      <p:sp>
        <p:nvSpPr>
          <p:cNvPr id="22" name="TextBox 21"/>
          <p:cNvSpPr txBox="1"/>
          <p:nvPr/>
        </p:nvSpPr>
        <p:spPr>
          <a:xfrm>
            <a:off x="6949440" y="5513831"/>
            <a:ext cx="4343400" cy="502920"/>
          </a:xfrm>
          <a:prstGeom prst="rect">
            <a:avLst/>
          </a:prstGeom>
          <a:noFill/>
        </p:spPr>
        <p:txBody>
          <a:bodyPr wrap="square" lIns="0" tIns="0" rIns="0" bIns="0">
            <a:spAutoFit/>
          </a:bodyPr>
          <a:lstStyle/>
          <a:p>
            <a:pPr>
              <a:defRPr sz="950">
                <a:solidFill>
                  <a:srgbClr val="94A3B8"/>
                </a:solidFill>
                <a:latin typeface="Calibri"/>
              </a:defRPr>
            </a:pPr>
            <a:r>
              <a:t>Built AI Concierge, tone polisher, Supabase cloud pooling, duplicate deflection (HTTP 409), Docker &amp; Render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PROJECT GOVERNANCE</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Team Structure &amp; Cross-Functional Engineering Matrix</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Four dedicated leads collaborating across frontend, backend, AI, and security governance.</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06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pic>
        <p:nvPicPr>
          <p:cNvPr id="10" name="Picture 9" descr="docs_org_chart.png"/>
          <p:cNvPicPr>
            <a:picLocks noChangeAspect="1"/>
          </p:cNvPicPr>
          <p:nvPr/>
        </p:nvPicPr>
        <p:blipFill>
          <a:blip r:embed="rId2"/>
          <a:stretch>
            <a:fillRect/>
          </a:stretch>
        </p:blipFill>
        <p:spPr>
          <a:xfrm>
            <a:off x="731520" y="1691640"/>
            <a:ext cx="5852160" cy="3218688"/>
          </a:xfrm>
          <a:prstGeom prst="rect">
            <a:avLst/>
          </a:prstGeom>
        </p:spPr>
      </p:pic>
      <p:sp>
        <p:nvSpPr>
          <p:cNvPr id="11" name="Rounded Rectangle 10"/>
          <p:cNvSpPr/>
          <p:nvPr/>
        </p:nvSpPr>
        <p:spPr>
          <a:xfrm>
            <a:off x="6766560" y="1691640"/>
            <a:ext cx="4693615"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7728" y="1856232"/>
            <a:ext cx="4291279" cy="320040"/>
          </a:xfrm>
          <a:prstGeom prst="rect">
            <a:avLst/>
          </a:prstGeom>
          <a:noFill/>
        </p:spPr>
        <p:txBody>
          <a:bodyPr wrap="square" lIns="0" tIns="0" rIns="0" bIns="0">
            <a:spAutoFit/>
          </a:bodyPr>
          <a:lstStyle/>
          <a:p>
            <a:pPr>
              <a:defRPr sz="1200" b="1">
                <a:solidFill>
                  <a:srgbClr val="F8FAFC"/>
                </a:solidFill>
                <a:latin typeface="Calibri"/>
              </a:defRPr>
            </a:pPr>
            <a:r>
              <a:t>Cross-Functional Role Ownership</a:t>
            </a:r>
          </a:p>
          <a:p>
            <a:pPr>
              <a:defRPr sz="919">
                <a:solidFill>
                  <a:srgbClr val="94A3B8"/>
                </a:solidFill>
                <a:latin typeface="Calibri"/>
              </a:defRPr>
            </a:pPr>
            <a:r>
              <a:t>Balanced 166-Story-Point Workload</a:t>
            </a:r>
          </a:p>
        </p:txBody>
      </p:sp>
      <p:sp>
        <p:nvSpPr>
          <p:cNvPr id="13" name="TextBox 12"/>
          <p:cNvSpPr txBox="1"/>
          <p:nvPr/>
        </p:nvSpPr>
        <p:spPr>
          <a:xfrm>
            <a:off x="6995160" y="2240280"/>
            <a:ext cx="4251960" cy="3749039"/>
          </a:xfrm>
          <a:prstGeom prst="rect">
            <a:avLst/>
          </a:prstGeom>
          <a:noFill/>
        </p:spPr>
        <p:txBody>
          <a:bodyPr wrap="square" lIns="0" tIns="0" rIns="0" bIns="0">
            <a:spAutoFit/>
          </a:bodyPr>
          <a:lstStyle/>
          <a:p>
            <a:pPr>
              <a:spcBef>
                <a:spcPts val="500"/>
              </a:spcBef>
            </a:pPr>
            <a:r>
              <a:rPr sz="1000" b="1">
                <a:solidFill>
                  <a:srgbClr val="F8FAFC"/>
                </a:solidFill>
                <a:latin typeface="Calibri"/>
              </a:rPr>
              <a:t>•  Rohan Salkar — Frontend &amp; UI/UX Lead: </a:t>
            </a:r>
            <a:r>
              <a:rPr sz="1000">
                <a:solidFill>
                  <a:srgbClr val="94A3B8"/>
                </a:solidFill>
                <a:latin typeface="Calibri"/>
              </a:rPr>
              <a:t>38 Story Points. Headed React 18 SPA architecture, Tailwind CSS MoonRow design system, dark/light theme switching, and responsive layouts.</a:t>
            </a:r>
          </a:p>
          <a:p>
            <a:pPr>
              <a:spcBef>
                <a:spcPts val="500"/>
              </a:spcBef>
            </a:pPr>
            <a:r>
              <a:rPr sz="1000" b="1">
                <a:solidFill>
                  <a:srgbClr val="F8FAFC"/>
                </a:solidFill>
                <a:latin typeface="Calibri"/>
              </a:rPr>
              <a:t>•  Yash Sanikop — Frontend &amp; AI Lead (23CO76): </a:t>
            </a:r>
            <a:r>
              <a:rPr sz="1000">
                <a:solidFill>
                  <a:srgbClr val="94A3B8"/>
                </a:solidFill>
                <a:latin typeface="Calibri"/>
              </a:rPr>
              <a:t>45 Story Points (Student Intern). Responsible for FastAPI microservice, Gemini 1.5 Flash SDK, model pooling, TTL caching, and AI concierge widgets.</a:t>
            </a:r>
          </a:p>
          <a:p>
            <a:pPr>
              <a:spcBef>
                <a:spcPts val="500"/>
              </a:spcBef>
            </a:pPr>
            <a:r>
              <a:rPr sz="1000" b="1">
                <a:solidFill>
                  <a:srgbClr val="F8FAFC"/>
                </a:solidFill>
                <a:latin typeface="Calibri"/>
              </a:rPr>
              <a:t>•  Shrujan Mitbavkar — Backend &amp; Database Lead: </a:t>
            </a:r>
            <a:r>
              <a:rPr sz="1000">
                <a:solidFill>
                  <a:srgbClr val="94A3B8"/>
                </a:solidFill>
                <a:latin typeface="Calibri"/>
              </a:rPr>
              <a:t>35 Story Points. Managed Express REST controllers, PostgreSQL relational schema, transactions, state machines, and Supabase pooling.</a:t>
            </a:r>
          </a:p>
          <a:p>
            <a:pPr>
              <a:spcBef>
                <a:spcPts val="500"/>
              </a:spcBef>
            </a:pPr>
            <a:r>
              <a:rPr sz="1000" b="1">
                <a:solidFill>
                  <a:srgbClr val="F8FAFC"/>
                </a:solidFill>
                <a:latin typeface="Calibri"/>
              </a:rPr>
              <a:t>•  Aarti Singh — DevOps, QA &amp; Doc Lead: </a:t>
            </a:r>
            <a:r>
              <a:rPr sz="1000">
                <a:solidFill>
                  <a:srgbClr val="94A3B8"/>
                </a:solidFill>
                <a:latin typeface="Calibri"/>
              </a:rPr>
              <a:t>38 Story Points. Headed Docker containerization, Render Blueprint orchestration, automated Jest/Pytest suites, and security hardening.</a:t>
            </a:r>
          </a:p>
          <a:p>
            <a:pPr>
              <a:spcBef>
                <a:spcPts val="500"/>
              </a:spcBef>
            </a:pPr>
            <a:r>
              <a:rPr sz="1000" b="1">
                <a:solidFill>
                  <a:srgbClr val="F8FAFC"/>
                </a:solidFill>
                <a:latin typeface="Calibri"/>
              </a:rPr>
              <a:t>•  Mentorship &amp; Governance: </a:t>
            </a:r>
            <a:r>
              <a:rPr sz="1000">
                <a:solidFill>
                  <a:srgbClr val="94A3B8"/>
                </a:solidFill>
                <a:latin typeface="Calibri"/>
              </a:rPr>
              <a:t>Guided by Industry Mentor Vishal Bidikar (Senior Software Engineer, Persistent Systems) and Academic Guide Prof. Laxmikant Bordekar.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TECHNICAL DEEP DIVE</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Part 1: Frontend Architecture, UI/UX &amp; Security Hardening</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Presented by Rohan Salkar (Frontend &amp; UI/UX Lead) &amp; Aarti Singh (DevOps, QA &amp; Doc Lead)</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07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783080"/>
            <a:ext cx="5257800" cy="4297680"/>
          </a:xfrm>
          <a:prstGeom prst="round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47672"/>
            <a:ext cx="4855464" cy="320040"/>
          </a:xfrm>
          <a:prstGeom prst="rect">
            <a:avLst/>
          </a:prstGeom>
          <a:noFill/>
        </p:spPr>
        <p:txBody>
          <a:bodyPr wrap="square" lIns="0" tIns="0" rIns="0" bIns="0">
            <a:spAutoFit/>
          </a:bodyPr>
          <a:lstStyle/>
          <a:p>
            <a:pPr>
              <a:defRPr sz="1200" b="1">
                <a:solidFill>
                  <a:srgbClr val="F8FAFC"/>
                </a:solidFill>
                <a:latin typeface="Calibri"/>
              </a:defRPr>
            </a:pPr>
            <a:r>
              <a:t>Rohan Salkar — Frontend &amp; UI/UX Lead</a:t>
            </a:r>
          </a:p>
          <a:p>
            <a:pPr>
              <a:defRPr sz="919">
                <a:solidFill>
                  <a:srgbClr val="94A3B8"/>
                </a:solidFill>
                <a:latin typeface="Calibri"/>
              </a:defRPr>
            </a:pPr>
            <a:r>
              <a:t>React 18 SPA, MoonRow Design &amp; Workbenches</a:t>
            </a:r>
          </a:p>
        </p:txBody>
      </p:sp>
      <p:sp>
        <p:nvSpPr>
          <p:cNvPr id="12" name="TextBox 11"/>
          <p:cNvSpPr txBox="1"/>
          <p:nvPr/>
        </p:nvSpPr>
        <p:spPr>
          <a:xfrm>
            <a:off x="1005840" y="2468880"/>
            <a:ext cx="4709160" cy="3291840"/>
          </a:xfrm>
          <a:prstGeom prst="rect">
            <a:avLst/>
          </a:prstGeom>
          <a:noFill/>
        </p:spPr>
        <p:txBody>
          <a:bodyPr wrap="square" lIns="0" tIns="0" rIns="0" bIns="0">
            <a:spAutoFit/>
          </a:bodyPr>
          <a:lstStyle/>
          <a:p>
            <a:pPr>
              <a:spcBef>
                <a:spcPts val="700"/>
              </a:spcBef>
            </a:pPr>
            <a:r>
              <a:rPr sz="1050" b="1">
                <a:solidFill>
                  <a:srgbClr val="F8FAFC"/>
                </a:solidFill>
                <a:latin typeface="Calibri"/>
              </a:rPr>
              <a:t>•  React 18 Single Page Architecture: </a:t>
            </a:r>
            <a:r>
              <a:rPr sz="1050">
                <a:solidFill>
                  <a:srgbClr val="94A3B8"/>
                </a:solidFill>
                <a:latin typeface="Calibri"/>
              </a:rPr>
              <a:t>Vite build toolchain delivering sub-second HMR and 8.3s production build.</a:t>
            </a:r>
          </a:p>
          <a:p>
            <a:pPr>
              <a:spcBef>
                <a:spcPts val="700"/>
              </a:spcBef>
            </a:pPr>
            <a:r>
              <a:rPr sz="1050" b="1">
                <a:solidFill>
                  <a:srgbClr val="F8FAFC"/>
                </a:solidFill>
                <a:latin typeface="Calibri"/>
              </a:rPr>
              <a:t>•  Tailwind CSS MoonRow Design System: </a:t>
            </a:r>
            <a:r>
              <a:rPr sz="1050">
                <a:solidFill>
                  <a:srgbClr val="94A3B8"/>
                </a:solidFill>
                <a:latin typeface="Calibri"/>
              </a:rPr>
              <a:t>High-contrast enterprise aesthetic inspired by Linear and Stripe, with WCAG 2.1 AA.</a:t>
            </a:r>
          </a:p>
          <a:p>
            <a:pPr>
              <a:spcBef>
                <a:spcPts val="700"/>
              </a:spcBef>
            </a:pPr>
            <a:r>
              <a:rPr sz="1050" b="1">
                <a:solidFill>
                  <a:srgbClr val="F8FAFC"/>
                </a:solidFill>
                <a:latin typeface="Calibri"/>
              </a:rPr>
              <a:t>•  Dark / Light Theme Switching: </a:t>
            </a:r>
            <a:r>
              <a:rPr sz="1050">
                <a:solidFill>
                  <a:srgbClr val="94A3B8"/>
                </a:solidFill>
                <a:latin typeface="Calibri"/>
              </a:rPr>
              <a:t>Instant theme switcher with zero layout shift synced to user preferences.</a:t>
            </a:r>
          </a:p>
          <a:p>
            <a:pPr>
              <a:spcBef>
                <a:spcPts val="700"/>
              </a:spcBef>
            </a:pPr>
            <a:r>
              <a:rPr sz="1050" b="1">
                <a:solidFill>
                  <a:srgbClr val="F8FAFC"/>
                </a:solidFill>
                <a:latin typeface="Calibri"/>
              </a:rPr>
              <a:t>•  Dual-Pane Agent Workbench: </a:t>
            </a:r>
            <a:r>
              <a:rPr sz="1050">
                <a:solidFill>
                  <a:srgbClr val="94A3B8"/>
                </a:solidFill>
                <a:latin typeface="Calibri"/>
              </a:rPr>
              <a:t>Threaded customer communication paired with live AI decision-support drawer.</a:t>
            </a:r>
          </a:p>
          <a:p>
            <a:pPr>
              <a:spcBef>
                <a:spcPts val="700"/>
              </a:spcBef>
            </a:pPr>
            <a:r>
              <a:rPr sz="1050" b="1">
                <a:solidFill>
                  <a:srgbClr val="F8FAFC"/>
                </a:solidFill>
                <a:latin typeface="Calibri"/>
              </a:rPr>
              <a:t>•  1-Click Tone Polishing Modals: </a:t>
            </a:r>
            <a:r>
              <a:rPr sz="1050">
                <a:solidFill>
                  <a:srgbClr val="94A3B8"/>
                </a:solidFill>
                <a:latin typeface="Calibri"/>
              </a:rPr>
              <a:t>3-variation cycling across Empathetic, Concise, Formal, and Technical styles.</a:t>
            </a:r>
          </a:p>
        </p:txBody>
      </p:sp>
      <p:sp>
        <p:nvSpPr>
          <p:cNvPr id="13" name="Rounded Rectangle 12"/>
          <p:cNvSpPr/>
          <p:nvPr/>
        </p:nvSpPr>
        <p:spPr>
          <a:xfrm>
            <a:off x="6172200" y="1783080"/>
            <a:ext cx="5257800" cy="4297680"/>
          </a:xfrm>
          <a:prstGeom prst="roundRect">
            <a:avLst/>
          </a:prstGeom>
          <a:solidFill>
            <a:srgbClr val="1E293B"/>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47672"/>
            <a:ext cx="4855464" cy="320040"/>
          </a:xfrm>
          <a:prstGeom prst="rect">
            <a:avLst/>
          </a:prstGeom>
          <a:noFill/>
        </p:spPr>
        <p:txBody>
          <a:bodyPr wrap="square" lIns="0" tIns="0" rIns="0" bIns="0">
            <a:spAutoFit/>
          </a:bodyPr>
          <a:lstStyle/>
          <a:p>
            <a:pPr>
              <a:defRPr sz="1200" b="1">
                <a:solidFill>
                  <a:srgbClr val="F8FAFC"/>
                </a:solidFill>
                <a:latin typeface="Calibri"/>
              </a:defRPr>
            </a:pPr>
            <a:r>
              <a:t>Aarti Singh — DevOps, QA &amp; Doc Lead</a:t>
            </a:r>
          </a:p>
          <a:p>
            <a:pPr>
              <a:defRPr sz="919">
                <a:solidFill>
                  <a:srgbClr val="94A3B8"/>
                </a:solidFill>
                <a:latin typeface="Calibri"/>
              </a:defRPr>
            </a:pPr>
            <a:r>
              <a:t>Security Hardening, RBAC &amp; Governance</a:t>
            </a:r>
          </a:p>
        </p:txBody>
      </p:sp>
      <p:sp>
        <p:nvSpPr>
          <p:cNvPr id="15" name="TextBox 14"/>
          <p:cNvSpPr txBox="1"/>
          <p:nvPr/>
        </p:nvSpPr>
        <p:spPr>
          <a:xfrm>
            <a:off x="6446520" y="2468880"/>
            <a:ext cx="4709160" cy="3291840"/>
          </a:xfrm>
          <a:prstGeom prst="rect">
            <a:avLst/>
          </a:prstGeom>
          <a:noFill/>
        </p:spPr>
        <p:txBody>
          <a:bodyPr wrap="square" lIns="0" tIns="0" rIns="0" bIns="0">
            <a:spAutoFit/>
          </a:bodyPr>
          <a:lstStyle/>
          <a:p>
            <a:pPr>
              <a:spcBef>
                <a:spcPts val="700"/>
              </a:spcBef>
            </a:pPr>
            <a:r>
              <a:rPr sz="1050" b="1">
                <a:solidFill>
                  <a:srgbClr val="F8FAFC"/>
                </a:solidFill>
                <a:latin typeface="Calibri"/>
              </a:rPr>
              <a:t>•  Security Hardening &amp; Stateless JWT: </a:t>
            </a:r>
            <a:r>
              <a:rPr sz="1050">
                <a:solidFill>
                  <a:srgbClr val="94A3B8"/>
                </a:solidFill>
                <a:latin typeface="Calibri"/>
              </a:rPr>
              <a:t>Bearer token authentication with 1-hour expiration and bcrypt 10-round hashing.</a:t>
            </a:r>
          </a:p>
          <a:p>
            <a:pPr>
              <a:spcBef>
                <a:spcPts val="700"/>
              </a:spcBef>
            </a:pPr>
            <a:r>
              <a:rPr sz="1050" b="1">
                <a:solidFill>
                  <a:srgbClr val="F8FAFC"/>
                </a:solidFill>
                <a:latin typeface="Calibri"/>
              </a:rPr>
              <a:t>•  Role-Based Access Control (RBAC): </a:t>
            </a:r>
            <a:r>
              <a:rPr sz="1050">
                <a:solidFill>
                  <a:srgbClr val="94A3B8"/>
                </a:solidFill>
                <a:latin typeface="Calibri"/>
              </a:rPr>
              <a:t>Strict three-tier permissions (Customer, Agent, Admin) across 4 operational departments.</a:t>
            </a:r>
          </a:p>
          <a:p>
            <a:pPr>
              <a:spcBef>
                <a:spcPts val="700"/>
              </a:spcBef>
            </a:pPr>
            <a:r>
              <a:rPr sz="1050" b="1">
                <a:solidFill>
                  <a:srgbClr val="F8FAFC"/>
                </a:solidFill>
                <a:latin typeface="Calibri"/>
              </a:rPr>
              <a:t>•  1-Click Persona Testing Bar: </a:t>
            </a:r>
            <a:r>
              <a:rPr sz="1050">
                <a:solidFill>
                  <a:srgbClr val="94A3B8"/>
                </a:solidFill>
                <a:latin typeface="Calibri"/>
              </a:rPr>
              <a:t>Pre-seeded demo accounts enabling instant client evaluation without manual typing.</a:t>
            </a:r>
          </a:p>
          <a:p>
            <a:pPr>
              <a:spcBef>
                <a:spcPts val="700"/>
              </a:spcBef>
            </a:pPr>
            <a:r>
              <a:rPr sz="1050" b="1">
                <a:solidFill>
                  <a:srgbClr val="F8FAFC"/>
                </a:solidFill>
                <a:latin typeface="Calibri"/>
              </a:rPr>
              <a:t>•  Automated QA Suites: </a:t>
            </a:r>
            <a:r>
              <a:rPr sz="1050">
                <a:solidFill>
                  <a:srgbClr val="94A3B8"/>
                </a:solidFill>
                <a:latin typeface="Calibri"/>
              </a:rPr>
              <a:t>Comprehensive Jest and Pytest suites verifying 100% test pass rate across all endpoints.</a:t>
            </a:r>
          </a:p>
          <a:p>
            <a:pPr>
              <a:spcBef>
                <a:spcPts val="700"/>
              </a:spcBef>
            </a:pPr>
            <a:r>
              <a:rPr sz="1050" b="1">
                <a:solidFill>
                  <a:srgbClr val="F8FAFC"/>
                </a:solidFill>
                <a:latin typeface="Calibri"/>
              </a:rPr>
              <a:t>•  Technical Governance Specifications: </a:t>
            </a:r>
            <a:r>
              <a:rPr sz="1050">
                <a:solidFill>
                  <a:srgbClr val="94A3B8"/>
                </a:solidFill>
                <a:latin typeface="Calibri"/>
              </a:rPr>
              <a:t>13 engineering modules establishing production governance standards.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FRONTEND ARCHITECTURE</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React 18 Architecture &amp; MoonRow Design System</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Sub-second responsiveness, WCAG 2.1 AA accessibility, and zero-layout-shift Dark/Light theming.</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08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4114800" cy="44805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3712463" cy="320040"/>
          </a:xfrm>
          <a:prstGeom prst="rect">
            <a:avLst/>
          </a:prstGeom>
          <a:noFill/>
        </p:spPr>
        <p:txBody>
          <a:bodyPr wrap="square" lIns="0" tIns="0" rIns="0" bIns="0">
            <a:spAutoFit/>
          </a:bodyPr>
          <a:lstStyle/>
          <a:p>
            <a:pPr>
              <a:defRPr sz="1200" b="1">
                <a:solidFill>
                  <a:srgbClr val="F8FAFC"/>
                </a:solidFill>
                <a:latin typeface="Calibri"/>
              </a:defRPr>
            </a:pPr>
            <a:r>
              <a:t>React 18 + Tailwind MoonRow</a:t>
            </a:r>
          </a:p>
          <a:p>
            <a:pPr>
              <a:defRPr sz="919">
                <a:solidFill>
                  <a:srgbClr val="94A3B8"/>
                </a:solidFill>
                <a:latin typeface="Calibri"/>
              </a:defRPr>
            </a:pPr>
            <a:r>
              <a:t>Sub-second SPA Architecture</a:t>
            </a:r>
          </a:p>
        </p:txBody>
      </p:sp>
      <p:sp>
        <p:nvSpPr>
          <p:cNvPr id="12" name="TextBox 11"/>
          <p:cNvSpPr txBox="1"/>
          <p:nvPr/>
        </p:nvSpPr>
        <p:spPr>
          <a:xfrm>
            <a:off x="914400" y="2286000"/>
            <a:ext cx="3749039" cy="3657600"/>
          </a:xfrm>
          <a:prstGeom prst="rect">
            <a:avLst/>
          </a:prstGeom>
          <a:noFill/>
        </p:spPr>
        <p:txBody>
          <a:bodyPr wrap="square" lIns="0" tIns="0" rIns="0" bIns="0">
            <a:spAutoFit/>
          </a:bodyPr>
          <a:lstStyle/>
          <a:p>
            <a:pPr>
              <a:spcBef>
                <a:spcPts val="500"/>
              </a:spcBef>
            </a:pPr>
            <a:r>
              <a:rPr sz="1000" b="1">
                <a:solidFill>
                  <a:srgbClr val="F8FAFC"/>
                </a:solidFill>
                <a:latin typeface="Calibri"/>
              </a:rPr>
              <a:t>•  React 18 + Vite 5: </a:t>
            </a:r>
            <a:r>
              <a:rPr sz="1000">
                <a:solidFill>
                  <a:srgbClr val="94A3B8"/>
                </a:solidFill>
                <a:latin typeface="Calibri"/>
              </a:rPr>
              <a:t>Bundles 1,581 modules in 8.34s; lean 263 kB total bundle (87 kB gzipped).</a:t>
            </a:r>
          </a:p>
          <a:p>
            <a:pPr>
              <a:spcBef>
                <a:spcPts val="500"/>
              </a:spcBef>
            </a:pPr>
            <a:r>
              <a:rPr sz="1000" b="1">
                <a:solidFill>
                  <a:srgbClr val="F8FAFC"/>
                </a:solidFill>
                <a:latin typeface="Calibri"/>
              </a:rPr>
              <a:t>•  Zero Layout Shift Theming: </a:t>
            </a:r>
            <a:r>
              <a:rPr sz="1000">
                <a:solidFill>
                  <a:srgbClr val="94A3B8"/>
                </a:solidFill>
                <a:latin typeface="Calibri"/>
              </a:rPr>
              <a:t>ThemeContext dynamically swaps CSS custom properties between Dark and Light mode with 0ms delay.</a:t>
            </a:r>
          </a:p>
          <a:p>
            <a:pPr>
              <a:spcBef>
                <a:spcPts val="500"/>
              </a:spcBef>
            </a:pPr>
            <a:r>
              <a:rPr sz="1000" b="1">
                <a:solidFill>
                  <a:srgbClr val="F8FAFC"/>
                </a:solidFill>
                <a:latin typeface="Calibri"/>
              </a:rPr>
              <a:t>•  Global Context Hierarchy: </a:t>
            </a:r>
            <a:r>
              <a:rPr sz="1000">
                <a:solidFill>
                  <a:srgbClr val="94A3B8"/>
                </a:solidFill>
                <a:latin typeface="Calibri"/>
              </a:rPr>
              <a:t>AuthContext manages JWT sessions; ToastContext handles non-blocking toast alerts.</a:t>
            </a:r>
          </a:p>
          <a:p>
            <a:pPr>
              <a:spcBef>
                <a:spcPts val="500"/>
              </a:spcBef>
            </a:pPr>
            <a:r>
              <a:rPr sz="1000" b="1">
                <a:solidFill>
                  <a:srgbClr val="F8FAFC"/>
                </a:solidFill>
                <a:latin typeface="Calibri"/>
              </a:rPr>
              <a:t>•  Offline Mock Fallback Layer: </a:t>
            </a:r>
            <a:r>
              <a:rPr sz="1000">
                <a:solidFill>
                  <a:srgbClr val="94A3B8"/>
                </a:solidFill>
                <a:latin typeface="Calibri"/>
              </a:rPr>
              <a:t>Centralized Axios client in api.js includes graceful fallback data if backend is offline.</a:t>
            </a:r>
          </a:p>
          <a:p>
            <a:pPr>
              <a:spcBef>
                <a:spcPts val="500"/>
              </a:spcBef>
            </a:pPr>
            <a:r>
              <a:rPr sz="1000" b="1">
                <a:solidFill>
                  <a:srgbClr val="F8FAFC"/>
                </a:solidFill>
                <a:latin typeface="Calibri"/>
              </a:rPr>
              <a:t>•  WCAG 2.1 AA Compliance: </a:t>
            </a:r>
            <a:r>
              <a:rPr sz="1000">
                <a:solidFill>
                  <a:srgbClr val="94A3B8"/>
                </a:solidFill>
                <a:latin typeface="Calibri"/>
              </a:rPr>
              <a:t>Guarantees 4.5:1 text contrast ratios across all buttons, pills, and cards.</a:t>
            </a:r>
          </a:p>
        </p:txBody>
      </p:sp>
      <p:sp>
        <p:nvSpPr>
          <p:cNvPr id="13" name="Rounded Rectangle 12"/>
          <p:cNvSpPr/>
          <p:nvPr/>
        </p:nvSpPr>
        <p:spPr>
          <a:xfrm>
            <a:off x="5029200" y="1691640"/>
            <a:ext cx="6430975"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0368" y="1856232"/>
            <a:ext cx="6028639" cy="320040"/>
          </a:xfrm>
          <a:prstGeom prst="rect">
            <a:avLst/>
          </a:prstGeom>
          <a:noFill/>
        </p:spPr>
        <p:txBody>
          <a:bodyPr wrap="square" lIns="0" tIns="0" rIns="0" bIns="0">
            <a:spAutoFit/>
          </a:bodyPr>
          <a:lstStyle/>
          <a:p>
            <a:pPr>
              <a:defRPr sz="1200" b="1">
                <a:solidFill>
                  <a:srgbClr val="F8FAFC"/>
                </a:solidFill>
                <a:latin typeface="Calibri"/>
              </a:defRPr>
            </a:pPr>
            <a:r>
              <a:t>Live Production: Dark Theme vs Light Theme (Render)</a:t>
            </a:r>
          </a:p>
          <a:p>
            <a:pPr>
              <a:defRPr sz="919">
                <a:solidFill>
                  <a:srgbClr val="94A3B8"/>
                </a:solidFill>
                <a:latin typeface="Calibri"/>
              </a:defRPr>
            </a:pPr>
            <a:r>
              <a:t>Instant theme switching with zero layout shift</a:t>
            </a:r>
          </a:p>
        </p:txBody>
      </p:sp>
      <p:sp>
        <p:nvSpPr>
          <p:cNvPr id="15" name="Rounded Rectangle 14"/>
          <p:cNvSpPr/>
          <p:nvPr/>
        </p:nvSpPr>
        <p:spPr>
          <a:xfrm>
            <a:off x="5129784" y="2249424"/>
            <a:ext cx="3090672" cy="376732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ashboard_live.png"/>
          <p:cNvPicPr>
            <a:picLocks noChangeAspect="1"/>
          </p:cNvPicPr>
          <p:nvPr/>
        </p:nvPicPr>
        <p:blipFill>
          <a:blip r:embed="rId2"/>
          <a:stretch>
            <a:fillRect/>
          </a:stretch>
        </p:blipFill>
        <p:spPr>
          <a:xfrm>
            <a:off x="5166360" y="2286000"/>
            <a:ext cx="3017520" cy="3474720"/>
          </a:xfrm>
          <a:prstGeom prst="rect">
            <a:avLst/>
          </a:prstGeom>
        </p:spPr>
      </p:pic>
      <p:sp>
        <p:nvSpPr>
          <p:cNvPr id="17" name="TextBox 16"/>
          <p:cNvSpPr txBox="1"/>
          <p:nvPr/>
        </p:nvSpPr>
        <p:spPr>
          <a:xfrm>
            <a:off x="5166360" y="5779007"/>
            <a:ext cx="3017520" cy="256032"/>
          </a:xfrm>
          <a:prstGeom prst="rect">
            <a:avLst/>
          </a:prstGeom>
          <a:noFill/>
        </p:spPr>
        <p:txBody>
          <a:bodyPr wrap="square" lIns="0" tIns="0" rIns="0" bIns="0">
            <a:spAutoFit/>
          </a:bodyPr>
          <a:lstStyle/>
          <a:p>
            <a:pPr algn="ctr">
              <a:defRPr sz="880">
                <a:solidFill>
                  <a:srgbClr val="38BDF8"/>
                </a:solidFill>
                <a:latin typeface="Calibri"/>
              </a:defRPr>
            </a:pPr>
            <a:r>
              <a:t>Live Dark Theme (MoonRow Slate)</a:t>
            </a:r>
          </a:p>
        </p:txBody>
      </p:sp>
      <p:sp>
        <p:nvSpPr>
          <p:cNvPr id="18" name="Rounded Rectangle 17"/>
          <p:cNvSpPr/>
          <p:nvPr/>
        </p:nvSpPr>
        <p:spPr>
          <a:xfrm>
            <a:off x="8284464" y="2249424"/>
            <a:ext cx="3090672" cy="376732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dashboard_light_live.png"/>
          <p:cNvPicPr>
            <a:picLocks noChangeAspect="1"/>
          </p:cNvPicPr>
          <p:nvPr/>
        </p:nvPicPr>
        <p:blipFill>
          <a:blip r:embed="rId3"/>
          <a:stretch>
            <a:fillRect/>
          </a:stretch>
        </p:blipFill>
        <p:spPr>
          <a:xfrm>
            <a:off x="8321040" y="2286000"/>
            <a:ext cx="3017520" cy="3474720"/>
          </a:xfrm>
          <a:prstGeom prst="rect">
            <a:avLst/>
          </a:prstGeom>
        </p:spPr>
      </p:pic>
      <p:sp>
        <p:nvSpPr>
          <p:cNvPr id="20" name="TextBox 19"/>
          <p:cNvSpPr txBox="1"/>
          <p:nvPr/>
        </p:nvSpPr>
        <p:spPr>
          <a:xfrm>
            <a:off x="8321040" y="5779007"/>
            <a:ext cx="3017520" cy="256032"/>
          </a:xfrm>
          <a:prstGeom prst="rect">
            <a:avLst/>
          </a:prstGeom>
          <a:noFill/>
        </p:spPr>
        <p:txBody>
          <a:bodyPr wrap="square" lIns="0" tIns="0" rIns="0" bIns="0">
            <a:spAutoFit/>
          </a:bodyPr>
          <a:lstStyle/>
          <a:p>
            <a:pPr algn="ctr">
              <a:defRPr sz="880">
                <a:solidFill>
                  <a:srgbClr val="38BDF8"/>
                </a:solidFill>
                <a:latin typeface="Calibri"/>
              </a:defRPr>
            </a:pPr>
            <a:r>
              <a:t>Live Light Theme (High Contrast)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AGENT WORKBENCH UI</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The Agent Workbench: Dual-Pane Operational Interface</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Empowering support specialists with live context, sentiment telemetry, and dynamic checklists.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09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4297680" cy="44805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3895344" cy="320040"/>
          </a:xfrm>
          <a:prstGeom prst="rect">
            <a:avLst/>
          </a:prstGeom>
          <a:noFill/>
        </p:spPr>
        <p:txBody>
          <a:bodyPr wrap="square" lIns="0" tIns="0" rIns="0" bIns="0">
            <a:spAutoFit/>
          </a:bodyPr>
          <a:lstStyle/>
          <a:p>
            <a:pPr>
              <a:defRPr sz="1200" b="1">
                <a:solidFill>
                  <a:srgbClr val="F8FAFC"/>
                </a:solidFill>
                <a:latin typeface="Calibri"/>
              </a:defRPr>
            </a:pPr>
            <a:r>
              <a:t>Dual-Pane Layout &amp; Safety Rails</a:t>
            </a:r>
          </a:p>
          <a:p>
            <a:pPr>
              <a:defRPr sz="919">
                <a:solidFill>
                  <a:srgbClr val="94A3B8"/>
                </a:solidFill>
                <a:latin typeface="Calibri"/>
              </a:defRPr>
            </a:pPr>
            <a:r>
              <a:t>Operational clarity with visual isolation</a:t>
            </a:r>
          </a:p>
        </p:txBody>
      </p:sp>
      <p:sp>
        <p:nvSpPr>
          <p:cNvPr id="12" name="TextBox 11"/>
          <p:cNvSpPr txBox="1"/>
          <p:nvPr/>
        </p:nvSpPr>
        <p:spPr>
          <a:xfrm>
            <a:off x="914400" y="2286000"/>
            <a:ext cx="3931920" cy="3657600"/>
          </a:xfrm>
          <a:prstGeom prst="rect">
            <a:avLst/>
          </a:prstGeom>
          <a:noFill/>
        </p:spPr>
        <p:txBody>
          <a:bodyPr wrap="square" lIns="0" tIns="0" rIns="0" bIns="0">
            <a:spAutoFit/>
          </a:bodyPr>
          <a:lstStyle/>
          <a:p>
            <a:pPr>
              <a:spcBef>
                <a:spcPts val="500"/>
              </a:spcBef>
            </a:pPr>
            <a:r>
              <a:rPr sz="1000" b="1">
                <a:solidFill>
                  <a:srgbClr val="F8FAFC"/>
                </a:solidFill>
                <a:latin typeface="Calibri"/>
              </a:rPr>
              <a:t>•  Chronological Message Stream: </a:t>
            </a:r>
            <a:r>
              <a:rPr sz="1000">
                <a:solidFill>
                  <a:srgbClr val="94A3B8"/>
                </a:solidFill>
                <a:latin typeface="Calibri"/>
              </a:rPr>
              <a:t>Displays customer messages and agent replies with relative timestamps and status badges.</a:t>
            </a:r>
          </a:p>
          <a:p>
            <a:pPr>
              <a:spcBef>
                <a:spcPts val="500"/>
              </a:spcBef>
            </a:pPr>
            <a:r>
              <a:rPr sz="1000" b="1">
                <a:solidFill>
                  <a:srgbClr val="F8FAFC"/>
                </a:solidFill>
                <a:latin typeface="Calibri"/>
              </a:rPr>
              <a:t>•  🔒 Isolated Internal Staff Notes: </a:t>
            </a:r>
            <a:r>
              <a:rPr sz="1000">
                <a:solidFill>
                  <a:srgbClr val="94A3B8"/>
                </a:solidFill>
                <a:latin typeface="Calibri"/>
              </a:rPr>
              <a:t>Staff-only notes styled with distinct amber borders, strictly hidden from customers to prevent accidental leaks.</a:t>
            </a:r>
          </a:p>
          <a:p>
            <a:pPr>
              <a:spcBef>
                <a:spcPts val="500"/>
              </a:spcBef>
            </a:pPr>
            <a:r>
              <a:rPr sz="1000" b="1">
                <a:solidFill>
                  <a:srgbClr val="F8FAFC"/>
                </a:solidFill>
                <a:latin typeface="Calibri"/>
              </a:rPr>
              <a:t>•  1-Click Mode Toggle: </a:t>
            </a:r>
            <a:r>
              <a:rPr sz="1000">
                <a:solidFill>
                  <a:srgbClr val="94A3B8"/>
                </a:solidFill>
                <a:latin typeface="Calibri"/>
              </a:rPr>
              <a:t>Seamlessly toggle between Public Customer Reply and Private Staff Note with keyboard shortcuts.</a:t>
            </a:r>
          </a:p>
          <a:p>
            <a:pPr>
              <a:spcBef>
                <a:spcPts val="500"/>
              </a:spcBef>
            </a:pPr>
            <a:r>
              <a:rPr sz="1000" b="1">
                <a:solidFill>
                  <a:srgbClr val="F8FAFC"/>
                </a:solidFill>
                <a:latin typeface="Calibri"/>
              </a:rPr>
              <a:t>•  AI Decision Drawer: </a:t>
            </a:r>
            <a:r>
              <a:rPr sz="1000">
                <a:solidFill>
                  <a:srgbClr val="94A3B8"/>
                </a:solidFill>
                <a:latin typeface="Calibri"/>
              </a:rPr>
              <a:t>Renders customer sentiment, patience score, predicted resolution time, and category classification.</a:t>
            </a:r>
          </a:p>
          <a:p>
            <a:pPr>
              <a:spcBef>
                <a:spcPts val="500"/>
              </a:spcBef>
            </a:pPr>
            <a:r>
              <a:rPr sz="1000" b="1">
                <a:solidFill>
                  <a:srgbClr val="F8FAFC"/>
                </a:solidFill>
                <a:latin typeface="Calibri"/>
              </a:rPr>
              <a:t>•  Interactive Diagnostic Checklists: </a:t>
            </a:r>
            <a:r>
              <a:rPr sz="1000">
                <a:solidFill>
                  <a:srgbClr val="94A3B8"/>
                </a:solidFill>
                <a:latin typeface="Calibri"/>
              </a:rPr>
              <a:t>Dynamic 3–5 step troubleshooting checkboxes persist status directly to PostgreSQL via PATCH API.</a:t>
            </a:r>
          </a:p>
        </p:txBody>
      </p:sp>
      <p:sp>
        <p:nvSpPr>
          <p:cNvPr id="13" name="Rounded Rectangle 12"/>
          <p:cNvSpPr/>
          <p:nvPr/>
        </p:nvSpPr>
        <p:spPr>
          <a:xfrm>
            <a:off x="5212080" y="1691640"/>
            <a:ext cx="6248095"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3248" y="1856232"/>
            <a:ext cx="5845759" cy="320040"/>
          </a:xfrm>
          <a:prstGeom prst="rect">
            <a:avLst/>
          </a:prstGeom>
          <a:noFill/>
        </p:spPr>
        <p:txBody>
          <a:bodyPr wrap="square" lIns="0" tIns="0" rIns="0" bIns="0">
            <a:spAutoFit/>
          </a:bodyPr>
          <a:lstStyle/>
          <a:p>
            <a:pPr>
              <a:defRPr sz="1200" b="1">
                <a:solidFill>
                  <a:srgbClr val="F8FAFC"/>
                </a:solidFill>
                <a:latin typeface="Calibri"/>
              </a:defRPr>
            </a:pPr>
            <a:r>
              <a:t>Live Production: Agent Workbench &amp; AI Drawer</a:t>
            </a:r>
          </a:p>
          <a:p>
            <a:pPr>
              <a:defRPr sz="919">
                <a:solidFill>
                  <a:srgbClr val="94A3B8"/>
                </a:solidFill>
                <a:latin typeface="Calibri"/>
              </a:defRPr>
            </a:pPr>
            <a:r>
              <a:t>Live view from https://supportsense-frontend.onrender.com</a:t>
            </a:r>
          </a:p>
        </p:txBody>
      </p:sp>
      <p:sp>
        <p:nvSpPr>
          <p:cNvPr id="15" name="Rounded Rectangle 14"/>
          <p:cNvSpPr/>
          <p:nvPr/>
        </p:nvSpPr>
        <p:spPr>
          <a:xfrm>
            <a:off x="5312664" y="2249424"/>
            <a:ext cx="6046927" cy="381304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gent_workbench_live.png"/>
          <p:cNvPicPr>
            <a:picLocks noChangeAspect="1"/>
          </p:cNvPicPr>
          <p:nvPr/>
        </p:nvPicPr>
        <p:blipFill>
          <a:blip r:embed="rId2"/>
          <a:stretch>
            <a:fillRect/>
          </a:stretch>
        </p:blipFill>
        <p:spPr>
          <a:xfrm>
            <a:off x="5349240" y="2286000"/>
            <a:ext cx="5973775" cy="3520440"/>
          </a:xfrm>
          <a:prstGeom prst="rect">
            <a:avLst/>
          </a:prstGeom>
        </p:spPr>
      </p:pic>
      <p:sp>
        <p:nvSpPr>
          <p:cNvPr id="17" name="TextBox 16"/>
          <p:cNvSpPr txBox="1"/>
          <p:nvPr/>
        </p:nvSpPr>
        <p:spPr>
          <a:xfrm>
            <a:off x="5349240" y="5824727"/>
            <a:ext cx="5973775" cy="256032"/>
          </a:xfrm>
          <a:prstGeom prst="rect">
            <a:avLst/>
          </a:prstGeom>
          <a:noFill/>
        </p:spPr>
        <p:txBody>
          <a:bodyPr wrap="square" lIns="0" tIns="0" rIns="0" bIns="0">
            <a:spAutoFit/>
          </a:bodyPr>
          <a:lstStyle/>
          <a:p>
            <a:pPr algn="ctr">
              <a:defRPr sz="880">
                <a:solidFill>
                  <a:srgbClr val="38BDF8"/>
                </a:solidFill>
                <a:latin typeface="Calibri"/>
              </a:defRPr>
            </a:pPr>
            <a:r>
              <a:t>Live Production: Dual-Pane Agent Workbench with AI Decision Drawer (Render Deployed)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AI-POWERED UI TOOLS</a:t>
            </a:r>
          </a:p>
        </p:txBody>
      </p:sp>
      <p:sp>
        <p:nvSpPr>
          <p:cNvPr id="4" name="Rounded Rectangle 3"/>
          <p:cNvSpPr/>
          <p:nvPr/>
        </p:nvSpPr>
        <p:spPr>
          <a:xfrm>
            <a:off x="7315200" y="347472"/>
            <a:ext cx="4114800" cy="292608"/>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Rohan Salkar  |  Frontend &amp; UI/UX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Real-Time FAQ Deflection &amp; 1-Click Tone Polisher</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Eliminating 35% of repetitive tickets and polishing agent drafts across 4 communication styles.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10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257800"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F8FAFC"/>
                </a:solidFill>
                <a:latin typeface="Calibri"/>
              </a:defRPr>
            </a:pPr>
            <a:r>
              <a:t>1. Real-Time FAQ Deflection (35% Deflection)</a:t>
            </a:r>
          </a:p>
          <a:p>
            <a:pPr>
              <a:defRPr sz="919">
                <a:solidFill>
                  <a:srgbClr val="94A3B8"/>
                </a:solidFill>
                <a:latin typeface="Calibri"/>
              </a:defRPr>
            </a:pPr>
            <a:r>
              <a:t>Debounced Knowledge Base search during ticket creation</a:t>
            </a:r>
          </a:p>
        </p:txBody>
      </p:sp>
      <p:sp>
        <p:nvSpPr>
          <p:cNvPr id="12" name="Rounded Rectangle 11"/>
          <p:cNvSpPr/>
          <p:nvPr/>
        </p:nvSpPr>
        <p:spPr>
          <a:xfrm>
            <a:off x="832103" y="2249424"/>
            <a:ext cx="5056632" cy="271576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q_deflection_live.png"/>
          <p:cNvPicPr>
            <a:picLocks noChangeAspect="1"/>
          </p:cNvPicPr>
          <p:nvPr/>
        </p:nvPicPr>
        <p:blipFill>
          <a:blip r:embed="rId2"/>
          <a:stretch>
            <a:fillRect/>
          </a:stretch>
        </p:blipFill>
        <p:spPr>
          <a:xfrm>
            <a:off x="868680" y="2286000"/>
            <a:ext cx="4983480" cy="2423160"/>
          </a:xfrm>
          <a:prstGeom prst="rect">
            <a:avLst/>
          </a:prstGeom>
        </p:spPr>
      </p:pic>
      <p:sp>
        <p:nvSpPr>
          <p:cNvPr id="14" name="TextBox 13"/>
          <p:cNvSpPr txBox="1"/>
          <p:nvPr/>
        </p:nvSpPr>
        <p:spPr>
          <a:xfrm>
            <a:off x="868680" y="472744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FAQ Deflection Panel during Ticket Creation</a:t>
            </a:r>
          </a:p>
        </p:txBody>
      </p:sp>
      <p:sp>
        <p:nvSpPr>
          <p:cNvPr id="15" name="TextBox 14"/>
          <p:cNvSpPr txBox="1"/>
          <p:nvPr/>
        </p:nvSpPr>
        <p:spPr>
          <a:xfrm>
            <a:off x="91440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300ms Debounced Scanner: </a:t>
            </a:r>
            <a:r>
              <a:rPr sz="950">
                <a:solidFill>
                  <a:srgbClr val="94A3B8"/>
                </a:solidFill>
                <a:latin typeface="Calibri"/>
              </a:rPr>
              <a:t>Matches KB articles as the customer types their issue title.</a:t>
            </a:r>
          </a:p>
          <a:p>
            <a:pPr>
              <a:spcBef>
                <a:spcPts val="200"/>
              </a:spcBef>
            </a:pPr>
            <a:r>
              <a:rPr sz="950" b="1">
                <a:solidFill>
                  <a:srgbClr val="F8FAFC"/>
                </a:solidFill>
                <a:latin typeface="Calibri"/>
              </a:rPr>
              <a:t>•  Instant Self-Service: </a:t>
            </a:r>
            <a:r>
              <a:rPr sz="950">
                <a:solidFill>
                  <a:srgbClr val="94A3B8"/>
                </a:solidFill>
                <a:latin typeface="Calibri"/>
              </a:rPr>
              <a:t>Customers resolve problems in 1 click without submitting tickets.</a:t>
            </a:r>
          </a:p>
        </p:txBody>
      </p:sp>
      <p:sp>
        <p:nvSpPr>
          <p:cNvPr id="16" name="Rounded Rectangle 15"/>
          <p:cNvSpPr/>
          <p:nvPr/>
        </p:nvSpPr>
        <p:spPr>
          <a:xfrm>
            <a:off x="6172200" y="1691640"/>
            <a:ext cx="525780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856232"/>
            <a:ext cx="4855464" cy="320040"/>
          </a:xfrm>
          <a:prstGeom prst="rect">
            <a:avLst/>
          </a:prstGeom>
          <a:noFill/>
        </p:spPr>
        <p:txBody>
          <a:bodyPr wrap="square" lIns="0" tIns="0" rIns="0" bIns="0">
            <a:spAutoFit/>
          </a:bodyPr>
          <a:lstStyle/>
          <a:p>
            <a:pPr>
              <a:defRPr sz="1200" b="1">
                <a:solidFill>
                  <a:srgbClr val="F8FAFC"/>
                </a:solidFill>
                <a:latin typeface="Calibri"/>
              </a:defRPr>
            </a:pPr>
            <a:r>
              <a:t>2. AI 1-Click Tone Polishing Modals</a:t>
            </a:r>
          </a:p>
          <a:p>
            <a:pPr>
              <a:defRPr sz="919">
                <a:solidFill>
                  <a:srgbClr val="94A3B8"/>
                </a:solidFill>
                <a:latin typeface="Calibri"/>
              </a:defRPr>
            </a:pPr>
            <a:r>
              <a:t>Empathetic, Concise, Formal &amp; Technical styles</a:t>
            </a:r>
          </a:p>
        </p:txBody>
      </p:sp>
      <p:sp>
        <p:nvSpPr>
          <p:cNvPr id="18" name="Rounded Rectangle 17"/>
          <p:cNvSpPr/>
          <p:nvPr/>
        </p:nvSpPr>
        <p:spPr>
          <a:xfrm>
            <a:off x="6272784" y="2249424"/>
            <a:ext cx="5056632" cy="2715768"/>
          </a:xfrm>
          <a:prstGeom prst="roundRect">
            <a:avLst/>
          </a:prstGeom>
          <a:solidFill>
            <a:srgbClr val="18223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one_polisher_live.png"/>
          <p:cNvPicPr>
            <a:picLocks noChangeAspect="1"/>
          </p:cNvPicPr>
          <p:nvPr/>
        </p:nvPicPr>
        <p:blipFill>
          <a:blip r:embed="rId3"/>
          <a:stretch>
            <a:fillRect/>
          </a:stretch>
        </p:blipFill>
        <p:spPr>
          <a:xfrm>
            <a:off x="6309360" y="2286000"/>
            <a:ext cx="4983480" cy="2423160"/>
          </a:xfrm>
          <a:prstGeom prst="rect">
            <a:avLst/>
          </a:prstGeom>
        </p:spPr>
      </p:pic>
      <p:sp>
        <p:nvSpPr>
          <p:cNvPr id="20" name="TextBox 19"/>
          <p:cNvSpPr txBox="1"/>
          <p:nvPr/>
        </p:nvSpPr>
        <p:spPr>
          <a:xfrm>
            <a:off x="6309360" y="472744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1-Click Tone Polisher bar in Ticket Detail</a:t>
            </a:r>
          </a:p>
        </p:txBody>
      </p:sp>
      <p:sp>
        <p:nvSpPr>
          <p:cNvPr id="21" name="TextBox 20"/>
          <p:cNvSpPr txBox="1"/>
          <p:nvPr/>
        </p:nvSpPr>
        <p:spPr>
          <a:xfrm>
            <a:off x="635508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4 Enterprise Tones: </a:t>
            </a:r>
            <a:r>
              <a:rPr sz="950">
                <a:solidFill>
                  <a:srgbClr val="94A3B8"/>
                </a:solidFill>
                <a:latin typeface="Calibri"/>
              </a:rPr>
              <a:t>Rewrites rough drafts into Empathetic, Concise, Formal, or Technical styles.</a:t>
            </a:r>
          </a:p>
          <a:p>
            <a:pPr>
              <a:spcBef>
                <a:spcPts val="200"/>
              </a:spcBef>
            </a:pPr>
            <a:r>
              <a:rPr sz="950" b="1">
                <a:solidFill>
                  <a:srgbClr val="F8FAFC"/>
                </a:solidFill>
                <a:latin typeface="Calibri"/>
              </a:rPr>
              <a:t>•  3-Variation Cycling: </a:t>
            </a:r>
            <a:r>
              <a:rPr sz="950">
                <a:solidFill>
                  <a:srgbClr val="94A3B8"/>
                </a:solidFill>
                <a:latin typeface="Calibri"/>
              </a:rPr>
              <a:t>Agents click repeatedly to cycle variations (v1, v2, v3) with anti-nesting rules.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SECURITY &amp; AUTHENTICATION</a:t>
            </a:r>
          </a:p>
        </p:txBody>
      </p:sp>
      <p:sp>
        <p:nvSpPr>
          <p:cNvPr id="4" name="Rounded Rectangle 3"/>
          <p:cNvSpPr/>
          <p:nvPr/>
        </p:nvSpPr>
        <p:spPr>
          <a:xfrm>
            <a:off x="7315200" y="347472"/>
            <a:ext cx="4114800" cy="292608"/>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Aarti Singh  |  DevOps, QA &amp; Doc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Security Hardening: Stateless JWT &amp; Multi-Role Auth</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Zero-trust credential verification, bcrypt password hashing, and brute-force protection.</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11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029200" cy="448056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626864" cy="320040"/>
          </a:xfrm>
          <a:prstGeom prst="rect">
            <a:avLst/>
          </a:prstGeom>
          <a:noFill/>
        </p:spPr>
        <p:txBody>
          <a:bodyPr wrap="square" lIns="0" tIns="0" rIns="0" bIns="0">
            <a:spAutoFit/>
          </a:bodyPr>
          <a:lstStyle/>
          <a:p>
            <a:pPr>
              <a:defRPr sz="1200" b="1">
                <a:solidFill>
                  <a:srgbClr val="F8FAFC"/>
                </a:solidFill>
                <a:latin typeface="Calibri"/>
              </a:defRPr>
            </a:pPr>
            <a:r>
              <a:t>Stateless JWT Lifecycle &amp; Guardrails</a:t>
            </a:r>
          </a:p>
          <a:p>
            <a:pPr>
              <a:defRPr sz="919">
                <a:solidFill>
                  <a:srgbClr val="94A3B8"/>
                </a:solidFill>
                <a:latin typeface="Calibri"/>
              </a:defRPr>
            </a:pPr>
            <a:r>
              <a:t>Enterprise authentication pipeline</a:t>
            </a:r>
          </a:p>
        </p:txBody>
      </p:sp>
      <p:sp>
        <p:nvSpPr>
          <p:cNvPr id="12" name="TextBox 11"/>
          <p:cNvSpPr txBox="1"/>
          <p:nvPr/>
        </p:nvSpPr>
        <p:spPr>
          <a:xfrm>
            <a:off x="914400" y="2286000"/>
            <a:ext cx="4663440" cy="3657600"/>
          </a:xfrm>
          <a:prstGeom prst="rect">
            <a:avLst/>
          </a:prstGeom>
          <a:noFill/>
        </p:spPr>
        <p:txBody>
          <a:bodyPr wrap="square" lIns="0" tIns="0" rIns="0" bIns="0">
            <a:spAutoFit/>
          </a:bodyPr>
          <a:lstStyle/>
          <a:p>
            <a:pPr>
              <a:spcBef>
                <a:spcPts val="500"/>
              </a:spcBef>
            </a:pPr>
            <a:r>
              <a:rPr sz="1000" b="1">
                <a:solidFill>
                  <a:srgbClr val="F8FAFC"/>
                </a:solidFill>
                <a:latin typeface="Calibri"/>
              </a:rPr>
              <a:t>•  1-Hour Stateless JWT Tokens: </a:t>
            </a:r>
            <a:r>
              <a:rPr sz="1000">
                <a:solidFill>
                  <a:srgbClr val="94A3B8"/>
                </a:solidFill>
                <a:latin typeface="Calibri"/>
              </a:rPr>
              <a:t>Cryptographically signed Bearer tokens minimize hijack exposure windows.</a:t>
            </a:r>
          </a:p>
          <a:p>
            <a:pPr>
              <a:spcBef>
                <a:spcPts val="500"/>
              </a:spcBef>
            </a:pPr>
            <a:r>
              <a:rPr sz="1000" b="1">
                <a:solidFill>
                  <a:srgbClr val="F8FAFC"/>
                </a:solidFill>
                <a:latin typeface="Calibri"/>
              </a:rPr>
              <a:t>•  Bcrypt Password Hashing (10 Rounds): </a:t>
            </a:r>
            <a:r>
              <a:rPr sz="1000">
                <a:solidFill>
                  <a:srgbClr val="94A3B8"/>
                </a:solidFill>
                <a:latin typeface="Calibri"/>
              </a:rPr>
              <a:t>Zero plaintext credentials; resistant to dictionary and rainbow table attacks.</a:t>
            </a:r>
          </a:p>
          <a:p>
            <a:pPr>
              <a:spcBef>
                <a:spcPts val="500"/>
              </a:spcBef>
            </a:pPr>
            <a:r>
              <a:rPr sz="1000" b="1">
                <a:solidFill>
                  <a:srgbClr val="F8FAFC"/>
                </a:solidFill>
                <a:latin typeface="Calibri"/>
              </a:rPr>
              <a:t>•  Rate Limiting Protection: </a:t>
            </a:r>
            <a:r>
              <a:rPr sz="1000">
                <a:solidFill>
                  <a:srgbClr val="94A3B8"/>
                </a:solidFill>
                <a:latin typeface="Calibri"/>
              </a:rPr>
              <a:t>express-rate-limit caps requests to 100 per 15 minutes per IP to defeat brute-force attacks.</a:t>
            </a:r>
          </a:p>
          <a:p>
            <a:pPr>
              <a:spcBef>
                <a:spcPts val="500"/>
              </a:spcBef>
            </a:pPr>
            <a:r>
              <a:rPr sz="1000" b="1">
                <a:solidFill>
                  <a:srgbClr val="F8FAFC"/>
                </a:solidFill>
                <a:latin typeface="Calibri"/>
              </a:rPr>
              <a:t>•  Privilege Escalation Prevention: </a:t>
            </a:r>
            <a:r>
              <a:rPr sz="1000">
                <a:solidFill>
                  <a:srgbClr val="94A3B8"/>
                </a:solidFill>
                <a:latin typeface="Calibri"/>
              </a:rPr>
              <a:t>Public self-registration strictly forces role='CUSTOMER'; Agent/Admin roles require authorization.</a:t>
            </a:r>
          </a:p>
          <a:p>
            <a:pPr>
              <a:spcBef>
                <a:spcPts val="500"/>
              </a:spcBef>
            </a:pPr>
            <a:r>
              <a:rPr sz="1000" b="1">
                <a:solidFill>
                  <a:srgbClr val="F8FAFC"/>
                </a:solidFill>
                <a:latin typeface="Calibri"/>
              </a:rPr>
              <a:t>•  Axios Interceptor Pipeline: </a:t>
            </a:r>
            <a:r>
              <a:rPr sz="1000">
                <a:solidFill>
                  <a:srgbClr val="94A3B8"/>
                </a:solidFill>
                <a:latin typeface="Calibri"/>
              </a:rPr>
              <a:t>Automatically injects Authorization headers and redirects to /login on HTTP 401 Unauthorized.</a:t>
            </a:r>
          </a:p>
        </p:txBody>
      </p:sp>
      <p:sp>
        <p:nvSpPr>
          <p:cNvPr id="13" name="Rounded Rectangle 12"/>
          <p:cNvSpPr/>
          <p:nvPr/>
        </p:nvSpPr>
        <p:spPr>
          <a:xfrm>
            <a:off x="5943600" y="1691640"/>
            <a:ext cx="5516575"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1856232"/>
            <a:ext cx="5114239" cy="320040"/>
          </a:xfrm>
          <a:prstGeom prst="rect">
            <a:avLst/>
          </a:prstGeom>
          <a:noFill/>
        </p:spPr>
        <p:txBody>
          <a:bodyPr wrap="square" lIns="0" tIns="0" rIns="0" bIns="0">
            <a:spAutoFit/>
          </a:bodyPr>
          <a:lstStyle/>
          <a:p>
            <a:pPr>
              <a:defRPr sz="1200" b="1">
                <a:solidFill>
                  <a:srgbClr val="F8FAFC"/>
                </a:solidFill>
                <a:latin typeface="Calibri"/>
              </a:defRPr>
            </a:pPr>
            <a:r>
              <a:t>Live Production: Authentication Portal (Render)</a:t>
            </a:r>
          </a:p>
          <a:p>
            <a:pPr>
              <a:defRPr sz="919">
                <a:solidFill>
                  <a:srgbClr val="94A3B8"/>
                </a:solidFill>
                <a:latin typeface="Calibri"/>
              </a:defRPr>
            </a:pPr>
            <a:r>
              <a:t>Secure role selection &amp; JWT session initiation</a:t>
            </a:r>
          </a:p>
        </p:txBody>
      </p:sp>
      <p:sp>
        <p:nvSpPr>
          <p:cNvPr id="15" name="Rounded Rectangle 14"/>
          <p:cNvSpPr/>
          <p:nvPr/>
        </p:nvSpPr>
        <p:spPr>
          <a:xfrm>
            <a:off x="6044184" y="2249424"/>
            <a:ext cx="5315407" cy="381304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gin_live.png"/>
          <p:cNvPicPr>
            <a:picLocks noChangeAspect="1"/>
          </p:cNvPicPr>
          <p:nvPr/>
        </p:nvPicPr>
        <p:blipFill>
          <a:blip r:embed="rId2"/>
          <a:stretch>
            <a:fillRect/>
          </a:stretch>
        </p:blipFill>
        <p:spPr>
          <a:xfrm>
            <a:off x="6080760" y="2286000"/>
            <a:ext cx="5242255" cy="3520440"/>
          </a:xfrm>
          <a:prstGeom prst="rect">
            <a:avLst/>
          </a:prstGeom>
        </p:spPr>
      </p:pic>
      <p:sp>
        <p:nvSpPr>
          <p:cNvPr id="17" name="TextBox 16"/>
          <p:cNvSpPr txBox="1"/>
          <p:nvPr/>
        </p:nvSpPr>
        <p:spPr>
          <a:xfrm>
            <a:off x="6080760" y="5824727"/>
            <a:ext cx="5242255" cy="256032"/>
          </a:xfrm>
          <a:prstGeom prst="rect">
            <a:avLst/>
          </a:prstGeom>
          <a:noFill/>
        </p:spPr>
        <p:txBody>
          <a:bodyPr wrap="square" lIns="0" tIns="0" rIns="0" bIns="0">
            <a:spAutoFit/>
          </a:bodyPr>
          <a:lstStyle/>
          <a:p>
            <a:pPr algn="ctr">
              <a:defRPr sz="880">
                <a:solidFill>
                  <a:srgbClr val="38BDF8"/>
                </a:solidFill>
                <a:latin typeface="Calibri"/>
              </a:defRPr>
            </a:pPr>
            <a:r>
              <a:t>Live Production: SupportSense AI Multi-Role Authentication Portal (LoginPage.jsx)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ACCESS CONTROL &amp; GOVERNANCE</a:t>
            </a:r>
          </a:p>
        </p:txBody>
      </p:sp>
      <p:sp>
        <p:nvSpPr>
          <p:cNvPr id="4" name="Rounded Rectangle 3"/>
          <p:cNvSpPr/>
          <p:nvPr/>
        </p:nvSpPr>
        <p:spPr>
          <a:xfrm>
            <a:off x="7315200" y="347472"/>
            <a:ext cx="4114800" cy="292608"/>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Aarti Singh  |  DevOps, QA &amp; Doc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Role-Based Access Control (RBAC) &amp; 9 Test Personas</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Multi-department access matrix with 1-click persona testing for client evaluations.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12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graphicFrame>
        <p:nvGraphicFramePr>
          <p:cNvPr id="10" name="Table 9"/>
          <p:cNvGraphicFramePr>
            <a:graphicFrameLocks noGrp="1"/>
          </p:cNvGraphicFramePr>
          <p:nvPr/>
        </p:nvGraphicFramePr>
        <p:xfrm>
          <a:off x="731520" y="1691640"/>
          <a:ext cx="10728655" cy="2423160"/>
        </p:xfrm>
        <a:graphic>
          <a:graphicData uri="http://schemas.openxmlformats.org/drawingml/2006/table">
            <a:tbl>
              <a:tblPr firstRow="1" bandRow="1">
                <a:tableStyleId>{5C22544A-7EE6-4342-B048-85BDC9FD1C3A}</a:tableStyleId>
              </a:tblPr>
              <a:tblGrid>
                <a:gridCol w="1645920"/>
                <a:gridCol w="2011680"/>
                <a:gridCol w="2926080"/>
                <a:gridCol w="1645920"/>
                <a:gridCol w="2499055"/>
              </a:tblGrid>
              <a:tr h="346165">
                <a:tc>
                  <a:txBody>
                    <a:bodyPr/>
                    <a:lstStyle/>
                    <a:p>
                      <a:pPr algn="l">
                        <a:defRPr sz="1000" b="1">
                          <a:solidFill>
                            <a:srgbClr val="38BDF8"/>
                          </a:solidFill>
                          <a:latin typeface="Calibri"/>
                        </a:defRPr>
                      </a:pPr>
                      <a:r>
                        <a:t>User Role</a:t>
                      </a:r>
                    </a:p>
                  </a:txBody>
                  <a:tcPr anchor="ctr">
                    <a:solidFill>
                      <a:srgbClr val="1E293B"/>
                    </a:solidFill>
                  </a:tcPr>
                </a:tc>
                <a:tc>
                  <a:txBody>
                    <a:bodyPr/>
                    <a:lstStyle/>
                    <a:p>
                      <a:pPr algn="l">
                        <a:defRPr sz="1000" b="1">
                          <a:solidFill>
                            <a:srgbClr val="38BDF8"/>
                          </a:solidFill>
                          <a:latin typeface="Calibri"/>
                        </a:defRPr>
                      </a:pPr>
                      <a:r>
                        <a:t>Department Assignment</a:t>
                      </a:r>
                    </a:p>
                  </a:txBody>
                  <a:tcPr anchor="ctr">
                    <a:solidFill>
                      <a:srgbClr val="1E293B"/>
                    </a:solidFill>
                  </a:tcPr>
                </a:tc>
                <a:tc>
                  <a:txBody>
                    <a:bodyPr/>
                    <a:lstStyle/>
                    <a:p>
                      <a:pPr algn="l">
                        <a:defRPr sz="1000" b="1">
                          <a:solidFill>
                            <a:srgbClr val="38BDF8"/>
                          </a:solidFill>
                          <a:latin typeface="Calibri"/>
                        </a:defRPr>
                      </a:pPr>
                      <a:r>
                        <a:t>Queue Access Level</a:t>
                      </a:r>
                    </a:p>
                  </a:txBody>
                  <a:tcPr anchor="ctr">
                    <a:solidFill>
                      <a:srgbClr val="1E293B"/>
                    </a:solidFill>
                  </a:tcPr>
                </a:tc>
                <a:tc>
                  <a:txBody>
                    <a:bodyPr/>
                    <a:lstStyle/>
                    <a:p>
                      <a:pPr algn="l">
                        <a:defRPr sz="1000" b="1">
                          <a:solidFill>
                            <a:srgbClr val="38BDF8"/>
                          </a:solidFill>
                          <a:latin typeface="Calibri"/>
                        </a:defRPr>
                      </a:pPr>
                      <a:r>
                        <a:t>Internal Notes</a:t>
                      </a:r>
                    </a:p>
                  </a:txBody>
                  <a:tcPr anchor="ctr">
                    <a:solidFill>
                      <a:srgbClr val="1E293B"/>
                    </a:solidFill>
                  </a:tcPr>
                </a:tc>
                <a:tc>
                  <a:txBody>
                    <a:bodyPr/>
                    <a:lstStyle/>
                    <a:p>
                      <a:pPr algn="l">
                        <a:defRPr sz="1000" b="1">
                          <a:solidFill>
                            <a:srgbClr val="38BDF8"/>
                          </a:solidFill>
                          <a:latin typeface="Calibri"/>
                        </a:defRPr>
                      </a:pPr>
                      <a:r>
                        <a:t>Administrative Rights</a:t>
                      </a:r>
                    </a:p>
                  </a:txBody>
                  <a:tcPr anchor="ctr">
                    <a:solidFill>
                      <a:srgbClr val="1E293B"/>
                    </a:solidFill>
                  </a:tcPr>
                </a:tc>
              </a:tr>
              <a:tr h="346165">
                <a:tc>
                  <a:txBody>
                    <a:bodyPr/>
                    <a:lstStyle/>
                    <a:p>
                      <a:pPr algn="l">
                        <a:defRPr sz="950">
                          <a:solidFill>
                            <a:srgbClr val="F8FAFC"/>
                          </a:solidFill>
                          <a:latin typeface="Calibri"/>
                        </a:defRPr>
                      </a:pPr>
                      <a:r>
                        <a:t>CUSTOMER</a:t>
                      </a:r>
                    </a:p>
                  </a:txBody>
                  <a:tcPr anchor="ctr">
                    <a:solidFill>
                      <a:srgbClr val="182234"/>
                    </a:solidFill>
                  </a:tcPr>
                </a:tc>
                <a:tc>
                  <a:txBody>
                    <a:bodyPr/>
                    <a:lstStyle/>
                    <a:p>
                      <a:pPr algn="l">
                        <a:defRPr sz="950">
                          <a:solidFill>
                            <a:srgbClr val="94A3B8"/>
                          </a:solidFill>
                          <a:latin typeface="Calibri"/>
                        </a:defRPr>
                      </a:pPr>
                      <a:r>
                        <a:t>Customer Portal</a:t>
                      </a:r>
                    </a:p>
                  </a:txBody>
                  <a:tcPr anchor="ctr">
                    <a:solidFill>
                      <a:srgbClr val="182234"/>
                    </a:solidFill>
                  </a:tcPr>
                </a:tc>
                <a:tc>
                  <a:txBody>
                    <a:bodyPr/>
                    <a:lstStyle/>
                    <a:p>
                      <a:pPr algn="l">
                        <a:defRPr sz="950">
                          <a:solidFill>
                            <a:srgbClr val="94A3B8"/>
                          </a:solidFill>
                          <a:latin typeface="Calibri"/>
                        </a:defRPr>
                      </a:pPr>
                      <a:r>
                        <a:t>Own submitted tickets only</a:t>
                      </a:r>
                    </a:p>
                  </a:txBody>
                  <a:tcPr anchor="ctr">
                    <a:solidFill>
                      <a:srgbClr val="182234"/>
                    </a:solidFill>
                  </a:tcPr>
                </a:tc>
                <a:tc>
                  <a:txBody>
                    <a:bodyPr/>
                    <a:lstStyle/>
                    <a:p>
                      <a:pPr algn="l">
                        <a:defRPr sz="950">
                          <a:solidFill>
                            <a:srgbClr val="94A3B8"/>
                          </a:solidFill>
                          <a:latin typeface="Calibri"/>
                        </a:defRPr>
                      </a:pPr>
                      <a:r>
                        <a:t>Hidden (Blocked)</a:t>
                      </a:r>
                    </a:p>
                  </a:txBody>
                  <a:tcPr anchor="ctr">
                    <a:solidFill>
                      <a:srgbClr val="182234"/>
                    </a:solidFill>
                  </a:tcPr>
                </a:tc>
                <a:tc>
                  <a:txBody>
                    <a:bodyPr/>
                    <a:lstStyle/>
                    <a:p>
                      <a:pPr algn="l">
                        <a:defRPr sz="950">
                          <a:solidFill>
                            <a:srgbClr val="94A3B8"/>
                          </a:solidFill>
                          <a:latin typeface="Calibri"/>
                        </a:defRPr>
                      </a:pPr>
                      <a:r>
                        <a:t>Self-service submission only</a:t>
                      </a:r>
                    </a:p>
                  </a:txBody>
                  <a:tcPr anchor="ctr">
                    <a:solidFill>
                      <a:srgbClr val="182234"/>
                    </a:solidFill>
                  </a:tcPr>
                </a:tc>
              </a:tr>
              <a:tr h="346165">
                <a:tc>
                  <a:txBody>
                    <a:bodyPr/>
                    <a:lstStyle/>
                    <a:p>
                      <a:pPr algn="l">
                        <a:defRPr sz="950">
                          <a:solidFill>
                            <a:srgbClr val="F8FAFC"/>
                          </a:solidFill>
                          <a:latin typeface="Calibri"/>
                        </a:defRPr>
                      </a:pPr>
                      <a:r>
                        <a:t>AGENT (Tech)</a:t>
                      </a:r>
                    </a:p>
                  </a:txBody>
                  <a:tcPr anchor="ctr">
                    <a:solidFill>
                      <a:srgbClr val="1E293B"/>
                    </a:solidFill>
                  </a:tcPr>
                </a:tc>
                <a:tc>
                  <a:txBody>
                    <a:bodyPr/>
                    <a:lstStyle/>
                    <a:p>
                      <a:pPr algn="l">
                        <a:defRPr sz="950">
                          <a:solidFill>
                            <a:srgbClr val="94A3B8"/>
                          </a:solidFill>
                          <a:latin typeface="Calibri"/>
                        </a:defRPr>
                      </a:pPr>
                      <a:r>
                        <a:t>Technical Support</a:t>
                      </a:r>
                    </a:p>
                  </a:txBody>
                  <a:tcPr anchor="ctr">
                    <a:solidFill>
                      <a:srgbClr val="1E293B"/>
                    </a:solidFill>
                  </a:tcPr>
                </a:tc>
                <a:tc>
                  <a:txBody>
                    <a:bodyPr/>
                    <a:lstStyle/>
                    <a:p>
                      <a:pPr algn="l">
                        <a:defRPr sz="950">
                          <a:solidFill>
                            <a:srgbClr val="94A3B8"/>
                          </a:solidFill>
                          <a:latin typeface="Calibri"/>
                        </a:defRPr>
                      </a:pPr>
                      <a:r>
                        <a:t>Tech Support queue + Unassigned</a:t>
                      </a:r>
                    </a:p>
                  </a:txBody>
                  <a:tcPr anchor="ctr">
                    <a:solidFill>
                      <a:srgbClr val="1E293B"/>
                    </a:solidFill>
                  </a:tcPr>
                </a:tc>
                <a:tc>
                  <a:txBody>
                    <a:bodyPr/>
                    <a:lstStyle/>
                    <a:p>
                      <a:pPr algn="l">
                        <a:defRPr sz="950">
                          <a:solidFill>
                            <a:srgbClr val="94A3B8"/>
                          </a:solidFill>
                          <a:latin typeface="Calibri"/>
                        </a:defRPr>
                      </a:pPr>
                      <a:r>
                        <a:t>Read &amp; Write</a:t>
                      </a:r>
                    </a:p>
                  </a:txBody>
                  <a:tcPr anchor="ctr">
                    <a:solidFill>
                      <a:srgbClr val="1E293B"/>
                    </a:solidFill>
                  </a:tcPr>
                </a:tc>
                <a:tc>
                  <a:txBody>
                    <a:bodyPr/>
                    <a:lstStyle/>
                    <a:p>
                      <a:pPr algn="l">
                        <a:defRPr sz="950">
                          <a:solidFill>
                            <a:srgbClr val="94A3B8"/>
                          </a:solidFill>
                          <a:latin typeface="Calibri"/>
                        </a:defRPr>
                      </a:pPr>
                      <a:r>
                        <a:t>Checklist toggle, Tone Polish, Forwarding</a:t>
                      </a:r>
                    </a:p>
                  </a:txBody>
                  <a:tcPr anchor="ctr">
                    <a:solidFill>
                      <a:srgbClr val="1E293B"/>
                    </a:solidFill>
                  </a:tcPr>
                </a:tc>
              </a:tr>
              <a:tr h="346165">
                <a:tc>
                  <a:txBody>
                    <a:bodyPr/>
                    <a:lstStyle/>
                    <a:p>
                      <a:pPr algn="l">
                        <a:defRPr sz="950">
                          <a:solidFill>
                            <a:srgbClr val="F8FAFC"/>
                          </a:solidFill>
                          <a:latin typeface="Calibri"/>
                        </a:defRPr>
                      </a:pPr>
                      <a:r>
                        <a:t>AGENT (Billing)</a:t>
                      </a:r>
                    </a:p>
                  </a:txBody>
                  <a:tcPr anchor="ctr">
                    <a:solidFill>
                      <a:srgbClr val="182234"/>
                    </a:solidFill>
                  </a:tcPr>
                </a:tc>
                <a:tc>
                  <a:txBody>
                    <a:bodyPr/>
                    <a:lstStyle/>
                    <a:p>
                      <a:pPr algn="l">
                        <a:defRPr sz="950">
                          <a:solidFill>
                            <a:srgbClr val="94A3B8"/>
                          </a:solidFill>
                          <a:latin typeface="Calibri"/>
                        </a:defRPr>
                      </a:pPr>
                      <a:r>
                        <a:t>Finance &amp; Billing</a:t>
                      </a:r>
                    </a:p>
                  </a:txBody>
                  <a:tcPr anchor="ctr">
                    <a:solidFill>
                      <a:srgbClr val="182234"/>
                    </a:solidFill>
                  </a:tcPr>
                </a:tc>
                <a:tc>
                  <a:txBody>
                    <a:bodyPr/>
                    <a:lstStyle/>
                    <a:p>
                      <a:pPr algn="l">
                        <a:defRPr sz="950">
                          <a:solidFill>
                            <a:srgbClr val="94A3B8"/>
                          </a:solidFill>
                          <a:latin typeface="Calibri"/>
                        </a:defRPr>
                      </a:pPr>
                      <a:r>
                        <a:t>Billing &amp; Invoices queue</a:t>
                      </a:r>
                    </a:p>
                  </a:txBody>
                  <a:tcPr anchor="ctr">
                    <a:solidFill>
                      <a:srgbClr val="182234"/>
                    </a:solidFill>
                  </a:tcPr>
                </a:tc>
                <a:tc>
                  <a:txBody>
                    <a:bodyPr/>
                    <a:lstStyle/>
                    <a:p>
                      <a:pPr algn="l">
                        <a:defRPr sz="950">
                          <a:solidFill>
                            <a:srgbClr val="94A3B8"/>
                          </a:solidFill>
                          <a:latin typeface="Calibri"/>
                        </a:defRPr>
                      </a:pPr>
                      <a:r>
                        <a:t>Read &amp; Write</a:t>
                      </a:r>
                    </a:p>
                  </a:txBody>
                  <a:tcPr anchor="ctr">
                    <a:solidFill>
                      <a:srgbClr val="182234"/>
                    </a:solidFill>
                  </a:tcPr>
                </a:tc>
                <a:tc>
                  <a:txBody>
                    <a:bodyPr/>
                    <a:lstStyle/>
                    <a:p>
                      <a:pPr algn="l">
                        <a:defRPr sz="950">
                          <a:solidFill>
                            <a:srgbClr val="94A3B8"/>
                          </a:solidFill>
                          <a:latin typeface="Calibri"/>
                        </a:defRPr>
                      </a:pPr>
                      <a:r>
                        <a:t>Checklist toggle, Tone Polish, Forwarding</a:t>
                      </a:r>
                    </a:p>
                  </a:txBody>
                  <a:tcPr anchor="ctr">
                    <a:solidFill>
                      <a:srgbClr val="182234"/>
                    </a:solidFill>
                  </a:tcPr>
                </a:tc>
              </a:tr>
              <a:tr h="346165">
                <a:tc>
                  <a:txBody>
                    <a:bodyPr/>
                    <a:lstStyle/>
                    <a:p>
                      <a:pPr algn="l">
                        <a:defRPr sz="950">
                          <a:solidFill>
                            <a:srgbClr val="F8FAFC"/>
                          </a:solidFill>
                          <a:latin typeface="Calibri"/>
                        </a:defRPr>
                      </a:pPr>
                      <a:r>
                        <a:t>AGENT (Identity)</a:t>
                      </a:r>
                    </a:p>
                  </a:txBody>
                  <a:tcPr anchor="ctr">
                    <a:solidFill>
                      <a:srgbClr val="1E293B"/>
                    </a:solidFill>
                  </a:tcPr>
                </a:tc>
                <a:tc>
                  <a:txBody>
                    <a:bodyPr/>
                    <a:lstStyle/>
                    <a:p>
                      <a:pPr algn="l">
                        <a:defRPr sz="950">
                          <a:solidFill>
                            <a:srgbClr val="94A3B8"/>
                          </a:solidFill>
                          <a:latin typeface="Calibri"/>
                        </a:defRPr>
                      </a:pPr>
                      <a:r>
                        <a:t>Identity &amp; Access</a:t>
                      </a:r>
                    </a:p>
                  </a:txBody>
                  <a:tcPr anchor="ctr">
                    <a:solidFill>
                      <a:srgbClr val="1E293B"/>
                    </a:solidFill>
                  </a:tcPr>
                </a:tc>
                <a:tc>
                  <a:txBody>
                    <a:bodyPr/>
                    <a:lstStyle/>
                    <a:p>
                      <a:pPr algn="l">
                        <a:defRPr sz="950">
                          <a:solidFill>
                            <a:srgbClr val="94A3B8"/>
                          </a:solidFill>
                          <a:latin typeface="Calibri"/>
                        </a:defRPr>
                      </a:pPr>
                      <a:r>
                        <a:t>SSO, MFA &amp; Account Security</a:t>
                      </a:r>
                    </a:p>
                  </a:txBody>
                  <a:tcPr anchor="ctr">
                    <a:solidFill>
                      <a:srgbClr val="1E293B"/>
                    </a:solidFill>
                  </a:tcPr>
                </a:tc>
                <a:tc>
                  <a:txBody>
                    <a:bodyPr/>
                    <a:lstStyle/>
                    <a:p>
                      <a:pPr algn="l">
                        <a:defRPr sz="950">
                          <a:solidFill>
                            <a:srgbClr val="94A3B8"/>
                          </a:solidFill>
                          <a:latin typeface="Calibri"/>
                        </a:defRPr>
                      </a:pPr>
                      <a:r>
                        <a:t>Read &amp; Write</a:t>
                      </a:r>
                    </a:p>
                  </a:txBody>
                  <a:tcPr anchor="ctr">
                    <a:solidFill>
                      <a:srgbClr val="1E293B"/>
                    </a:solidFill>
                  </a:tcPr>
                </a:tc>
                <a:tc>
                  <a:txBody>
                    <a:bodyPr/>
                    <a:lstStyle/>
                    <a:p>
                      <a:pPr algn="l">
                        <a:defRPr sz="950">
                          <a:solidFill>
                            <a:srgbClr val="94A3B8"/>
                          </a:solidFill>
                          <a:latin typeface="Calibri"/>
                        </a:defRPr>
                      </a:pPr>
                      <a:r>
                        <a:t>Checklist toggle, Tone Polish, Forwarding</a:t>
                      </a:r>
                    </a:p>
                  </a:txBody>
                  <a:tcPr anchor="ctr">
                    <a:solidFill>
                      <a:srgbClr val="1E293B"/>
                    </a:solidFill>
                  </a:tcPr>
                </a:tc>
              </a:tr>
              <a:tr h="346165">
                <a:tc>
                  <a:txBody>
                    <a:bodyPr/>
                    <a:lstStyle/>
                    <a:p>
                      <a:pPr algn="l">
                        <a:defRPr sz="950">
                          <a:solidFill>
                            <a:srgbClr val="F8FAFC"/>
                          </a:solidFill>
                          <a:latin typeface="Calibri"/>
                        </a:defRPr>
                      </a:pPr>
                      <a:r>
                        <a:t>AGENT (API)</a:t>
                      </a:r>
                    </a:p>
                  </a:txBody>
                  <a:tcPr anchor="ctr">
                    <a:solidFill>
                      <a:srgbClr val="182234"/>
                    </a:solidFill>
                  </a:tcPr>
                </a:tc>
                <a:tc>
                  <a:txBody>
                    <a:bodyPr/>
                    <a:lstStyle/>
                    <a:p>
                      <a:pPr algn="l">
                        <a:defRPr sz="950">
                          <a:solidFill>
                            <a:srgbClr val="94A3B8"/>
                          </a:solidFill>
                          <a:latin typeface="Calibri"/>
                        </a:defRPr>
                      </a:pPr>
                      <a:r>
                        <a:t>API Platform Team</a:t>
                      </a:r>
                    </a:p>
                  </a:txBody>
                  <a:tcPr anchor="ctr">
                    <a:solidFill>
                      <a:srgbClr val="182234"/>
                    </a:solidFill>
                  </a:tcPr>
                </a:tc>
                <a:tc>
                  <a:txBody>
                    <a:bodyPr/>
                    <a:lstStyle/>
                    <a:p>
                      <a:pPr algn="l">
                        <a:defRPr sz="950">
                          <a:solidFill>
                            <a:srgbClr val="94A3B8"/>
                          </a:solidFill>
                          <a:latin typeface="Calibri"/>
                        </a:defRPr>
                      </a:pPr>
                      <a:r>
                        <a:t>Webhooks, SDKs &amp; Gateway errors</a:t>
                      </a:r>
                    </a:p>
                  </a:txBody>
                  <a:tcPr anchor="ctr">
                    <a:solidFill>
                      <a:srgbClr val="182234"/>
                    </a:solidFill>
                  </a:tcPr>
                </a:tc>
                <a:tc>
                  <a:txBody>
                    <a:bodyPr/>
                    <a:lstStyle/>
                    <a:p>
                      <a:pPr algn="l">
                        <a:defRPr sz="950">
                          <a:solidFill>
                            <a:srgbClr val="94A3B8"/>
                          </a:solidFill>
                          <a:latin typeface="Calibri"/>
                        </a:defRPr>
                      </a:pPr>
                      <a:r>
                        <a:t>Read &amp; Write</a:t>
                      </a:r>
                    </a:p>
                  </a:txBody>
                  <a:tcPr anchor="ctr">
                    <a:solidFill>
                      <a:srgbClr val="182234"/>
                    </a:solidFill>
                  </a:tcPr>
                </a:tc>
                <a:tc>
                  <a:txBody>
                    <a:bodyPr/>
                    <a:lstStyle/>
                    <a:p>
                      <a:pPr algn="l">
                        <a:defRPr sz="950">
                          <a:solidFill>
                            <a:srgbClr val="94A3B8"/>
                          </a:solidFill>
                          <a:latin typeface="Calibri"/>
                        </a:defRPr>
                      </a:pPr>
                      <a:r>
                        <a:t>Checklist toggle, Tone Polish, Forwarding</a:t>
                      </a:r>
                    </a:p>
                  </a:txBody>
                  <a:tcPr anchor="ctr">
                    <a:solidFill>
                      <a:srgbClr val="182234"/>
                    </a:solidFill>
                  </a:tcPr>
                </a:tc>
              </a:tr>
              <a:tr h="346170">
                <a:tc>
                  <a:txBody>
                    <a:bodyPr/>
                    <a:lstStyle/>
                    <a:p>
                      <a:pPr algn="l">
                        <a:defRPr sz="950">
                          <a:solidFill>
                            <a:srgbClr val="F8FAFC"/>
                          </a:solidFill>
                          <a:latin typeface="Calibri"/>
                        </a:defRPr>
                      </a:pPr>
                      <a:r>
                        <a:t>ADMIN</a:t>
                      </a:r>
                    </a:p>
                  </a:txBody>
                  <a:tcPr anchor="ctr">
                    <a:solidFill>
                      <a:srgbClr val="1E293B"/>
                    </a:solidFill>
                  </a:tcPr>
                </a:tc>
                <a:tc>
                  <a:txBody>
                    <a:bodyPr/>
                    <a:lstStyle/>
                    <a:p>
                      <a:pPr algn="l">
                        <a:defRPr sz="950">
                          <a:solidFill>
                            <a:srgbClr val="94A3B8"/>
                          </a:solidFill>
                          <a:latin typeface="Calibri"/>
                        </a:defRPr>
                      </a:pPr>
                      <a:r>
                        <a:t>IT Operations &amp; Admin</a:t>
                      </a:r>
                    </a:p>
                  </a:txBody>
                  <a:tcPr anchor="ctr">
                    <a:solidFill>
                      <a:srgbClr val="1E293B"/>
                    </a:solidFill>
                  </a:tcPr>
                </a:tc>
                <a:tc>
                  <a:txBody>
                    <a:bodyPr/>
                    <a:lstStyle/>
                    <a:p>
                      <a:pPr algn="l">
                        <a:defRPr sz="950">
                          <a:solidFill>
                            <a:srgbClr val="94A3B8"/>
                          </a:solidFill>
                          <a:latin typeface="Calibri"/>
                        </a:defRPr>
                      </a:pPr>
                      <a:r>
                        <a:t>Global access (All 4 Departments)</a:t>
                      </a:r>
                    </a:p>
                  </a:txBody>
                  <a:tcPr anchor="ctr">
                    <a:solidFill>
                      <a:srgbClr val="1E293B"/>
                    </a:solidFill>
                  </a:tcPr>
                </a:tc>
                <a:tc>
                  <a:txBody>
                    <a:bodyPr/>
                    <a:lstStyle/>
                    <a:p>
                      <a:pPr algn="l">
                        <a:defRPr sz="950">
                          <a:solidFill>
                            <a:srgbClr val="94A3B8"/>
                          </a:solidFill>
                          <a:latin typeface="Calibri"/>
                        </a:defRPr>
                      </a:pPr>
                      <a:r>
                        <a:t>Read &amp; Write</a:t>
                      </a:r>
                    </a:p>
                  </a:txBody>
                  <a:tcPr anchor="ctr">
                    <a:solidFill>
                      <a:srgbClr val="1E293B"/>
                    </a:solidFill>
                  </a:tcPr>
                </a:tc>
                <a:tc>
                  <a:txBody>
                    <a:bodyPr/>
                    <a:lstStyle/>
                    <a:p>
                      <a:pPr algn="l">
                        <a:defRPr sz="950">
                          <a:solidFill>
                            <a:srgbClr val="94A3B8"/>
                          </a:solidFill>
                          <a:latin typeface="Calibri"/>
                        </a:defRPr>
                      </a:pPr>
                      <a:r>
                        <a:t>User role updates, Weekly insights, System logs</a:t>
                      </a:r>
                    </a:p>
                  </a:txBody>
                  <a:tcPr anchor="ctr">
                    <a:solidFill>
                      <a:srgbClr val="1E293B"/>
                    </a:solidFill>
                  </a:tcPr>
                </a:tc>
              </a:tr>
            </a:tbl>
          </a:graphicData>
        </a:graphic>
      </p:graphicFrame>
      <p:sp>
        <p:nvSpPr>
          <p:cNvPr id="11" name="Rounded Rectangle 10"/>
          <p:cNvSpPr/>
          <p:nvPr/>
        </p:nvSpPr>
        <p:spPr>
          <a:xfrm>
            <a:off x="731520" y="4343400"/>
            <a:ext cx="10728655"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507992"/>
            <a:ext cx="10326319" cy="320040"/>
          </a:xfrm>
          <a:prstGeom prst="rect">
            <a:avLst/>
          </a:prstGeom>
          <a:noFill/>
        </p:spPr>
        <p:txBody>
          <a:bodyPr wrap="square" lIns="0" tIns="0" rIns="0" bIns="0">
            <a:spAutoFit/>
          </a:bodyPr>
          <a:lstStyle/>
          <a:p>
            <a:pPr>
              <a:defRPr sz="1200" b="1">
                <a:solidFill>
                  <a:srgbClr val="F8FAFC"/>
                </a:solidFill>
                <a:latin typeface="Calibri"/>
              </a:defRPr>
            </a:pPr>
            <a:r>
              <a:t>1-Click Persona Testing Bar: Instant Client Demonstrations</a:t>
            </a:r>
          </a:p>
          <a:p>
            <a:pPr>
              <a:defRPr sz="919">
                <a:solidFill>
                  <a:srgbClr val="94A3B8"/>
                </a:solidFill>
                <a:latin typeface="Calibri"/>
              </a:defRPr>
            </a:pPr>
            <a:r>
              <a:t>SSAI-203 Zero-friction evaluation framework</a:t>
            </a:r>
          </a:p>
        </p:txBody>
      </p:sp>
      <p:sp>
        <p:nvSpPr>
          <p:cNvPr id="13" name="TextBox 12"/>
          <p:cNvSpPr txBox="1"/>
          <p:nvPr/>
        </p:nvSpPr>
        <p:spPr>
          <a:xfrm>
            <a:off x="914400" y="4892040"/>
            <a:ext cx="10332720" cy="1143000"/>
          </a:xfrm>
          <a:prstGeom prst="rect">
            <a:avLst/>
          </a:prstGeom>
          <a:noFill/>
        </p:spPr>
        <p:txBody>
          <a:bodyPr wrap="square" lIns="0" tIns="0" rIns="0" bIns="0">
            <a:spAutoFit/>
          </a:bodyPr>
          <a:lstStyle/>
          <a:p>
            <a:pPr>
              <a:spcBef>
                <a:spcPts val="400"/>
              </a:spcBef>
            </a:pPr>
            <a:r>
              <a:rPr sz="1000" b="1">
                <a:solidFill>
                  <a:srgbClr val="F8FAFC"/>
                </a:solidFill>
                <a:latin typeface="Calibri"/>
              </a:rPr>
              <a:t>•  Pre-Seeded Multi-Department Accounts: </a:t>
            </a:r>
            <a:r>
              <a:rPr sz="1000">
                <a:solidFill>
                  <a:srgbClr val="94A3B8"/>
                </a:solidFill>
                <a:latin typeface="Calibri"/>
              </a:rPr>
              <a:t>Includes Sarah (Customer), Alex (Tech Lead), Elena (Billing), Marcus (Security), Liam (API), and Administrator.</a:t>
            </a:r>
          </a:p>
          <a:p>
            <a:pPr>
              <a:spcBef>
                <a:spcPts val="400"/>
              </a:spcBef>
            </a:pPr>
            <a:r>
              <a:rPr sz="1000" b="1">
                <a:solidFill>
                  <a:srgbClr val="F8FAFC"/>
                </a:solidFill>
                <a:latin typeface="Calibri"/>
              </a:rPr>
              <a:t>•  Universal Demo Credential: </a:t>
            </a:r>
            <a:r>
              <a:rPr sz="1000">
                <a:solidFill>
                  <a:srgbClr val="94A3B8"/>
                </a:solidFill>
                <a:latin typeface="Calibri"/>
              </a:rPr>
              <a:t>All demo accounts share the password 'Password123!', pre-populated in database seeds (001_seed_data.sql).</a:t>
            </a:r>
          </a:p>
          <a:p>
            <a:pPr>
              <a:spcBef>
                <a:spcPts val="400"/>
              </a:spcBef>
            </a:pPr>
            <a:r>
              <a:rPr sz="1000" b="1">
                <a:solidFill>
                  <a:srgbClr val="F8FAFC"/>
                </a:solidFill>
                <a:latin typeface="Calibri"/>
              </a:rPr>
              <a:t>•  Instant Role Switcher: </a:t>
            </a:r>
            <a:r>
              <a:rPr sz="1000">
                <a:solidFill>
                  <a:srgbClr val="94A3B8"/>
                </a:solidFill>
                <a:latin typeface="Calibri"/>
              </a:rPr>
              <a:t>Clicking any persona button automatically logs in as that user and re-renders the UI with that role's exact permissions.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CUSTOMER EXPERIENCE &amp; AI</a:t>
            </a:r>
          </a:p>
        </p:txBody>
      </p:sp>
      <p:sp>
        <p:nvSpPr>
          <p:cNvPr id="4" name="Rounded Rectangle 3"/>
          <p:cNvSpPr/>
          <p:nvPr/>
        </p:nvSpPr>
        <p:spPr>
          <a:xfrm>
            <a:off x="7315200" y="347472"/>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(23CO76)</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Conversational AI Concierge &amp; Duplicate Interception</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Transforming natural conversational input into formal enterprise ticket specifications.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13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25780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F8FAFC"/>
                </a:solidFill>
                <a:latin typeface="Calibri"/>
              </a:defRPr>
            </a:pPr>
            <a:r>
              <a:t>1. Conversational AI Concierge Widget</a:t>
            </a:r>
          </a:p>
          <a:p>
            <a:pPr>
              <a:defRPr sz="919">
                <a:solidFill>
                  <a:srgbClr val="94A3B8"/>
                </a:solidFill>
                <a:latin typeface="Calibri"/>
              </a:defRPr>
            </a:pPr>
            <a:r>
              <a:t>SSAI-406 Natural language ticket crafter</a:t>
            </a:r>
          </a:p>
        </p:txBody>
      </p:sp>
      <p:sp>
        <p:nvSpPr>
          <p:cNvPr id="12" name="Rounded Rectangle 11"/>
          <p:cNvSpPr/>
          <p:nvPr/>
        </p:nvSpPr>
        <p:spPr>
          <a:xfrm>
            <a:off x="832103" y="2249424"/>
            <a:ext cx="5056632" cy="276148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_concierge_live.png"/>
          <p:cNvPicPr>
            <a:picLocks noChangeAspect="1"/>
          </p:cNvPicPr>
          <p:nvPr/>
        </p:nvPicPr>
        <p:blipFill>
          <a:blip r:embed="rId2"/>
          <a:stretch>
            <a:fillRect/>
          </a:stretch>
        </p:blipFill>
        <p:spPr>
          <a:xfrm>
            <a:off x="868680" y="2286000"/>
            <a:ext cx="4983480" cy="2468880"/>
          </a:xfrm>
          <a:prstGeom prst="rect">
            <a:avLst/>
          </a:prstGeom>
        </p:spPr>
      </p:pic>
      <p:sp>
        <p:nvSpPr>
          <p:cNvPr id="14" name="TextBox 13"/>
          <p:cNvSpPr txBox="1"/>
          <p:nvPr/>
        </p:nvSpPr>
        <p:spPr>
          <a:xfrm>
            <a:off x="868680" y="477316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Conversational AI Concierge Chatbot actively answering inquiry</a:t>
            </a:r>
          </a:p>
        </p:txBody>
      </p:sp>
      <p:sp>
        <p:nvSpPr>
          <p:cNvPr id="15" name="TextBox 14"/>
          <p:cNvSpPr txBox="1"/>
          <p:nvPr/>
        </p:nvSpPr>
        <p:spPr>
          <a:xfrm>
            <a:off x="91440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Conversational Intake: </a:t>
            </a:r>
            <a:r>
              <a:rPr sz="950">
                <a:solidFill>
                  <a:srgbClr val="94A3B8"/>
                </a:solidFill>
                <a:latin typeface="Calibri"/>
              </a:rPr>
              <a:t>Users describe issues casually; AI conducts empathetic clarification dialogue.</a:t>
            </a:r>
          </a:p>
          <a:p>
            <a:pPr>
              <a:spcBef>
                <a:spcPts val="200"/>
              </a:spcBef>
            </a:pPr>
            <a:r>
              <a:rPr sz="950" b="1">
                <a:solidFill>
                  <a:srgbClr val="F8FAFC"/>
                </a:solidFill>
                <a:latin typeface="Calibri"/>
              </a:rPr>
              <a:t>•  1-Click Ticket Dispatch: </a:t>
            </a:r>
            <a:r>
              <a:rPr sz="950">
                <a:solidFill>
                  <a:srgbClr val="94A3B8"/>
                </a:solidFill>
                <a:latin typeface="Calibri"/>
              </a:rPr>
              <a:t>Compiles formal specs (Summary, Symptoms, Impact) into atomic DB queue.</a:t>
            </a:r>
          </a:p>
        </p:txBody>
      </p:sp>
      <p:sp>
        <p:nvSpPr>
          <p:cNvPr id="16" name="Rounded Rectangle 15"/>
          <p:cNvSpPr/>
          <p:nvPr/>
        </p:nvSpPr>
        <p:spPr>
          <a:xfrm>
            <a:off x="6172200" y="1691640"/>
            <a:ext cx="5257800" cy="4480560"/>
          </a:xfrm>
          <a:prstGeom prst="roundRect">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856232"/>
            <a:ext cx="4855464" cy="320040"/>
          </a:xfrm>
          <a:prstGeom prst="rect">
            <a:avLst/>
          </a:prstGeom>
          <a:noFill/>
        </p:spPr>
        <p:txBody>
          <a:bodyPr wrap="square" lIns="0" tIns="0" rIns="0" bIns="0">
            <a:spAutoFit/>
          </a:bodyPr>
          <a:lstStyle/>
          <a:p>
            <a:pPr>
              <a:defRPr sz="1200" b="1">
                <a:solidFill>
                  <a:srgbClr val="F8FAFC"/>
                </a:solidFill>
                <a:latin typeface="Calibri"/>
              </a:defRPr>
            </a:pPr>
            <a:r>
              <a:t>2. Duplicate Ticket Interception (HTTP 409)</a:t>
            </a:r>
          </a:p>
          <a:p>
            <a:pPr>
              <a:defRPr sz="919">
                <a:solidFill>
                  <a:srgbClr val="94A3B8"/>
                </a:solidFill>
                <a:latin typeface="Calibri"/>
              </a:defRPr>
            </a:pPr>
            <a:r>
              <a:t>SSAI-409 Intercepting duplicates with past verified notes</a:t>
            </a:r>
          </a:p>
        </p:txBody>
      </p:sp>
      <p:sp>
        <p:nvSpPr>
          <p:cNvPr id="18" name="Rounded Rectangle 17"/>
          <p:cNvSpPr/>
          <p:nvPr/>
        </p:nvSpPr>
        <p:spPr>
          <a:xfrm>
            <a:off x="6272784" y="2249424"/>
            <a:ext cx="5056632" cy="276148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billing_ticket_live.png"/>
          <p:cNvPicPr>
            <a:picLocks noChangeAspect="1"/>
          </p:cNvPicPr>
          <p:nvPr/>
        </p:nvPicPr>
        <p:blipFill>
          <a:blip r:embed="rId3"/>
          <a:stretch>
            <a:fillRect/>
          </a:stretch>
        </p:blipFill>
        <p:spPr>
          <a:xfrm>
            <a:off x="6309360" y="2286000"/>
            <a:ext cx="4983480" cy="2468880"/>
          </a:xfrm>
          <a:prstGeom prst="rect">
            <a:avLst/>
          </a:prstGeom>
        </p:spPr>
      </p:pic>
      <p:sp>
        <p:nvSpPr>
          <p:cNvPr id="20" name="TextBox 19"/>
          <p:cNvSpPr txBox="1"/>
          <p:nvPr/>
        </p:nvSpPr>
        <p:spPr>
          <a:xfrm>
            <a:off x="6309360" y="477316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Verified Resolution Notes presented upon duplicate ticket match</a:t>
            </a:r>
          </a:p>
        </p:txBody>
      </p:sp>
      <p:sp>
        <p:nvSpPr>
          <p:cNvPr id="21" name="TextBox 20"/>
          <p:cNvSpPr txBox="1"/>
          <p:nvPr/>
        </p:nvSpPr>
        <p:spPr>
          <a:xfrm>
            <a:off x="635508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Proactive Past Resolution Match: </a:t>
            </a:r>
            <a:r>
              <a:rPr sz="950">
                <a:solidFill>
                  <a:srgbClr val="94A3B8"/>
                </a:solidFill>
                <a:latin typeface="Calibri"/>
              </a:rPr>
              <a:t>Returns HTTP 409 with verified past resolution steps before creating duplicates.</a:t>
            </a:r>
          </a:p>
          <a:p>
            <a:pPr>
              <a:spcBef>
                <a:spcPts val="200"/>
              </a:spcBef>
            </a:pPr>
            <a:r>
              <a:rPr sz="950" b="1">
                <a:solidFill>
                  <a:srgbClr val="F8FAFC"/>
                </a:solidFill>
                <a:latin typeface="Calibri"/>
              </a:rPr>
              <a:t>•  Same-User Thread Linking: </a:t>
            </a:r>
            <a:r>
              <a:rPr sz="950">
                <a:solidFill>
                  <a:srgbClr val="94A3B8"/>
                </a:solidFill>
                <a:latin typeface="Calibri"/>
              </a:rPr>
              <a:t>Follow-ups automatically attach to existing active threads (linked_ticket_id).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OPERATIONS &amp; ANALYTICS</a:t>
            </a:r>
          </a:p>
        </p:txBody>
      </p:sp>
      <p:sp>
        <p:nvSpPr>
          <p:cNvPr id="4" name="Rounded Rectangle 3"/>
          <p:cNvSpPr/>
          <p:nvPr/>
        </p:nvSpPr>
        <p:spPr>
          <a:xfrm>
            <a:off x="7315200" y="347472"/>
            <a:ext cx="4114800" cy="29260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  Backend &amp; Database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Executive Operations Dashboard &amp; Live Ticket Queue</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Admin command center powered by real-time KPI metrics and PostgreSQL-backed queue management.</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14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257800"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F8FAFC"/>
                </a:solidFill>
                <a:latin typeface="Calibri"/>
              </a:defRPr>
            </a:pPr>
            <a:r>
              <a:t>Executive KPI Operations Dashboard</a:t>
            </a:r>
          </a:p>
          <a:p>
            <a:pPr>
              <a:defRPr sz="919">
                <a:solidFill>
                  <a:srgbClr val="94A3B8"/>
                </a:solidFill>
                <a:latin typeface="Calibri"/>
              </a:defRPr>
            </a:pPr>
            <a:r>
              <a:t>Live status breakdown donuts &amp; priority distribution</a:t>
            </a:r>
          </a:p>
        </p:txBody>
      </p:sp>
      <p:sp>
        <p:nvSpPr>
          <p:cNvPr id="12" name="Rounded Rectangle 11"/>
          <p:cNvSpPr/>
          <p:nvPr/>
        </p:nvSpPr>
        <p:spPr>
          <a:xfrm>
            <a:off x="832103" y="2249424"/>
            <a:ext cx="5056632" cy="276148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shboard_live.png"/>
          <p:cNvPicPr>
            <a:picLocks noChangeAspect="1"/>
          </p:cNvPicPr>
          <p:nvPr/>
        </p:nvPicPr>
        <p:blipFill>
          <a:blip r:embed="rId2"/>
          <a:stretch>
            <a:fillRect/>
          </a:stretch>
        </p:blipFill>
        <p:spPr>
          <a:xfrm>
            <a:off x="868680" y="2286000"/>
            <a:ext cx="4983480" cy="2468880"/>
          </a:xfrm>
          <a:prstGeom prst="rect">
            <a:avLst/>
          </a:prstGeom>
        </p:spPr>
      </p:pic>
      <p:sp>
        <p:nvSpPr>
          <p:cNvPr id="14" name="TextBox 13"/>
          <p:cNvSpPr txBox="1"/>
          <p:nvPr/>
        </p:nvSpPr>
        <p:spPr>
          <a:xfrm>
            <a:off x="868680" y="477316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Executive Operations Dashboard on Render (DashboardPage.jsx)</a:t>
            </a:r>
          </a:p>
        </p:txBody>
      </p:sp>
      <p:sp>
        <p:nvSpPr>
          <p:cNvPr id="15" name="TextBox 14"/>
          <p:cNvSpPr txBox="1"/>
          <p:nvPr/>
        </p:nvSpPr>
        <p:spPr>
          <a:xfrm>
            <a:off x="91440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Real-Time KPI Cards: </a:t>
            </a:r>
            <a:r>
              <a:rPr sz="950">
                <a:solidFill>
                  <a:srgbClr val="94A3B8"/>
                </a:solidFill>
                <a:latin typeface="Calibri"/>
              </a:rPr>
              <a:t>Tracks Total Tickets, High Priority, Open, and Pending tickets instantly.</a:t>
            </a:r>
          </a:p>
          <a:p>
            <a:pPr>
              <a:spcBef>
                <a:spcPts val="200"/>
              </a:spcBef>
            </a:pPr>
            <a:r>
              <a:rPr sz="950" b="1">
                <a:solidFill>
                  <a:srgbClr val="F8FAFC"/>
                </a:solidFill>
                <a:latin typeface="Calibri"/>
              </a:rPr>
              <a:t>•  SLA Health Monitoring: </a:t>
            </a:r>
            <a:r>
              <a:rPr sz="950">
                <a:solidFill>
                  <a:srgbClr val="94A3B8"/>
                </a:solidFill>
                <a:latin typeface="Calibri"/>
              </a:rPr>
              <a:t>98.4% SLA compliance rate across all 4 department queues.</a:t>
            </a:r>
          </a:p>
        </p:txBody>
      </p:sp>
      <p:sp>
        <p:nvSpPr>
          <p:cNvPr id="16" name="Rounded Rectangle 15"/>
          <p:cNvSpPr/>
          <p:nvPr/>
        </p:nvSpPr>
        <p:spPr>
          <a:xfrm>
            <a:off x="6172200" y="1691640"/>
            <a:ext cx="5257800" cy="4480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856232"/>
            <a:ext cx="4855464" cy="320040"/>
          </a:xfrm>
          <a:prstGeom prst="rect">
            <a:avLst/>
          </a:prstGeom>
          <a:noFill/>
        </p:spPr>
        <p:txBody>
          <a:bodyPr wrap="square" lIns="0" tIns="0" rIns="0" bIns="0">
            <a:spAutoFit/>
          </a:bodyPr>
          <a:lstStyle/>
          <a:p>
            <a:pPr>
              <a:defRPr sz="1200" b="1">
                <a:solidFill>
                  <a:srgbClr val="F8FAFC"/>
                </a:solidFill>
                <a:latin typeface="Calibri"/>
              </a:defRPr>
            </a:pPr>
            <a:r>
              <a:t>Live Ticket Queue Table &amp; Multi-Filtering</a:t>
            </a:r>
          </a:p>
          <a:p>
            <a:pPr>
              <a:defRPr sz="919">
                <a:solidFill>
                  <a:srgbClr val="94A3B8"/>
                </a:solidFill>
                <a:latin typeface="Calibri"/>
              </a:defRPr>
            </a:pPr>
            <a:r>
              <a:t>Real-time query execution with compound B-tree indexes</a:t>
            </a:r>
          </a:p>
        </p:txBody>
      </p:sp>
      <p:sp>
        <p:nvSpPr>
          <p:cNvPr id="18" name="Rounded Rectangle 17"/>
          <p:cNvSpPr/>
          <p:nvPr/>
        </p:nvSpPr>
        <p:spPr>
          <a:xfrm>
            <a:off x="6272784" y="2249424"/>
            <a:ext cx="5056632" cy="2761488"/>
          </a:xfrm>
          <a:prstGeom prst="roundRect">
            <a:avLst/>
          </a:prstGeom>
          <a:solidFill>
            <a:srgbClr val="18223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ickets_queue_live.png"/>
          <p:cNvPicPr>
            <a:picLocks noChangeAspect="1"/>
          </p:cNvPicPr>
          <p:nvPr/>
        </p:nvPicPr>
        <p:blipFill>
          <a:blip r:embed="rId3"/>
          <a:stretch>
            <a:fillRect/>
          </a:stretch>
        </p:blipFill>
        <p:spPr>
          <a:xfrm>
            <a:off x="6309360" y="2286000"/>
            <a:ext cx="4983480" cy="2468880"/>
          </a:xfrm>
          <a:prstGeom prst="rect">
            <a:avLst/>
          </a:prstGeom>
        </p:spPr>
      </p:pic>
      <p:sp>
        <p:nvSpPr>
          <p:cNvPr id="20" name="TextBox 19"/>
          <p:cNvSpPr txBox="1"/>
          <p:nvPr/>
        </p:nvSpPr>
        <p:spPr>
          <a:xfrm>
            <a:off x="6309360" y="477316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Ticket Queue with status pills &amp; priority filters (TicketsPage.jsx)</a:t>
            </a:r>
          </a:p>
        </p:txBody>
      </p:sp>
      <p:sp>
        <p:nvSpPr>
          <p:cNvPr id="21" name="TextBox 20"/>
          <p:cNvSpPr txBox="1"/>
          <p:nvPr/>
        </p:nvSpPr>
        <p:spPr>
          <a:xfrm>
            <a:off x="635508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Multi-Criteria Filtering: </a:t>
            </a:r>
            <a:r>
              <a:rPr sz="950">
                <a:solidFill>
                  <a:srgbClr val="94A3B8"/>
                </a:solidFill>
                <a:latin typeface="Calibri"/>
              </a:rPr>
              <a:t>Instant filtering across status, priority, department, and assigned agent.</a:t>
            </a:r>
          </a:p>
          <a:p>
            <a:pPr>
              <a:spcBef>
                <a:spcPts val="200"/>
              </a:spcBef>
            </a:pPr>
            <a:r>
              <a:rPr sz="950" b="1">
                <a:solidFill>
                  <a:srgbClr val="F8FAFC"/>
                </a:solidFill>
                <a:latin typeface="Calibri"/>
              </a:rPr>
              <a:t>•  Sub-50ms Query Performance: </a:t>
            </a:r>
            <a:r>
              <a:rPr sz="950">
                <a:solidFill>
                  <a:srgbClr val="94A3B8"/>
                </a:solidFill>
                <a:latin typeface="Calibri"/>
              </a:rPr>
              <a:t>Compound indexes (status, priority) guarantee instant table pagination.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TECHNICAL DEEP DIVE</a:t>
            </a:r>
          </a:p>
        </p:txBody>
      </p:sp>
      <p:sp>
        <p:nvSpPr>
          <p:cNvPr id="4" name="Rounded Rectangle 3"/>
          <p:cNvSpPr/>
          <p:nvPr/>
        </p:nvSpPr>
        <p:spPr>
          <a:xfrm>
            <a:off x="7315200" y="347472"/>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&amp; Yash Sanikop  |  Technical Transition</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Part 2: Backend Core, PostgreSQL, AI Microservice &amp; Cloud Ops</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Presented by Shrujan Mitbavkar (Backend &amp; DB Lead) &amp; Yash Sanikop (Frontend &amp; AI Lead)</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15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783080"/>
            <a:ext cx="5257800" cy="429768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47672"/>
            <a:ext cx="4855464" cy="320040"/>
          </a:xfrm>
          <a:prstGeom prst="rect">
            <a:avLst/>
          </a:prstGeom>
          <a:noFill/>
        </p:spPr>
        <p:txBody>
          <a:bodyPr wrap="square" lIns="0" tIns="0" rIns="0" bIns="0">
            <a:spAutoFit/>
          </a:bodyPr>
          <a:lstStyle/>
          <a:p>
            <a:pPr>
              <a:defRPr sz="1200" b="1">
                <a:solidFill>
                  <a:srgbClr val="F8FAFC"/>
                </a:solidFill>
                <a:latin typeface="Calibri"/>
              </a:defRPr>
            </a:pPr>
            <a:r>
              <a:t>Shrujan Mitbavkar — Backend &amp; DB Lead</a:t>
            </a:r>
          </a:p>
          <a:p>
            <a:pPr>
              <a:defRPr sz="919">
                <a:solidFill>
                  <a:srgbClr val="94A3B8"/>
                </a:solidFill>
                <a:latin typeface="Calibri"/>
              </a:defRPr>
            </a:pPr>
            <a:r>
              <a:t>Express REST Controllers, PostgreSQL &amp; Transactions</a:t>
            </a:r>
          </a:p>
        </p:txBody>
      </p:sp>
      <p:sp>
        <p:nvSpPr>
          <p:cNvPr id="12" name="TextBox 11"/>
          <p:cNvSpPr txBox="1"/>
          <p:nvPr/>
        </p:nvSpPr>
        <p:spPr>
          <a:xfrm>
            <a:off x="1005840" y="2468880"/>
            <a:ext cx="4709160" cy="3291840"/>
          </a:xfrm>
          <a:prstGeom prst="rect">
            <a:avLst/>
          </a:prstGeom>
          <a:noFill/>
        </p:spPr>
        <p:txBody>
          <a:bodyPr wrap="square" lIns="0" tIns="0" rIns="0" bIns="0">
            <a:spAutoFit/>
          </a:bodyPr>
          <a:lstStyle/>
          <a:p>
            <a:pPr>
              <a:spcBef>
                <a:spcPts val="700"/>
              </a:spcBef>
            </a:pPr>
            <a:r>
              <a:rPr sz="1050" b="1">
                <a:solidFill>
                  <a:srgbClr val="F8FAFC"/>
                </a:solidFill>
                <a:latin typeface="Calibri"/>
              </a:rPr>
              <a:t>•  Express REST Controllers: </a:t>
            </a:r>
            <a:r>
              <a:rPr sz="1050">
                <a:solidFill>
                  <a:srgbClr val="94A3B8"/>
                </a:solidFill>
                <a:latin typeface="Calibri"/>
              </a:rPr>
              <a:t>High-throughput API controllers managing ticket lifecycle, pagination, and filters.</a:t>
            </a:r>
          </a:p>
          <a:p>
            <a:pPr>
              <a:spcBef>
                <a:spcPts val="700"/>
              </a:spcBef>
            </a:pPr>
            <a:r>
              <a:rPr sz="1050" b="1">
                <a:solidFill>
                  <a:srgbClr val="F8FAFC"/>
                </a:solidFill>
                <a:latin typeface="Calibri"/>
              </a:rPr>
              <a:t>•  PostgreSQL Relational Schema: </a:t>
            </a:r>
            <a:r>
              <a:rPr sz="1050">
                <a:solidFill>
                  <a:srgbClr val="94A3B8"/>
                </a:solidFill>
                <a:latin typeface="Calibri"/>
              </a:rPr>
              <a:t>Third Normal Form (3NF) design across 6 normalized entities with B-tree indexing.</a:t>
            </a:r>
          </a:p>
          <a:p>
            <a:pPr>
              <a:spcBef>
                <a:spcPts val="700"/>
              </a:spcBef>
            </a:pPr>
            <a:r>
              <a:rPr sz="1050" b="1">
                <a:solidFill>
                  <a:srgbClr val="F8FAFC"/>
                </a:solidFill>
                <a:latin typeface="Calibri"/>
              </a:rPr>
              <a:t>•  Atomic Transactions (SCRUM-112): </a:t>
            </a:r>
            <a:r>
              <a:rPr sz="1050">
                <a:solidFill>
                  <a:srgbClr val="94A3B8"/>
                </a:solidFill>
                <a:latin typeface="Calibri"/>
              </a:rPr>
              <a:t>Guaranteed all-or-nothing rollback on ticket and initial message creation.</a:t>
            </a:r>
          </a:p>
          <a:p>
            <a:pPr>
              <a:spcBef>
                <a:spcPts val="700"/>
              </a:spcBef>
            </a:pPr>
            <a:r>
              <a:rPr sz="1050" b="1">
                <a:solidFill>
                  <a:srgbClr val="F8FAFC"/>
                </a:solidFill>
                <a:latin typeface="Calibri"/>
              </a:rPr>
              <a:t>•  Status State Machine (SCRUM-111): </a:t>
            </a:r>
            <a:r>
              <a:rPr sz="1050">
                <a:solidFill>
                  <a:srgbClr val="94A3B8"/>
                </a:solidFill>
                <a:latin typeface="Calibri"/>
              </a:rPr>
              <a:t>Strict lifecycle progression enforcing valid progression and rejecting illegal skips.</a:t>
            </a:r>
          </a:p>
          <a:p>
            <a:pPr>
              <a:spcBef>
                <a:spcPts val="700"/>
              </a:spcBef>
            </a:pPr>
            <a:r>
              <a:rPr sz="1050" b="1">
                <a:solidFill>
                  <a:srgbClr val="F8FAFC"/>
                </a:solidFill>
                <a:latin typeface="Calibri"/>
              </a:rPr>
              <a:t>•  Supabase Cloud Connection Pooling: </a:t>
            </a:r>
            <a:r>
              <a:rPr sz="1050">
                <a:solidFill>
                  <a:srgbClr val="94A3B8"/>
                </a:solidFill>
                <a:latin typeface="Calibri"/>
              </a:rPr>
              <a:t>Managed PgBouncer pool (max 20 clients) with SSL encryption and &lt; 50ms queries.</a:t>
            </a:r>
          </a:p>
        </p:txBody>
      </p:sp>
      <p:sp>
        <p:nvSpPr>
          <p:cNvPr id="13" name="Rounded Rectangle 12"/>
          <p:cNvSpPr/>
          <p:nvPr/>
        </p:nvSpPr>
        <p:spPr>
          <a:xfrm>
            <a:off x="6172200" y="1783080"/>
            <a:ext cx="5257800" cy="429768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47672"/>
            <a:ext cx="4855464" cy="320040"/>
          </a:xfrm>
          <a:prstGeom prst="rect">
            <a:avLst/>
          </a:prstGeom>
          <a:noFill/>
        </p:spPr>
        <p:txBody>
          <a:bodyPr wrap="square" lIns="0" tIns="0" rIns="0" bIns="0">
            <a:spAutoFit/>
          </a:bodyPr>
          <a:lstStyle/>
          <a:p>
            <a:pPr>
              <a:defRPr sz="1200" b="1">
                <a:solidFill>
                  <a:srgbClr val="F8FAFC"/>
                </a:solidFill>
                <a:latin typeface="Calibri"/>
              </a:defRPr>
            </a:pPr>
            <a:r>
              <a:t>Yash Sanikop — Frontend &amp; AI Lead</a:t>
            </a:r>
          </a:p>
          <a:p>
            <a:pPr>
              <a:defRPr sz="919">
                <a:solidFill>
                  <a:srgbClr val="94A3B8"/>
                </a:solidFill>
                <a:latin typeface="Calibri"/>
              </a:defRPr>
            </a:pPr>
            <a:r>
              <a:t>FastAPI Microservice, Gemini 1.5 Flash SDK &amp; Caching</a:t>
            </a:r>
          </a:p>
        </p:txBody>
      </p:sp>
      <p:sp>
        <p:nvSpPr>
          <p:cNvPr id="15" name="TextBox 14"/>
          <p:cNvSpPr txBox="1"/>
          <p:nvPr/>
        </p:nvSpPr>
        <p:spPr>
          <a:xfrm>
            <a:off x="6446520" y="2468880"/>
            <a:ext cx="4709160" cy="3291840"/>
          </a:xfrm>
          <a:prstGeom prst="rect">
            <a:avLst/>
          </a:prstGeom>
          <a:noFill/>
        </p:spPr>
        <p:txBody>
          <a:bodyPr wrap="square" lIns="0" tIns="0" rIns="0" bIns="0">
            <a:spAutoFit/>
          </a:bodyPr>
          <a:lstStyle/>
          <a:p>
            <a:pPr>
              <a:spcBef>
                <a:spcPts val="700"/>
              </a:spcBef>
            </a:pPr>
            <a:r>
              <a:rPr sz="1050" b="1">
                <a:solidFill>
                  <a:srgbClr val="F8FAFC"/>
                </a:solidFill>
                <a:latin typeface="Calibri"/>
              </a:rPr>
              <a:t>•  FastAPI AI Microservice: </a:t>
            </a:r>
            <a:r>
              <a:rPr sz="1050">
                <a:solidFill>
                  <a:srgbClr val="94A3B8"/>
                </a:solidFill>
                <a:latin typeface="Calibri"/>
              </a:rPr>
              <a:t>Google Gemini 1.5 Flash SDK integration with Pydantic v2 structured JSON validation.</a:t>
            </a:r>
          </a:p>
          <a:p>
            <a:pPr>
              <a:spcBef>
                <a:spcPts val="700"/>
              </a:spcBef>
            </a:pPr>
            <a:r>
              <a:rPr sz="1050" b="1">
                <a:solidFill>
                  <a:srgbClr val="F8FAFC"/>
                </a:solidFill>
                <a:latin typeface="Calibri"/>
              </a:rPr>
              <a:t>•  Model Instance Pooling: </a:t>
            </a:r>
            <a:r>
              <a:rPr sz="1050">
                <a:solidFill>
                  <a:srgbClr val="94A3B8"/>
                </a:solidFill>
                <a:latin typeface="Calibri"/>
              </a:rPr>
              <a:t>Pre-instantiates GenerativeModel instances eliminating garbage collection overhead.</a:t>
            </a:r>
          </a:p>
          <a:p>
            <a:pPr>
              <a:spcBef>
                <a:spcPts val="700"/>
              </a:spcBef>
            </a:pPr>
            <a:r>
              <a:rPr sz="1050" b="1">
                <a:solidFill>
                  <a:srgbClr val="F8FAFC"/>
                </a:solidFill>
                <a:latin typeface="Calibri"/>
              </a:rPr>
              <a:t>•  SHA-256 In-Memory TTL Caching: </a:t>
            </a:r>
            <a:r>
              <a:rPr sz="1050">
                <a:solidFill>
                  <a:srgbClr val="94A3B8"/>
                </a:solidFill>
                <a:latin typeface="Calibri"/>
              </a:rPr>
              <a:t>Caches identical ticket analyses, dropping repeated latency from 1,800ms to 12ms.</a:t>
            </a:r>
          </a:p>
          <a:p>
            <a:pPr>
              <a:spcBef>
                <a:spcPts val="700"/>
              </a:spcBef>
            </a:pPr>
            <a:r>
              <a:rPr sz="1050" b="1">
                <a:solidFill>
                  <a:srgbClr val="F8FAFC"/>
                </a:solidFill>
                <a:latin typeface="Calibri"/>
              </a:rPr>
              <a:t>•  Prompt Engineering Pipeline: </a:t>
            </a:r>
            <a:r>
              <a:rPr sz="1050">
                <a:solidFill>
                  <a:srgbClr val="94A3B8"/>
                </a:solidFill>
                <a:latin typeface="Calibri"/>
              </a:rPr>
              <a:t>Authored specialized ~40-line persona system prompts and anti-gaming urgency filters.</a:t>
            </a:r>
          </a:p>
          <a:p>
            <a:pPr>
              <a:spcBef>
                <a:spcPts val="700"/>
              </a:spcBef>
            </a:pPr>
            <a:r>
              <a:rPr sz="1050" b="1">
                <a:solidFill>
                  <a:srgbClr val="F8FAFC"/>
                </a:solidFill>
                <a:latin typeface="Calibri"/>
              </a:rPr>
              <a:t>•  Dataset Grounding &amp; Benchmarks: </a:t>
            </a:r>
            <a:r>
              <a:rPr sz="1050">
                <a:solidFill>
                  <a:srgbClr val="94A3B8"/>
                </a:solidFill>
                <a:latin typeface="Calibri"/>
              </a:rPr>
              <a:t>Calibrated against historical Kaggle and Hugging Face customer support corpora.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BACKEND ARCHITECTURE</a:t>
            </a:r>
          </a:p>
        </p:txBody>
      </p:sp>
      <p:sp>
        <p:nvSpPr>
          <p:cNvPr id="4" name="Rounded Rectangle 3"/>
          <p:cNvSpPr/>
          <p:nvPr/>
        </p:nvSpPr>
        <p:spPr>
          <a:xfrm>
            <a:off x="7315200" y="347472"/>
            <a:ext cx="4114800" cy="29260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  Backend &amp; Database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Core REST Engine: Express REST Controllers &amp; Architecture</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High-throughput API layer orchestrating business logic, security guards, and AI proxy routing.</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16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2514600" cy="14630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801368"/>
            <a:ext cx="2185416" cy="1243584"/>
          </a:xfrm>
          <a:prstGeom prst="rect">
            <a:avLst/>
          </a:prstGeom>
          <a:noFill/>
        </p:spPr>
        <p:txBody>
          <a:bodyPr wrap="square" lIns="0" tIns="0" rIns="0" bIns="0">
            <a:spAutoFit/>
          </a:bodyPr>
          <a:lstStyle/>
          <a:p>
            <a:pPr>
              <a:defRPr sz="2700" b="1">
                <a:solidFill>
                  <a:srgbClr val="10B981"/>
                </a:solidFill>
                <a:latin typeface="Calibri"/>
              </a:defRPr>
            </a:pPr>
            <a:r>
              <a:t>&lt; 200ms</a:t>
            </a:r>
          </a:p>
          <a:p>
            <a:pPr>
              <a:spcBef>
                <a:spcPts val="300"/>
              </a:spcBef>
              <a:defRPr sz="1150" b="1">
                <a:solidFill>
                  <a:srgbClr val="F8FAFC"/>
                </a:solidFill>
                <a:latin typeface="Calibri"/>
              </a:defRPr>
            </a:pPr>
            <a:r>
              <a:t>P95 REST Latency</a:t>
            </a:r>
          </a:p>
          <a:p>
            <a:pPr>
              <a:spcBef>
                <a:spcPts val="200"/>
              </a:spcBef>
              <a:defRPr sz="900">
                <a:solidFill>
                  <a:srgbClr val="94A3B8"/>
                </a:solidFill>
                <a:latin typeface="Calibri"/>
              </a:defRPr>
            </a:pPr>
            <a:r>
              <a:t>Standard CRUD endpoint response time under normal load</a:t>
            </a:r>
          </a:p>
        </p:txBody>
      </p:sp>
      <p:sp>
        <p:nvSpPr>
          <p:cNvPr id="12" name="Rounded Rectangle 11"/>
          <p:cNvSpPr/>
          <p:nvPr/>
        </p:nvSpPr>
        <p:spPr>
          <a:xfrm>
            <a:off x="3429000" y="1691640"/>
            <a:ext cx="2514600" cy="14630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801368"/>
            <a:ext cx="2185416" cy="1243584"/>
          </a:xfrm>
          <a:prstGeom prst="rect">
            <a:avLst/>
          </a:prstGeom>
          <a:noFill/>
        </p:spPr>
        <p:txBody>
          <a:bodyPr wrap="square" lIns="0" tIns="0" rIns="0" bIns="0">
            <a:spAutoFit/>
          </a:bodyPr>
          <a:lstStyle/>
          <a:p>
            <a:pPr>
              <a:defRPr sz="2700" b="1">
                <a:solidFill>
                  <a:srgbClr val="F59E0B"/>
                </a:solidFill>
                <a:latin typeface="Calibri"/>
              </a:defRPr>
            </a:pPr>
            <a:r>
              <a:t>5 Seconds</a:t>
            </a:r>
          </a:p>
          <a:p>
            <a:pPr>
              <a:spcBef>
                <a:spcPts val="300"/>
              </a:spcBef>
              <a:defRPr sz="1150" b="1">
                <a:solidFill>
                  <a:srgbClr val="F8FAFC"/>
                </a:solidFill>
                <a:latin typeface="Calibri"/>
              </a:defRPr>
            </a:pPr>
            <a:r>
              <a:t>Circuit Breaker Timeout</a:t>
            </a:r>
          </a:p>
          <a:p>
            <a:pPr>
              <a:spcBef>
                <a:spcPts val="200"/>
              </a:spcBef>
              <a:defRPr sz="900">
                <a:solidFill>
                  <a:srgbClr val="94A3B8"/>
                </a:solidFill>
                <a:latin typeface="Calibri"/>
              </a:defRPr>
            </a:pPr>
            <a:r>
              <a:t>AbortSignal.timeout(5000) prevents hung upstream AI requests</a:t>
            </a:r>
          </a:p>
        </p:txBody>
      </p:sp>
      <p:sp>
        <p:nvSpPr>
          <p:cNvPr id="14" name="Rounded Rectangle 13"/>
          <p:cNvSpPr/>
          <p:nvPr/>
        </p:nvSpPr>
        <p:spPr>
          <a:xfrm>
            <a:off x="6126480" y="1691640"/>
            <a:ext cx="2514600" cy="146304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801368"/>
            <a:ext cx="2185416" cy="1243584"/>
          </a:xfrm>
          <a:prstGeom prst="rect">
            <a:avLst/>
          </a:prstGeom>
          <a:noFill/>
        </p:spPr>
        <p:txBody>
          <a:bodyPr wrap="square" lIns="0" tIns="0" rIns="0" bIns="0">
            <a:spAutoFit/>
          </a:bodyPr>
          <a:lstStyle/>
          <a:p>
            <a:pPr>
              <a:defRPr sz="2700" b="1">
                <a:solidFill>
                  <a:srgbClr val="3B82F6"/>
                </a:solidFill>
                <a:latin typeface="Calibri"/>
              </a:defRPr>
            </a:pPr>
            <a:r>
              <a:t>100%</a:t>
            </a:r>
          </a:p>
          <a:p>
            <a:pPr>
              <a:spcBef>
                <a:spcPts val="300"/>
              </a:spcBef>
              <a:defRPr sz="1150" b="1">
                <a:solidFill>
                  <a:srgbClr val="F8FAFC"/>
                </a:solidFill>
                <a:latin typeface="Calibri"/>
              </a:defRPr>
            </a:pPr>
            <a:r>
              <a:t>Async Error Handling</a:t>
            </a:r>
          </a:p>
          <a:p>
            <a:pPr>
              <a:spcBef>
                <a:spcPts val="200"/>
              </a:spcBef>
              <a:defRPr sz="900">
                <a:solidFill>
                  <a:srgbClr val="94A3B8"/>
                </a:solidFill>
                <a:latin typeface="Calibri"/>
              </a:defRPr>
            </a:pPr>
            <a:r>
              <a:t>Centralized errorHandler middleware guarantees 0 unhandled crashes</a:t>
            </a:r>
          </a:p>
        </p:txBody>
      </p:sp>
      <p:sp>
        <p:nvSpPr>
          <p:cNvPr id="16" name="Rounded Rectangle 15"/>
          <p:cNvSpPr/>
          <p:nvPr/>
        </p:nvSpPr>
        <p:spPr>
          <a:xfrm>
            <a:off x="8823960" y="1691640"/>
            <a:ext cx="2514600" cy="14630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8552" y="1801368"/>
            <a:ext cx="2185416" cy="1243584"/>
          </a:xfrm>
          <a:prstGeom prst="rect">
            <a:avLst/>
          </a:prstGeom>
          <a:noFill/>
        </p:spPr>
        <p:txBody>
          <a:bodyPr wrap="square" lIns="0" tIns="0" rIns="0" bIns="0">
            <a:spAutoFit/>
          </a:bodyPr>
          <a:lstStyle/>
          <a:p>
            <a:pPr>
              <a:defRPr sz="2700" b="1">
                <a:solidFill>
                  <a:srgbClr val="38BDF8"/>
                </a:solidFill>
                <a:latin typeface="Calibri"/>
              </a:defRPr>
            </a:pPr>
            <a:r>
              <a:t>10/10</a:t>
            </a:r>
          </a:p>
          <a:p>
            <a:pPr>
              <a:spcBef>
                <a:spcPts val="300"/>
              </a:spcBef>
              <a:defRPr sz="1150" b="1">
                <a:solidFill>
                  <a:srgbClr val="F8FAFC"/>
                </a:solidFill>
                <a:latin typeface="Calibri"/>
              </a:defRPr>
            </a:pPr>
            <a:r>
              <a:t>Jest Integration Specs</a:t>
            </a:r>
          </a:p>
          <a:p>
            <a:pPr>
              <a:spcBef>
                <a:spcPts val="200"/>
              </a:spcBef>
              <a:defRPr sz="900">
                <a:solidFill>
                  <a:srgbClr val="94A3B8"/>
                </a:solidFill>
                <a:latin typeface="Calibri"/>
              </a:defRPr>
            </a:pPr>
            <a:r>
              <a:t>100% pass rate across authentication and ticket routing suites</a:t>
            </a:r>
          </a:p>
        </p:txBody>
      </p:sp>
      <p:sp>
        <p:nvSpPr>
          <p:cNvPr id="18" name="Rounded Rectangle 17"/>
          <p:cNvSpPr/>
          <p:nvPr/>
        </p:nvSpPr>
        <p:spPr>
          <a:xfrm>
            <a:off x="731520" y="3383280"/>
            <a:ext cx="5029200" cy="28346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547872"/>
            <a:ext cx="4626864" cy="320040"/>
          </a:xfrm>
          <a:prstGeom prst="rect">
            <a:avLst/>
          </a:prstGeom>
          <a:noFill/>
        </p:spPr>
        <p:txBody>
          <a:bodyPr wrap="square" lIns="0" tIns="0" rIns="0" bIns="0">
            <a:spAutoFit/>
          </a:bodyPr>
          <a:lstStyle/>
          <a:p>
            <a:pPr>
              <a:defRPr sz="1200" b="1">
                <a:solidFill>
                  <a:srgbClr val="F8FAFC"/>
                </a:solidFill>
                <a:latin typeface="Calibri"/>
              </a:defRPr>
            </a:pPr>
            <a:r>
              <a:t>Express Controllers &amp; Decoupled AI Proxy</a:t>
            </a:r>
          </a:p>
          <a:p>
            <a:pPr>
              <a:defRPr sz="919">
                <a:solidFill>
                  <a:srgbClr val="94A3B8"/>
                </a:solidFill>
                <a:latin typeface="Calibri"/>
              </a:defRPr>
            </a:pPr>
            <a:r>
              <a:t>High-throughput ticket processing</a:t>
            </a:r>
          </a:p>
        </p:txBody>
      </p:sp>
      <p:sp>
        <p:nvSpPr>
          <p:cNvPr id="20" name="TextBox 19"/>
          <p:cNvSpPr txBox="1"/>
          <p:nvPr/>
        </p:nvSpPr>
        <p:spPr>
          <a:xfrm>
            <a:off x="914400" y="3977639"/>
            <a:ext cx="4663440" cy="2103120"/>
          </a:xfrm>
          <a:prstGeom prst="rect">
            <a:avLst/>
          </a:prstGeom>
          <a:noFill/>
        </p:spPr>
        <p:txBody>
          <a:bodyPr wrap="square" lIns="0" tIns="0" rIns="0" bIns="0">
            <a:spAutoFit/>
          </a:bodyPr>
          <a:lstStyle/>
          <a:p>
            <a:pPr>
              <a:spcBef>
                <a:spcPts val="300"/>
              </a:spcBef>
            </a:pPr>
            <a:r>
              <a:rPr sz="980" b="1">
                <a:solidFill>
                  <a:srgbClr val="F8FAFC"/>
                </a:solidFill>
                <a:latin typeface="Calibri"/>
              </a:rPr>
              <a:t>•  Internal AI Delegation: </a:t>
            </a:r>
            <a:r>
              <a:rPr sz="980">
                <a:solidFill>
                  <a:srgbClr val="94A3B8"/>
                </a:solidFill>
                <a:latin typeface="Calibri"/>
              </a:rPr>
              <a:t>Backend proxies triage and tone requests to FastAPI over internal HTTP with 5s timeout.</a:t>
            </a:r>
          </a:p>
          <a:p>
            <a:pPr>
              <a:spcBef>
                <a:spcPts val="300"/>
              </a:spcBef>
            </a:pPr>
            <a:r>
              <a:rPr sz="980" b="1">
                <a:solidFill>
                  <a:srgbClr val="F8FAFC"/>
                </a:solidFill>
                <a:latin typeface="Calibri"/>
              </a:rPr>
              <a:t>•  Fast-Fail Fallback Mode: </a:t>
            </a:r>
            <a:r>
              <a:rPr sz="980">
                <a:solidFill>
                  <a:srgbClr val="94A3B8"/>
                </a:solidFill>
                <a:latin typeface="Calibri"/>
              </a:rPr>
              <a:t>Returns deterministic fallback metadata if AI times out, preventing ticket workflow freezes.</a:t>
            </a:r>
          </a:p>
          <a:p>
            <a:pPr>
              <a:spcBef>
                <a:spcPts val="300"/>
              </a:spcBef>
            </a:pPr>
            <a:r>
              <a:rPr sz="980" b="1">
                <a:solidFill>
                  <a:srgbClr val="F8FAFC"/>
                </a:solidFill>
                <a:latin typeface="Calibri"/>
              </a:rPr>
              <a:t>•  Multi-Criteria Controller: </a:t>
            </a:r>
            <a:r>
              <a:rPr sz="980">
                <a:solidFill>
                  <a:srgbClr val="94A3B8"/>
                </a:solidFill>
                <a:latin typeface="Calibri"/>
              </a:rPr>
              <a:t>ticketController.js handles status/priority filtering, pagination, and assignment in &lt; 50ms.</a:t>
            </a:r>
          </a:p>
          <a:p>
            <a:pPr>
              <a:spcBef>
                <a:spcPts val="300"/>
              </a:spcBef>
            </a:pPr>
            <a:r>
              <a:rPr sz="980" b="1">
                <a:solidFill>
                  <a:srgbClr val="F8FAFC"/>
                </a:solidFill>
                <a:latin typeface="Calibri"/>
              </a:rPr>
              <a:t>•  Department Forwarding: </a:t>
            </a:r>
            <a:r>
              <a:rPr sz="980">
                <a:solidFill>
                  <a:srgbClr val="94A3B8"/>
                </a:solidFill>
                <a:latin typeface="Calibri"/>
              </a:rPr>
              <a:t>Enables inter-department ticket handoffs with auto-logged internal notes documenting reasons.</a:t>
            </a:r>
          </a:p>
        </p:txBody>
      </p:sp>
      <p:sp>
        <p:nvSpPr>
          <p:cNvPr id="21" name="Rounded Rectangle 20"/>
          <p:cNvSpPr/>
          <p:nvPr/>
        </p:nvSpPr>
        <p:spPr>
          <a:xfrm>
            <a:off x="5943600" y="3383280"/>
            <a:ext cx="5516575" cy="28346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44768" y="3547872"/>
            <a:ext cx="5114239" cy="320040"/>
          </a:xfrm>
          <a:prstGeom prst="rect">
            <a:avLst/>
          </a:prstGeom>
          <a:noFill/>
        </p:spPr>
        <p:txBody>
          <a:bodyPr wrap="square" lIns="0" tIns="0" rIns="0" bIns="0">
            <a:spAutoFit/>
          </a:bodyPr>
          <a:lstStyle/>
          <a:p>
            <a:pPr>
              <a:defRPr sz="1200" b="1">
                <a:solidFill>
                  <a:srgbClr val="F8FAFC"/>
                </a:solidFill>
                <a:latin typeface="Calibri"/>
              </a:defRPr>
            </a:pPr>
            <a:r>
              <a:t>Live Production: Express REST Ticket Feed</a:t>
            </a:r>
          </a:p>
          <a:p>
            <a:pPr>
              <a:defRPr sz="919">
                <a:solidFill>
                  <a:srgbClr val="94A3B8"/>
                </a:solidFill>
                <a:latin typeface="Calibri"/>
              </a:defRPr>
            </a:pPr>
            <a:r>
              <a:t>Real-time query execution from PostgreSQL (Render)</a:t>
            </a:r>
          </a:p>
        </p:txBody>
      </p:sp>
      <p:sp>
        <p:nvSpPr>
          <p:cNvPr id="23" name="Rounded Rectangle 22"/>
          <p:cNvSpPr/>
          <p:nvPr/>
        </p:nvSpPr>
        <p:spPr>
          <a:xfrm>
            <a:off x="6044184" y="3895344"/>
            <a:ext cx="5315407" cy="244144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ickets_queue_live.png"/>
          <p:cNvPicPr>
            <a:picLocks noChangeAspect="1"/>
          </p:cNvPicPr>
          <p:nvPr/>
        </p:nvPicPr>
        <p:blipFill>
          <a:blip r:embed="rId2"/>
          <a:stretch>
            <a:fillRect/>
          </a:stretch>
        </p:blipFill>
        <p:spPr>
          <a:xfrm>
            <a:off x="6080760" y="3931920"/>
            <a:ext cx="5242255" cy="2148840"/>
          </a:xfrm>
          <a:prstGeom prst="rect">
            <a:avLst/>
          </a:prstGeom>
        </p:spPr>
      </p:pic>
      <p:sp>
        <p:nvSpPr>
          <p:cNvPr id="25" name="TextBox 24"/>
          <p:cNvSpPr txBox="1"/>
          <p:nvPr/>
        </p:nvSpPr>
        <p:spPr>
          <a:xfrm>
            <a:off x="6080760" y="6099048"/>
            <a:ext cx="5242255" cy="256032"/>
          </a:xfrm>
          <a:prstGeom prst="rect">
            <a:avLst/>
          </a:prstGeom>
          <a:noFill/>
        </p:spPr>
        <p:txBody>
          <a:bodyPr wrap="square" lIns="0" tIns="0" rIns="0" bIns="0">
            <a:spAutoFit/>
          </a:bodyPr>
          <a:lstStyle/>
          <a:p>
            <a:pPr algn="ctr">
              <a:defRPr sz="880">
                <a:solidFill>
                  <a:srgbClr val="38BDF8"/>
                </a:solidFill>
                <a:latin typeface="Calibri"/>
              </a:defRPr>
            </a:pPr>
            <a:r>
              <a:t>Live Production: Ticket Queue Table powered by Express REST &amp; PostgreSQL (TicketsPage.jsx)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DATABASE ARCHITECTURE</a:t>
            </a:r>
          </a:p>
        </p:txBody>
      </p:sp>
      <p:sp>
        <p:nvSpPr>
          <p:cNvPr id="4" name="Rounded Rectangle 3"/>
          <p:cNvSpPr/>
          <p:nvPr/>
        </p:nvSpPr>
        <p:spPr>
          <a:xfrm>
            <a:off x="7315200" y="347472"/>
            <a:ext cx="4114800" cy="29260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  Backend &amp; Database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PostgreSQL 15 Relational Schema &amp; Supabase Connection Pooling</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Third Normal Form (3NF) relational design with Supabase connection pooling and B-tree indexing.</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17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graphicFrame>
        <p:nvGraphicFramePr>
          <p:cNvPr id="10" name="Table 9"/>
          <p:cNvGraphicFramePr>
            <a:graphicFrameLocks noGrp="1"/>
          </p:cNvGraphicFramePr>
          <p:nvPr/>
        </p:nvGraphicFramePr>
        <p:xfrm>
          <a:off x="731520" y="1691640"/>
          <a:ext cx="10728655" cy="2468880"/>
        </p:xfrm>
        <a:graphic>
          <a:graphicData uri="http://schemas.openxmlformats.org/drawingml/2006/table">
            <a:tbl>
              <a:tblPr firstRow="1" bandRow="1">
                <a:tableStyleId>{5C22544A-7EE6-4342-B048-85BDC9FD1C3A}</a:tableStyleId>
              </a:tblPr>
              <a:tblGrid>
                <a:gridCol w="1645920"/>
                <a:gridCol w="1097280"/>
                <a:gridCol w="2377440"/>
                <a:gridCol w="3474720"/>
                <a:gridCol w="2133295"/>
              </a:tblGrid>
              <a:tr h="352697">
                <a:tc>
                  <a:txBody>
                    <a:bodyPr/>
                    <a:lstStyle/>
                    <a:p>
                      <a:pPr algn="l">
                        <a:defRPr sz="1000" b="1">
                          <a:solidFill>
                            <a:srgbClr val="38BDF8"/>
                          </a:solidFill>
                          <a:latin typeface="Calibri"/>
                        </a:defRPr>
                      </a:pPr>
                      <a:r>
                        <a:t>Table Name</a:t>
                      </a:r>
                    </a:p>
                  </a:txBody>
                  <a:tcPr anchor="ctr">
                    <a:solidFill>
                      <a:srgbClr val="1E293B"/>
                    </a:solidFill>
                  </a:tcPr>
                </a:tc>
                <a:tc>
                  <a:txBody>
                    <a:bodyPr/>
                    <a:lstStyle/>
                    <a:p>
                      <a:pPr algn="l">
                        <a:defRPr sz="1000" b="1">
                          <a:solidFill>
                            <a:srgbClr val="38BDF8"/>
                          </a:solidFill>
                          <a:latin typeface="Calibri"/>
                        </a:defRPr>
                      </a:pPr>
                      <a:r>
                        <a:t>Primary Key</a:t>
                      </a:r>
                    </a:p>
                  </a:txBody>
                  <a:tcPr anchor="ctr">
                    <a:solidFill>
                      <a:srgbClr val="1E293B"/>
                    </a:solidFill>
                  </a:tcPr>
                </a:tc>
                <a:tc>
                  <a:txBody>
                    <a:bodyPr/>
                    <a:lstStyle/>
                    <a:p>
                      <a:pPr algn="l">
                        <a:defRPr sz="1000" b="1">
                          <a:solidFill>
                            <a:srgbClr val="38BDF8"/>
                          </a:solidFill>
                          <a:latin typeface="Calibri"/>
                        </a:defRPr>
                      </a:pPr>
                      <a:r>
                        <a:t>Foreign Keys</a:t>
                      </a:r>
                    </a:p>
                  </a:txBody>
                  <a:tcPr anchor="ctr">
                    <a:solidFill>
                      <a:srgbClr val="1E293B"/>
                    </a:solidFill>
                  </a:tcPr>
                </a:tc>
                <a:tc>
                  <a:txBody>
                    <a:bodyPr/>
                    <a:lstStyle/>
                    <a:p>
                      <a:pPr algn="l">
                        <a:defRPr sz="1000" b="1">
                          <a:solidFill>
                            <a:srgbClr val="38BDF8"/>
                          </a:solidFill>
                          <a:latin typeface="Calibri"/>
                        </a:defRPr>
                      </a:pPr>
                      <a:r>
                        <a:t>Key Attributes &amp; Types</a:t>
                      </a:r>
                    </a:p>
                  </a:txBody>
                  <a:tcPr anchor="ctr">
                    <a:solidFill>
                      <a:srgbClr val="1E293B"/>
                    </a:solidFill>
                  </a:tcPr>
                </a:tc>
                <a:tc>
                  <a:txBody>
                    <a:bodyPr/>
                    <a:lstStyle/>
                    <a:p>
                      <a:pPr algn="l">
                        <a:defRPr sz="1000" b="1">
                          <a:solidFill>
                            <a:srgbClr val="38BDF8"/>
                          </a:solidFill>
                          <a:latin typeface="Calibri"/>
                        </a:defRPr>
                      </a:pPr>
                      <a:r>
                        <a:t>Index Strategy</a:t>
                      </a:r>
                    </a:p>
                  </a:txBody>
                  <a:tcPr anchor="ctr">
                    <a:solidFill>
                      <a:srgbClr val="1E293B"/>
                    </a:solidFill>
                  </a:tcPr>
                </a:tc>
              </a:tr>
              <a:tr h="352697">
                <a:tc>
                  <a:txBody>
                    <a:bodyPr/>
                    <a:lstStyle/>
                    <a:p>
                      <a:pPr algn="l">
                        <a:defRPr sz="950">
                          <a:solidFill>
                            <a:srgbClr val="F8FAFC"/>
                          </a:solidFill>
                          <a:latin typeface="Calibri"/>
                        </a:defRPr>
                      </a:pPr>
                      <a:r>
                        <a:t>users</a:t>
                      </a:r>
                    </a:p>
                  </a:txBody>
                  <a:tcPr anchor="ctr">
                    <a:solidFill>
                      <a:srgbClr val="182234"/>
                    </a:solidFill>
                  </a:tcPr>
                </a:tc>
                <a:tc>
                  <a:txBody>
                    <a:bodyPr/>
                    <a:lstStyle/>
                    <a:p>
                      <a:pPr algn="l">
                        <a:defRPr sz="950">
                          <a:solidFill>
                            <a:srgbClr val="94A3B8"/>
                          </a:solidFill>
                          <a:latin typeface="Calibri"/>
                        </a:defRPr>
                      </a:pPr>
                      <a:r>
                        <a:t>uuid (PK)</a:t>
                      </a:r>
                    </a:p>
                  </a:txBody>
                  <a:tcPr anchor="ctr">
                    <a:solidFill>
                      <a:srgbClr val="182234"/>
                    </a:solidFill>
                  </a:tcPr>
                </a:tc>
                <a:tc>
                  <a:txBody>
                    <a:bodyPr/>
                    <a:lstStyle/>
                    <a:p>
                      <a:pPr algn="l">
                        <a:defRPr sz="950">
                          <a:solidFill>
                            <a:srgbClr val="94A3B8"/>
                          </a:solidFill>
                          <a:latin typeface="Calibri"/>
                        </a:defRPr>
                      </a:pPr>
                      <a:r>
                        <a:t>None</a:t>
                      </a:r>
                    </a:p>
                  </a:txBody>
                  <a:tcPr anchor="ctr">
                    <a:solidFill>
                      <a:srgbClr val="182234"/>
                    </a:solidFill>
                  </a:tcPr>
                </a:tc>
                <a:tc>
                  <a:txBody>
                    <a:bodyPr/>
                    <a:lstStyle/>
                    <a:p>
                      <a:pPr algn="l">
                        <a:defRPr sz="950">
                          <a:solidFill>
                            <a:srgbClr val="94A3B8"/>
                          </a:solidFill>
                          <a:latin typeface="Calibri"/>
                        </a:defRPr>
                      </a:pPr>
                      <a:r>
                        <a:t>name, email (UK), password_hash, role, department</a:t>
                      </a:r>
                    </a:p>
                  </a:txBody>
                  <a:tcPr anchor="ctr">
                    <a:solidFill>
                      <a:srgbClr val="182234"/>
                    </a:solidFill>
                  </a:tcPr>
                </a:tc>
                <a:tc>
                  <a:txBody>
                    <a:bodyPr/>
                    <a:lstStyle/>
                    <a:p>
                      <a:pPr algn="l">
                        <a:defRPr sz="950">
                          <a:solidFill>
                            <a:srgbClr val="94A3B8"/>
                          </a:solidFill>
                          <a:latin typeface="Calibri"/>
                        </a:defRPr>
                      </a:pPr>
                      <a:r>
                        <a:t>Unique B-tree on email</a:t>
                      </a:r>
                    </a:p>
                  </a:txBody>
                  <a:tcPr anchor="ctr">
                    <a:solidFill>
                      <a:srgbClr val="182234"/>
                    </a:solidFill>
                  </a:tcPr>
                </a:tc>
              </a:tr>
              <a:tr h="352697">
                <a:tc>
                  <a:txBody>
                    <a:bodyPr/>
                    <a:lstStyle/>
                    <a:p>
                      <a:pPr algn="l">
                        <a:defRPr sz="950">
                          <a:solidFill>
                            <a:srgbClr val="F8FAFC"/>
                          </a:solidFill>
                          <a:latin typeface="Calibri"/>
                        </a:defRPr>
                      </a:pPr>
                      <a:r>
                        <a:t>tickets</a:t>
                      </a:r>
                    </a:p>
                  </a:txBody>
                  <a:tcPr anchor="ctr">
                    <a:solidFill>
                      <a:srgbClr val="1E293B"/>
                    </a:solidFill>
                  </a:tcPr>
                </a:tc>
                <a:tc>
                  <a:txBody>
                    <a:bodyPr/>
                    <a:lstStyle/>
                    <a:p>
                      <a:pPr algn="l">
                        <a:defRPr sz="950">
                          <a:solidFill>
                            <a:srgbClr val="94A3B8"/>
                          </a:solidFill>
                          <a:latin typeface="Calibri"/>
                        </a:defRPr>
                      </a:pPr>
                      <a:r>
                        <a:t>uuid (PK)</a:t>
                      </a:r>
                    </a:p>
                  </a:txBody>
                  <a:tcPr anchor="ctr">
                    <a:solidFill>
                      <a:srgbClr val="1E293B"/>
                    </a:solidFill>
                  </a:tcPr>
                </a:tc>
                <a:tc>
                  <a:txBody>
                    <a:bodyPr/>
                    <a:lstStyle/>
                    <a:p>
                      <a:pPr algn="l">
                        <a:defRPr sz="950">
                          <a:solidFill>
                            <a:srgbClr val="94A3B8"/>
                          </a:solidFill>
                          <a:latin typeface="Calibri"/>
                        </a:defRPr>
                      </a:pPr>
                      <a:r>
                        <a:t>customer_id, assigned_agent_id, linked_ticket_id</a:t>
                      </a:r>
                    </a:p>
                  </a:txBody>
                  <a:tcPr anchor="ctr">
                    <a:solidFill>
                      <a:srgbClr val="1E293B"/>
                    </a:solidFill>
                  </a:tcPr>
                </a:tc>
                <a:tc>
                  <a:txBody>
                    <a:bodyPr/>
                    <a:lstStyle/>
                    <a:p>
                      <a:pPr algn="l">
                        <a:defRPr sz="950">
                          <a:solidFill>
                            <a:srgbClr val="94A3B8"/>
                          </a:solidFill>
                          <a:latin typeface="Calibri"/>
                        </a:defRPr>
                      </a:pPr>
                      <a:r>
                        <a:t>ticket_number (UK), title, status, priority, category</a:t>
                      </a:r>
                    </a:p>
                  </a:txBody>
                  <a:tcPr anchor="ctr">
                    <a:solidFill>
                      <a:srgbClr val="1E293B"/>
                    </a:solidFill>
                  </a:tcPr>
                </a:tc>
                <a:tc>
                  <a:txBody>
                    <a:bodyPr/>
                    <a:lstStyle/>
                    <a:p>
                      <a:pPr algn="l">
                        <a:defRPr sz="950">
                          <a:solidFill>
                            <a:srgbClr val="94A3B8"/>
                          </a:solidFill>
                          <a:latin typeface="Calibri"/>
                        </a:defRPr>
                      </a:pPr>
                      <a:r>
                        <a:t>Compound (status, priority), customer_id</a:t>
                      </a:r>
                    </a:p>
                  </a:txBody>
                  <a:tcPr anchor="ctr">
                    <a:solidFill>
                      <a:srgbClr val="1E293B"/>
                    </a:solidFill>
                  </a:tcPr>
                </a:tc>
              </a:tr>
              <a:tr h="352697">
                <a:tc>
                  <a:txBody>
                    <a:bodyPr/>
                    <a:lstStyle/>
                    <a:p>
                      <a:pPr algn="l">
                        <a:defRPr sz="950">
                          <a:solidFill>
                            <a:srgbClr val="F8FAFC"/>
                          </a:solidFill>
                          <a:latin typeface="Calibri"/>
                        </a:defRPr>
                      </a:pPr>
                      <a:r>
                        <a:t>ticket_messages</a:t>
                      </a:r>
                    </a:p>
                  </a:txBody>
                  <a:tcPr anchor="ctr">
                    <a:solidFill>
                      <a:srgbClr val="182234"/>
                    </a:solidFill>
                  </a:tcPr>
                </a:tc>
                <a:tc>
                  <a:txBody>
                    <a:bodyPr/>
                    <a:lstStyle/>
                    <a:p>
                      <a:pPr algn="l">
                        <a:defRPr sz="950">
                          <a:solidFill>
                            <a:srgbClr val="94A3B8"/>
                          </a:solidFill>
                          <a:latin typeface="Calibri"/>
                        </a:defRPr>
                      </a:pPr>
                      <a:r>
                        <a:t>uuid (PK)</a:t>
                      </a:r>
                    </a:p>
                  </a:txBody>
                  <a:tcPr anchor="ctr">
                    <a:solidFill>
                      <a:srgbClr val="182234"/>
                    </a:solidFill>
                  </a:tcPr>
                </a:tc>
                <a:tc>
                  <a:txBody>
                    <a:bodyPr/>
                    <a:lstStyle/>
                    <a:p>
                      <a:pPr algn="l">
                        <a:defRPr sz="950">
                          <a:solidFill>
                            <a:srgbClr val="94A3B8"/>
                          </a:solidFill>
                          <a:latin typeface="Calibri"/>
                        </a:defRPr>
                      </a:pPr>
                      <a:r>
                        <a:t>ticket_id (FK), sender_id (FK)</a:t>
                      </a:r>
                    </a:p>
                  </a:txBody>
                  <a:tcPr anchor="ctr">
                    <a:solidFill>
                      <a:srgbClr val="182234"/>
                    </a:solidFill>
                  </a:tcPr>
                </a:tc>
                <a:tc>
                  <a:txBody>
                    <a:bodyPr/>
                    <a:lstStyle/>
                    <a:p>
                      <a:pPr algn="l">
                        <a:defRPr sz="950">
                          <a:solidFill>
                            <a:srgbClr val="94A3B8"/>
                          </a:solidFill>
                          <a:latin typeface="Calibri"/>
                        </a:defRPr>
                      </a:pPr>
                      <a:r>
                        <a:t>message_body (text), is_internal_note (boolean)</a:t>
                      </a:r>
                    </a:p>
                  </a:txBody>
                  <a:tcPr anchor="ctr">
                    <a:solidFill>
                      <a:srgbClr val="182234"/>
                    </a:solidFill>
                  </a:tcPr>
                </a:tc>
                <a:tc>
                  <a:txBody>
                    <a:bodyPr/>
                    <a:lstStyle/>
                    <a:p>
                      <a:pPr algn="l">
                        <a:defRPr sz="950">
                          <a:solidFill>
                            <a:srgbClr val="94A3B8"/>
                          </a:solidFill>
                          <a:latin typeface="Calibri"/>
                        </a:defRPr>
                      </a:pPr>
                      <a:r>
                        <a:t>B-tree on (ticket_id, created_at)</a:t>
                      </a:r>
                    </a:p>
                  </a:txBody>
                  <a:tcPr anchor="ctr">
                    <a:solidFill>
                      <a:srgbClr val="182234"/>
                    </a:solidFill>
                  </a:tcPr>
                </a:tc>
              </a:tr>
              <a:tr h="352697">
                <a:tc>
                  <a:txBody>
                    <a:bodyPr/>
                    <a:lstStyle/>
                    <a:p>
                      <a:pPr algn="l">
                        <a:defRPr sz="950">
                          <a:solidFill>
                            <a:srgbClr val="F8FAFC"/>
                          </a:solidFill>
                          <a:latin typeface="Calibri"/>
                        </a:defRPr>
                      </a:pPr>
                      <a:r>
                        <a:t>ai_metadata</a:t>
                      </a:r>
                    </a:p>
                  </a:txBody>
                  <a:tcPr anchor="ctr">
                    <a:solidFill>
                      <a:srgbClr val="1E293B"/>
                    </a:solidFill>
                  </a:tcPr>
                </a:tc>
                <a:tc>
                  <a:txBody>
                    <a:bodyPr/>
                    <a:lstStyle/>
                    <a:p>
                      <a:pPr algn="l">
                        <a:defRPr sz="950">
                          <a:solidFill>
                            <a:srgbClr val="94A3B8"/>
                          </a:solidFill>
                          <a:latin typeface="Calibri"/>
                        </a:defRPr>
                      </a:pPr>
                      <a:r>
                        <a:t>uuid (PK)</a:t>
                      </a:r>
                    </a:p>
                  </a:txBody>
                  <a:tcPr anchor="ctr">
                    <a:solidFill>
                      <a:srgbClr val="1E293B"/>
                    </a:solidFill>
                  </a:tcPr>
                </a:tc>
                <a:tc>
                  <a:txBody>
                    <a:bodyPr/>
                    <a:lstStyle/>
                    <a:p>
                      <a:pPr algn="l">
                        <a:defRPr sz="950">
                          <a:solidFill>
                            <a:srgbClr val="94A3B8"/>
                          </a:solidFill>
                          <a:latin typeface="Calibri"/>
                        </a:defRPr>
                      </a:pPr>
                      <a:r>
                        <a:t>ticket_id (FK, UNIQUE)</a:t>
                      </a:r>
                    </a:p>
                  </a:txBody>
                  <a:tcPr anchor="ctr">
                    <a:solidFill>
                      <a:srgbClr val="1E293B"/>
                    </a:solidFill>
                  </a:tcPr>
                </a:tc>
                <a:tc>
                  <a:txBody>
                    <a:bodyPr/>
                    <a:lstStyle/>
                    <a:p>
                      <a:pPr algn="l">
                        <a:defRPr sz="950">
                          <a:solidFill>
                            <a:srgbClr val="94A3B8"/>
                          </a:solidFill>
                          <a:latin typeface="Calibri"/>
                        </a:defRPr>
                      </a:pPr>
                      <a:r>
                        <a:t>customer_mood, patience_score, predicted_resolution_time, confidence</a:t>
                      </a:r>
                    </a:p>
                  </a:txBody>
                  <a:tcPr anchor="ctr">
                    <a:solidFill>
                      <a:srgbClr val="1E293B"/>
                    </a:solidFill>
                  </a:tcPr>
                </a:tc>
                <a:tc>
                  <a:txBody>
                    <a:bodyPr/>
                    <a:lstStyle/>
                    <a:p>
                      <a:pPr algn="l">
                        <a:defRPr sz="950">
                          <a:solidFill>
                            <a:srgbClr val="94A3B8"/>
                          </a:solidFill>
                          <a:latin typeface="Calibri"/>
                        </a:defRPr>
                      </a:pPr>
                      <a:r>
                        <a:t>Unique B-tree on ticket_id</a:t>
                      </a:r>
                    </a:p>
                  </a:txBody>
                  <a:tcPr anchor="ctr">
                    <a:solidFill>
                      <a:srgbClr val="1E293B"/>
                    </a:solidFill>
                  </a:tcPr>
                </a:tc>
              </a:tr>
              <a:tr h="352697">
                <a:tc>
                  <a:txBody>
                    <a:bodyPr/>
                    <a:lstStyle/>
                    <a:p>
                      <a:pPr algn="l">
                        <a:defRPr sz="950">
                          <a:solidFill>
                            <a:srgbClr val="F8FAFC"/>
                          </a:solidFill>
                          <a:latin typeface="Calibri"/>
                        </a:defRPr>
                      </a:pPr>
                      <a:r>
                        <a:t>agent_checklists</a:t>
                      </a:r>
                    </a:p>
                  </a:txBody>
                  <a:tcPr anchor="ctr">
                    <a:solidFill>
                      <a:srgbClr val="182234"/>
                    </a:solidFill>
                  </a:tcPr>
                </a:tc>
                <a:tc>
                  <a:txBody>
                    <a:bodyPr/>
                    <a:lstStyle/>
                    <a:p>
                      <a:pPr algn="l">
                        <a:defRPr sz="950">
                          <a:solidFill>
                            <a:srgbClr val="94A3B8"/>
                          </a:solidFill>
                          <a:latin typeface="Calibri"/>
                        </a:defRPr>
                      </a:pPr>
                      <a:r>
                        <a:t>uuid (PK)</a:t>
                      </a:r>
                    </a:p>
                  </a:txBody>
                  <a:tcPr anchor="ctr">
                    <a:solidFill>
                      <a:srgbClr val="182234"/>
                    </a:solidFill>
                  </a:tcPr>
                </a:tc>
                <a:tc>
                  <a:txBody>
                    <a:bodyPr/>
                    <a:lstStyle/>
                    <a:p>
                      <a:pPr algn="l">
                        <a:defRPr sz="950">
                          <a:solidFill>
                            <a:srgbClr val="94A3B8"/>
                          </a:solidFill>
                          <a:latin typeface="Calibri"/>
                        </a:defRPr>
                      </a:pPr>
                      <a:r>
                        <a:t>ticket_id (FK)</a:t>
                      </a:r>
                    </a:p>
                  </a:txBody>
                  <a:tcPr anchor="ctr">
                    <a:solidFill>
                      <a:srgbClr val="182234"/>
                    </a:solidFill>
                  </a:tcPr>
                </a:tc>
                <a:tc>
                  <a:txBody>
                    <a:bodyPr/>
                    <a:lstStyle/>
                    <a:p>
                      <a:pPr algn="l">
                        <a:defRPr sz="950">
                          <a:solidFill>
                            <a:srgbClr val="94A3B8"/>
                          </a:solidFill>
                          <a:latin typeface="Calibri"/>
                        </a:defRPr>
                      </a:pPr>
                      <a:r>
                        <a:t>item_text (text), is_completed (boolean)</a:t>
                      </a:r>
                    </a:p>
                  </a:txBody>
                  <a:tcPr anchor="ctr">
                    <a:solidFill>
                      <a:srgbClr val="182234"/>
                    </a:solidFill>
                  </a:tcPr>
                </a:tc>
                <a:tc>
                  <a:txBody>
                    <a:bodyPr/>
                    <a:lstStyle/>
                    <a:p>
                      <a:pPr algn="l">
                        <a:defRPr sz="950">
                          <a:solidFill>
                            <a:srgbClr val="94A3B8"/>
                          </a:solidFill>
                          <a:latin typeface="Calibri"/>
                        </a:defRPr>
                      </a:pPr>
                      <a:r>
                        <a:t>B-tree on ticket_id</a:t>
                      </a:r>
                    </a:p>
                  </a:txBody>
                  <a:tcPr anchor="ctr">
                    <a:solidFill>
                      <a:srgbClr val="182234"/>
                    </a:solidFill>
                  </a:tcPr>
                </a:tc>
              </a:tr>
              <a:tr h="352698">
                <a:tc>
                  <a:txBody>
                    <a:bodyPr/>
                    <a:lstStyle/>
                    <a:p>
                      <a:pPr algn="l">
                        <a:defRPr sz="950">
                          <a:solidFill>
                            <a:srgbClr val="F8FAFC"/>
                          </a:solidFill>
                          <a:latin typeface="Calibri"/>
                        </a:defRPr>
                      </a:pPr>
                      <a:r>
                        <a:t>weekly_insights</a:t>
                      </a:r>
                    </a:p>
                  </a:txBody>
                  <a:tcPr anchor="ctr">
                    <a:solidFill>
                      <a:srgbClr val="1E293B"/>
                    </a:solidFill>
                  </a:tcPr>
                </a:tc>
                <a:tc>
                  <a:txBody>
                    <a:bodyPr/>
                    <a:lstStyle/>
                    <a:p>
                      <a:pPr algn="l">
                        <a:defRPr sz="950">
                          <a:solidFill>
                            <a:srgbClr val="94A3B8"/>
                          </a:solidFill>
                          <a:latin typeface="Calibri"/>
                        </a:defRPr>
                      </a:pPr>
                      <a:r>
                        <a:t>uuid (PK)</a:t>
                      </a:r>
                    </a:p>
                  </a:txBody>
                  <a:tcPr anchor="ctr">
                    <a:solidFill>
                      <a:srgbClr val="1E293B"/>
                    </a:solidFill>
                  </a:tcPr>
                </a:tc>
                <a:tc>
                  <a:txBody>
                    <a:bodyPr/>
                    <a:lstStyle/>
                    <a:p>
                      <a:pPr algn="l">
                        <a:defRPr sz="950">
                          <a:solidFill>
                            <a:srgbClr val="94A3B8"/>
                          </a:solidFill>
                          <a:latin typeface="Calibri"/>
                        </a:defRPr>
                      </a:pPr>
                      <a:r>
                        <a:t>None</a:t>
                      </a:r>
                    </a:p>
                  </a:txBody>
                  <a:tcPr anchor="ctr">
                    <a:solidFill>
                      <a:srgbClr val="1E293B"/>
                    </a:solidFill>
                  </a:tcPr>
                </a:tc>
                <a:tc>
                  <a:txBody>
                    <a:bodyPr/>
                    <a:lstStyle/>
                    <a:p>
                      <a:pPr algn="l">
                        <a:defRPr sz="950">
                          <a:solidFill>
                            <a:srgbClr val="94A3B8"/>
                          </a:solidFill>
                          <a:latin typeface="Calibri"/>
                        </a:defRPr>
                      </a:pPr>
                      <a:r>
                        <a:t>week_identifier, top_issues (JSONB), common_mistakes (JSONB)</a:t>
                      </a:r>
                    </a:p>
                  </a:txBody>
                  <a:tcPr anchor="ctr">
                    <a:solidFill>
                      <a:srgbClr val="1E293B"/>
                    </a:solidFill>
                  </a:tcPr>
                </a:tc>
                <a:tc>
                  <a:txBody>
                    <a:bodyPr/>
                    <a:lstStyle/>
                    <a:p>
                      <a:pPr algn="l">
                        <a:defRPr sz="950">
                          <a:solidFill>
                            <a:srgbClr val="94A3B8"/>
                          </a:solidFill>
                          <a:latin typeface="Calibri"/>
                        </a:defRPr>
                      </a:pPr>
                      <a:r>
                        <a:t>B-tree on week_identifier</a:t>
                      </a:r>
                    </a:p>
                  </a:txBody>
                  <a:tcPr anchor="ctr">
                    <a:solidFill>
                      <a:srgbClr val="1E293B"/>
                    </a:solidFill>
                  </a:tcPr>
                </a:tc>
              </a:tr>
            </a:tbl>
          </a:graphicData>
        </a:graphic>
      </p:graphicFrame>
      <p:sp>
        <p:nvSpPr>
          <p:cNvPr id="11" name="Rounded Rectangle 10"/>
          <p:cNvSpPr/>
          <p:nvPr/>
        </p:nvSpPr>
        <p:spPr>
          <a:xfrm>
            <a:off x="731520" y="4389120"/>
            <a:ext cx="5257800"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553712"/>
            <a:ext cx="4855464" cy="320040"/>
          </a:xfrm>
          <a:prstGeom prst="rect">
            <a:avLst/>
          </a:prstGeom>
          <a:noFill/>
        </p:spPr>
        <p:txBody>
          <a:bodyPr wrap="square" lIns="0" tIns="0" rIns="0" bIns="0">
            <a:spAutoFit/>
          </a:bodyPr>
          <a:lstStyle/>
          <a:p>
            <a:pPr>
              <a:defRPr sz="1200" b="1">
                <a:solidFill>
                  <a:srgbClr val="F8FAFC"/>
                </a:solidFill>
                <a:latin typeface="Calibri"/>
              </a:defRPr>
            </a:pPr>
            <a:r>
              <a:t>Supabase Cloud Connection Pooling</a:t>
            </a:r>
          </a:p>
          <a:p>
            <a:pPr>
              <a:defRPr sz="919">
                <a:solidFill>
                  <a:srgbClr val="94A3B8"/>
                </a:solidFill>
                <a:latin typeface="Calibri"/>
              </a:defRPr>
            </a:pPr>
            <a:r>
              <a:t>High-burst query stability</a:t>
            </a:r>
          </a:p>
        </p:txBody>
      </p:sp>
      <p:sp>
        <p:nvSpPr>
          <p:cNvPr id="13" name="TextBox 12"/>
          <p:cNvSpPr txBox="1"/>
          <p:nvPr/>
        </p:nvSpPr>
        <p:spPr>
          <a:xfrm>
            <a:off x="914400" y="4937760"/>
            <a:ext cx="4892040" cy="1188720"/>
          </a:xfrm>
          <a:prstGeom prst="rect">
            <a:avLst/>
          </a:prstGeom>
          <a:noFill/>
        </p:spPr>
        <p:txBody>
          <a:bodyPr wrap="square" lIns="0" tIns="0" rIns="0" bIns="0">
            <a:spAutoFit/>
          </a:bodyPr>
          <a:lstStyle/>
          <a:p>
            <a:pPr>
              <a:spcBef>
                <a:spcPts val="300"/>
              </a:spcBef>
            </a:pPr>
            <a:r>
              <a:rPr sz="1000" b="1">
                <a:solidFill>
                  <a:srgbClr val="F8FAFC"/>
                </a:solidFill>
                <a:latin typeface="Calibri"/>
              </a:rPr>
              <a:t>•  Managed PgBouncer Pool: </a:t>
            </a:r>
            <a:r>
              <a:rPr sz="1000">
                <a:solidFill>
                  <a:srgbClr val="94A3B8"/>
                </a:solidFill>
                <a:latin typeface="Calibri"/>
              </a:rPr>
              <a:t>Configured with max 20 client connections, preventing pool exhaustion under sudden traffic spikes.</a:t>
            </a:r>
          </a:p>
          <a:p>
            <a:pPr>
              <a:spcBef>
                <a:spcPts val="300"/>
              </a:spcBef>
            </a:pPr>
            <a:r>
              <a:rPr sz="1000" b="1">
                <a:solidFill>
                  <a:srgbClr val="F8FAFC"/>
                </a:solidFill>
                <a:latin typeface="Calibri"/>
              </a:rPr>
              <a:t>•  SSL Encryption Enforced: </a:t>
            </a:r>
            <a:r>
              <a:rPr sz="1000">
                <a:solidFill>
                  <a:srgbClr val="94A3B8"/>
                </a:solidFill>
                <a:latin typeface="Calibri"/>
              </a:rPr>
              <a:t>All traffic encrypted over SSL (rejectUnauthorized: false for Supabase certificates).</a:t>
            </a:r>
          </a:p>
          <a:p>
            <a:pPr>
              <a:spcBef>
                <a:spcPts val="300"/>
              </a:spcBef>
            </a:pPr>
            <a:r>
              <a:rPr sz="1000" b="1">
                <a:solidFill>
                  <a:srgbClr val="F8FAFC"/>
                </a:solidFill>
                <a:latin typeface="Calibri"/>
              </a:rPr>
              <a:t>•  Sub-50ms Query Execution: </a:t>
            </a:r>
            <a:r>
              <a:rPr sz="1000">
                <a:solidFill>
                  <a:srgbClr val="94A3B8"/>
                </a:solidFill>
                <a:latin typeface="Calibri"/>
              </a:rPr>
              <a:t>Compound B-tree indexes guarantee fast queue rendering across thousands of tickets.</a:t>
            </a:r>
          </a:p>
        </p:txBody>
      </p:sp>
      <p:sp>
        <p:nvSpPr>
          <p:cNvPr id="14" name="Rounded Rectangle 13"/>
          <p:cNvSpPr/>
          <p:nvPr/>
        </p:nvSpPr>
        <p:spPr>
          <a:xfrm>
            <a:off x="6172200" y="4389120"/>
            <a:ext cx="5257800"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4553712"/>
            <a:ext cx="4855464" cy="320040"/>
          </a:xfrm>
          <a:prstGeom prst="rect">
            <a:avLst/>
          </a:prstGeom>
          <a:noFill/>
        </p:spPr>
        <p:txBody>
          <a:bodyPr wrap="square" lIns="0" tIns="0" rIns="0" bIns="0">
            <a:spAutoFit/>
          </a:bodyPr>
          <a:lstStyle/>
          <a:p>
            <a:pPr>
              <a:defRPr sz="1200" b="1">
                <a:solidFill>
                  <a:srgbClr val="F8FAFC"/>
                </a:solidFill>
                <a:latin typeface="Calibri"/>
              </a:defRPr>
            </a:pPr>
            <a:r>
              <a:t>Auto-Migration &amp; Seed Integrity</a:t>
            </a:r>
          </a:p>
          <a:p>
            <a:pPr>
              <a:defRPr sz="919">
                <a:solidFill>
                  <a:srgbClr val="94A3B8"/>
                </a:solidFill>
                <a:latin typeface="Calibri"/>
              </a:defRPr>
            </a:pPr>
            <a:r>
              <a:t>dbInit.js zero-configuration setup</a:t>
            </a:r>
          </a:p>
        </p:txBody>
      </p:sp>
      <p:sp>
        <p:nvSpPr>
          <p:cNvPr id="16" name="TextBox 15"/>
          <p:cNvSpPr txBox="1"/>
          <p:nvPr/>
        </p:nvSpPr>
        <p:spPr>
          <a:xfrm>
            <a:off x="6355080" y="4937760"/>
            <a:ext cx="4892040" cy="1188720"/>
          </a:xfrm>
          <a:prstGeom prst="rect">
            <a:avLst/>
          </a:prstGeom>
          <a:noFill/>
        </p:spPr>
        <p:txBody>
          <a:bodyPr wrap="square" lIns="0" tIns="0" rIns="0" bIns="0">
            <a:spAutoFit/>
          </a:bodyPr>
          <a:lstStyle/>
          <a:p>
            <a:pPr>
              <a:spcBef>
                <a:spcPts val="300"/>
              </a:spcBef>
            </a:pPr>
            <a:r>
              <a:rPr sz="1000" b="1">
                <a:solidFill>
                  <a:srgbClr val="F8FAFC"/>
                </a:solidFill>
                <a:latin typeface="Calibri"/>
              </a:rPr>
              <a:t>•  Automated Schema Migration: </a:t>
            </a:r>
            <a:r>
              <a:rPr sz="1000">
                <a:solidFill>
                  <a:srgbClr val="94A3B8"/>
                </a:solidFill>
                <a:latin typeface="Calibri"/>
              </a:rPr>
              <a:t>dbInit.js executes on server startup, idempotently applying migrations and creating tables.</a:t>
            </a:r>
          </a:p>
          <a:p>
            <a:pPr>
              <a:spcBef>
                <a:spcPts val="300"/>
              </a:spcBef>
            </a:pPr>
            <a:r>
              <a:rPr sz="1000" b="1">
                <a:solidFill>
                  <a:srgbClr val="F8FAFC"/>
                </a:solidFill>
                <a:latin typeface="Calibri"/>
              </a:rPr>
              <a:t>•  Production-Ready Seed Data: </a:t>
            </a:r>
            <a:r>
              <a:rPr sz="1000">
                <a:solidFill>
                  <a:srgbClr val="94A3B8"/>
                </a:solidFill>
                <a:latin typeface="Calibri"/>
              </a:rPr>
              <a:t>001_seed_data.sql seeds realistic multi-turn conversations across all 4 departments.</a:t>
            </a:r>
          </a:p>
          <a:p>
            <a:pPr>
              <a:spcBef>
                <a:spcPts val="300"/>
              </a:spcBef>
            </a:pPr>
            <a:r>
              <a:rPr sz="1000" b="1">
                <a:solidFill>
                  <a:srgbClr val="F8FAFC"/>
                </a:solidFill>
                <a:latin typeface="Calibri"/>
              </a:rPr>
              <a:t>•  JSONB Extensibility: </a:t>
            </a:r>
            <a:r>
              <a:rPr sz="1000">
                <a:solidFill>
                  <a:srgbClr val="94A3B8"/>
                </a:solidFill>
                <a:latin typeface="Calibri"/>
              </a:rPr>
              <a:t>Uses PostgreSQL JSONB for flexible weekly AI learning insights and recurring issue patterns.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DATA INTEGRITY &amp; CONCURRENCY</a:t>
            </a:r>
          </a:p>
        </p:txBody>
      </p:sp>
      <p:sp>
        <p:nvSpPr>
          <p:cNvPr id="4" name="Rounded Rectangle 3"/>
          <p:cNvSpPr/>
          <p:nvPr/>
        </p:nvSpPr>
        <p:spPr>
          <a:xfrm>
            <a:off x="7315200" y="347472"/>
            <a:ext cx="4114800" cy="29260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Shrujan Mitbavkar  |  Backend &amp; Database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Mission-Critical Integrity: Atomic Transactions &amp; State Machines</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Empirical proof of zero database divergence, concurrency lock-safety, and status validation.</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18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3383280" cy="4480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2980944" cy="320040"/>
          </a:xfrm>
          <a:prstGeom prst="rect">
            <a:avLst/>
          </a:prstGeom>
          <a:noFill/>
        </p:spPr>
        <p:txBody>
          <a:bodyPr wrap="square" lIns="0" tIns="0" rIns="0" bIns="0">
            <a:spAutoFit/>
          </a:bodyPr>
          <a:lstStyle/>
          <a:p>
            <a:pPr>
              <a:defRPr sz="1200" b="1">
                <a:solidFill>
                  <a:srgbClr val="F8FAFC"/>
                </a:solidFill>
                <a:latin typeface="Calibri"/>
              </a:defRPr>
            </a:pPr>
            <a:r>
              <a:t>1. Atomic Transactions (SCRUM-112)</a:t>
            </a:r>
          </a:p>
          <a:p>
            <a:pPr>
              <a:defRPr sz="919">
                <a:solidFill>
                  <a:srgbClr val="94A3B8"/>
                </a:solidFill>
                <a:latin typeface="Calibri"/>
              </a:defRPr>
            </a:pPr>
            <a:r>
              <a:t>createTicketWithInitialMessage</a:t>
            </a:r>
          </a:p>
        </p:txBody>
      </p:sp>
      <p:sp>
        <p:nvSpPr>
          <p:cNvPr id="12" name="TextBox 11"/>
          <p:cNvSpPr txBox="1"/>
          <p:nvPr/>
        </p:nvSpPr>
        <p:spPr>
          <a:xfrm>
            <a:off x="914400" y="2331720"/>
            <a:ext cx="3017520" cy="3566160"/>
          </a:xfrm>
          <a:prstGeom prst="rect">
            <a:avLst/>
          </a:prstGeom>
          <a:noFill/>
        </p:spPr>
        <p:txBody>
          <a:bodyPr wrap="square" lIns="0" tIns="0" rIns="0" bIns="0">
            <a:spAutoFit/>
          </a:bodyPr>
          <a:lstStyle/>
          <a:p>
            <a:pPr>
              <a:spcBef>
                <a:spcPts val="600"/>
              </a:spcBef>
            </a:pPr>
            <a:r>
              <a:rPr sz="1050" b="1">
                <a:solidFill>
                  <a:srgbClr val="F8FAFC"/>
                </a:solidFill>
                <a:latin typeface="Calibri"/>
              </a:rPr>
              <a:t>•  Atomic Multi-Statement Commit: </a:t>
            </a:r>
            <a:r>
              <a:rPr sz="1050">
                <a:solidFill>
                  <a:srgbClr val="94A3B8"/>
                </a:solidFill>
                <a:latin typeface="Calibri"/>
              </a:rPr>
              <a:t>Ticket insertion and initial message execute within a single PostgreSQL transaction (BEGIN / COMMIT / ROLLBACK).</a:t>
            </a:r>
          </a:p>
          <a:p>
            <a:pPr>
              <a:spcBef>
                <a:spcPts val="600"/>
              </a:spcBef>
            </a:pPr>
            <a:r>
              <a:rPr sz="1050" b="1">
                <a:solidFill>
                  <a:srgbClr val="F8FAFC"/>
                </a:solidFill>
                <a:latin typeface="Calibri"/>
              </a:rPr>
              <a:t>•  Zero Orphaned Tickets: </a:t>
            </a:r>
            <a:r>
              <a:rPr sz="1050">
                <a:solidFill>
                  <a:srgbClr val="94A3B8"/>
                </a:solidFill>
                <a:latin typeface="Calibri"/>
              </a:rPr>
              <a:t>If initial message insertion fails, the transaction rolls back 100%, leaving no corrupt ticket rows in the database.</a:t>
            </a:r>
          </a:p>
          <a:p>
            <a:pPr>
              <a:spcBef>
                <a:spcPts val="600"/>
              </a:spcBef>
            </a:pPr>
            <a:r>
              <a:rPr sz="1050" b="1">
                <a:solidFill>
                  <a:srgbClr val="F8FAFC"/>
                </a:solidFill>
                <a:latin typeface="Calibri"/>
              </a:rPr>
              <a:t>•  Verified Test Proof: </a:t>
            </a:r>
            <a:r>
              <a:rPr sz="1050">
                <a:solidFill>
                  <a:srgbClr val="94A3B8"/>
                </a:solidFill>
                <a:latin typeface="Calibri"/>
              </a:rPr>
              <a:t>ticket-transaction.test.js simulates sender foreign key failures and verifies 100% clean rollback (8/8 specs passing).</a:t>
            </a:r>
          </a:p>
        </p:txBody>
      </p:sp>
      <p:sp>
        <p:nvSpPr>
          <p:cNvPr id="13" name="Rounded Rectangle 12"/>
          <p:cNvSpPr/>
          <p:nvPr/>
        </p:nvSpPr>
        <p:spPr>
          <a:xfrm>
            <a:off x="4389120" y="1691640"/>
            <a:ext cx="3383280" cy="44805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1856232"/>
            <a:ext cx="2980944" cy="320040"/>
          </a:xfrm>
          <a:prstGeom prst="rect">
            <a:avLst/>
          </a:prstGeom>
          <a:noFill/>
        </p:spPr>
        <p:txBody>
          <a:bodyPr wrap="square" lIns="0" tIns="0" rIns="0" bIns="0">
            <a:spAutoFit/>
          </a:bodyPr>
          <a:lstStyle/>
          <a:p>
            <a:pPr>
              <a:defRPr sz="1200" b="1">
                <a:solidFill>
                  <a:srgbClr val="F8FAFC"/>
                </a:solidFill>
                <a:latin typeface="Calibri"/>
              </a:defRPr>
            </a:pPr>
            <a:r>
              <a:t>2. Status State Machine (SCRUM-111)</a:t>
            </a:r>
          </a:p>
          <a:p>
            <a:pPr>
              <a:defRPr sz="919">
                <a:solidFill>
                  <a:srgbClr val="94A3B8"/>
                </a:solidFill>
                <a:latin typeface="Calibri"/>
              </a:defRPr>
            </a:pPr>
            <a:r>
              <a:t>Enforced Lifecycle Progression</a:t>
            </a:r>
          </a:p>
        </p:txBody>
      </p:sp>
      <p:sp>
        <p:nvSpPr>
          <p:cNvPr id="15" name="TextBox 14"/>
          <p:cNvSpPr txBox="1"/>
          <p:nvPr/>
        </p:nvSpPr>
        <p:spPr>
          <a:xfrm>
            <a:off x="4572000" y="2331720"/>
            <a:ext cx="3017520" cy="3566160"/>
          </a:xfrm>
          <a:prstGeom prst="rect">
            <a:avLst/>
          </a:prstGeom>
          <a:noFill/>
        </p:spPr>
        <p:txBody>
          <a:bodyPr wrap="square" lIns="0" tIns="0" rIns="0" bIns="0">
            <a:spAutoFit/>
          </a:bodyPr>
          <a:lstStyle/>
          <a:p>
            <a:pPr>
              <a:spcBef>
                <a:spcPts val="600"/>
              </a:spcBef>
            </a:pPr>
            <a:r>
              <a:rPr sz="1050" b="1">
                <a:solidFill>
                  <a:srgbClr val="F8FAFC"/>
                </a:solidFill>
                <a:latin typeface="Calibri"/>
              </a:rPr>
              <a:t>•  Strict Transition Rules: </a:t>
            </a:r>
            <a:r>
              <a:rPr sz="1050">
                <a:solidFill>
                  <a:srgbClr val="94A3B8"/>
                </a:solidFill>
                <a:latin typeface="Calibri"/>
              </a:rPr>
              <a:t>ALLOWED_STATUS_TRANSITIONS: OPEN ➔ IN_PROGRESS ➔ RESOLVED ➔ CLOSED. Reopening is permitted only from RESOLVED to OPEN.</a:t>
            </a:r>
          </a:p>
          <a:p>
            <a:pPr>
              <a:spcBef>
                <a:spcPts val="600"/>
              </a:spcBef>
            </a:pPr>
            <a:r>
              <a:rPr sz="1050" b="1">
                <a:solidFill>
                  <a:srgbClr val="F8FAFC"/>
                </a:solidFill>
                <a:latin typeface="Calibri"/>
              </a:rPr>
              <a:t>•  Illegal Skip Rejection: </a:t>
            </a:r>
            <a:r>
              <a:rPr sz="1050">
                <a:solidFill>
                  <a:srgbClr val="94A3B8"/>
                </a:solidFill>
                <a:latin typeface="Calibri"/>
              </a:rPr>
              <a:t>Any attempt to jump illegally (e.g. OPEN directly to CLOSED) is rejected with HTTP 400 Bad Request.</a:t>
            </a:r>
          </a:p>
          <a:p>
            <a:pPr>
              <a:spcBef>
                <a:spcPts val="600"/>
              </a:spcBef>
            </a:pPr>
            <a:r>
              <a:rPr sz="1050" b="1">
                <a:solidFill>
                  <a:srgbClr val="F8FAFC"/>
                </a:solidFill>
                <a:latin typeface="Calibri"/>
              </a:rPr>
              <a:t>•  Reopened Trigger Worker: </a:t>
            </a:r>
            <a:r>
              <a:rPr sz="1050">
                <a:solidFill>
                  <a:srgbClr val="94A3B8"/>
                </a:solidFill>
                <a:latin typeface="Calibri"/>
              </a:rPr>
              <a:t>Transitioning from RESOLVED to OPEN asynchronously invokes the AI timeline summarizer worker.</a:t>
            </a:r>
          </a:p>
        </p:txBody>
      </p:sp>
      <p:sp>
        <p:nvSpPr>
          <p:cNvPr id="16" name="Rounded Rectangle 15"/>
          <p:cNvSpPr/>
          <p:nvPr/>
        </p:nvSpPr>
        <p:spPr>
          <a:xfrm>
            <a:off x="8046720" y="1691640"/>
            <a:ext cx="3383280" cy="4480560"/>
          </a:xfrm>
          <a:prstGeom prst="roundRect">
            <a:avLst/>
          </a:prstGeom>
          <a:solidFill>
            <a:srgbClr val="1E293B"/>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856232"/>
            <a:ext cx="2980944" cy="320040"/>
          </a:xfrm>
          <a:prstGeom prst="rect">
            <a:avLst/>
          </a:prstGeom>
          <a:noFill/>
        </p:spPr>
        <p:txBody>
          <a:bodyPr wrap="square" lIns="0" tIns="0" rIns="0" bIns="0">
            <a:spAutoFit/>
          </a:bodyPr>
          <a:lstStyle/>
          <a:p>
            <a:pPr>
              <a:defRPr sz="1200" b="1">
                <a:solidFill>
                  <a:srgbClr val="F8FAFC"/>
                </a:solidFill>
                <a:latin typeface="Calibri"/>
              </a:defRPr>
            </a:pPr>
            <a:r>
              <a:t>3. Concurrency Stress (SCRUM-110)</a:t>
            </a:r>
          </a:p>
          <a:p>
            <a:pPr>
              <a:defRPr sz="919">
                <a:solidFill>
                  <a:srgbClr val="94A3B8"/>
                </a:solidFill>
                <a:latin typeface="Calibri"/>
              </a:defRPr>
            </a:pPr>
            <a:r>
              <a:t>100 Parallel Submissions</a:t>
            </a:r>
          </a:p>
        </p:txBody>
      </p:sp>
      <p:sp>
        <p:nvSpPr>
          <p:cNvPr id="18" name="TextBox 17"/>
          <p:cNvSpPr txBox="1"/>
          <p:nvPr/>
        </p:nvSpPr>
        <p:spPr>
          <a:xfrm>
            <a:off x="8229600" y="2331720"/>
            <a:ext cx="3017520" cy="3566160"/>
          </a:xfrm>
          <a:prstGeom prst="rect">
            <a:avLst/>
          </a:prstGeom>
          <a:noFill/>
        </p:spPr>
        <p:txBody>
          <a:bodyPr wrap="square" lIns="0" tIns="0" rIns="0" bIns="0">
            <a:spAutoFit/>
          </a:bodyPr>
          <a:lstStyle/>
          <a:p>
            <a:pPr>
              <a:spcBef>
                <a:spcPts val="600"/>
              </a:spcBef>
            </a:pPr>
            <a:r>
              <a:rPr sz="1050" b="1">
                <a:solidFill>
                  <a:srgbClr val="F8FAFC"/>
                </a:solidFill>
                <a:latin typeface="Calibri"/>
              </a:rPr>
              <a:t>•  Sequence-Safe Ticket Numbers: </a:t>
            </a:r>
            <a:r>
              <a:rPr sz="1050">
                <a:solidFill>
                  <a:srgbClr val="94A3B8"/>
                </a:solidFill>
                <a:latin typeface="Calibri"/>
              </a:rPr>
              <a:t>Utilizes PostgreSQL sequence ticket_number_seq to guarantee unique numbers (T-1001, T-1002).</a:t>
            </a:r>
          </a:p>
          <a:p>
            <a:pPr>
              <a:spcBef>
                <a:spcPts val="600"/>
              </a:spcBef>
            </a:pPr>
            <a:r>
              <a:rPr sz="1050" b="1">
                <a:solidFill>
                  <a:srgbClr val="F8FAFC"/>
                </a:solidFill>
                <a:latin typeface="Calibri"/>
              </a:rPr>
              <a:t>•  Zero Race Conditions: </a:t>
            </a:r>
            <a:r>
              <a:rPr sz="1050">
                <a:solidFill>
                  <a:srgbClr val="94A3B8"/>
                </a:solidFill>
                <a:latin typeface="Calibri"/>
              </a:rPr>
              <a:t>ticket-concurrency.test.js dispatches 100 simultaneous parallel ticket submissions via Promise.allSettled.</a:t>
            </a:r>
          </a:p>
          <a:p>
            <a:pPr>
              <a:spcBef>
                <a:spcPts val="600"/>
              </a:spcBef>
            </a:pPr>
            <a:r>
              <a:rPr sz="1050" b="1">
                <a:solidFill>
                  <a:srgbClr val="F8FAFC"/>
                </a:solidFill>
                <a:latin typeface="Calibri"/>
              </a:rPr>
              <a:t>•  Zero Sequence Collisions: </a:t>
            </a:r>
            <a:r>
              <a:rPr sz="1050">
                <a:solidFill>
                  <a:srgbClr val="94A3B8"/>
                </a:solidFill>
                <a:latin typeface="Calibri"/>
              </a:rPr>
              <a:t>Maintains 100% connection pool stability with 0 deadlock errors and 100% unique ticket numbers.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AI MICROSERVICE &amp; CACHING</a:t>
            </a:r>
          </a:p>
        </p:txBody>
      </p:sp>
      <p:sp>
        <p:nvSpPr>
          <p:cNvPr id="4" name="Rounded Rectangle 3"/>
          <p:cNvSpPr/>
          <p:nvPr/>
        </p:nvSpPr>
        <p:spPr>
          <a:xfrm>
            <a:off x="7315200" y="347472"/>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(23CO76)</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FastAPI Microservice, Gemini 1.5 Flash SDK &amp; Model Pooling</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High-throughput LLM pipeline with Pydantic validation and SHA-256 TTL caching.</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19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2514600" cy="14630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801368"/>
            <a:ext cx="2185416" cy="1243584"/>
          </a:xfrm>
          <a:prstGeom prst="rect">
            <a:avLst/>
          </a:prstGeom>
          <a:noFill/>
        </p:spPr>
        <p:txBody>
          <a:bodyPr wrap="square" lIns="0" tIns="0" rIns="0" bIns="0">
            <a:spAutoFit/>
          </a:bodyPr>
          <a:lstStyle/>
          <a:p>
            <a:pPr>
              <a:defRPr sz="2700" b="1">
                <a:solidFill>
                  <a:srgbClr val="F59E0B"/>
                </a:solidFill>
                <a:latin typeface="Calibri"/>
              </a:defRPr>
            </a:pPr>
            <a:r>
              <a:t>12 ms</a:t>
            </a:r>
          </a:p>
          <a:p>
            <a:pPr>
              <a:spcBef>
                <a:spcPts val="300"/>
              </a:spcBef>
              <a:defRPr sz="1150" b="1">
                <a:solidFill>
                  <a:srgbClr val="F8FAFC"/>
                </a:solidFill>
                <a:latin typeface="Calibri"/>
              </a:defRPr>
            </a:pPr>
            <a:r>
              <a:t>Cached AI Latency</a:t>
            </a:r>
          </a:p>
          <a:p>
            <a:pPr>
              <a:spcBef>
                <a:spcPts val="200"/>
              </a:spcBef>
              <a:defRPr sz="900">
                <a:solidFill>
                  <a:srgbClr val="94A3B8"/>
                </a:solidFill>
                <a:latin typeface="Calibri"/>
              </a:defRPr>
            </a:pPr>
            <a:r>
              <a:t>SHA-256 TTL cache intercepts repeated queries in 12ms vs 1,800ms</a:t>
            </a:r>
          </a:p>
        </p:txBody>
      </p:sp>
      <p:sp>
        <p:nvSpPr>
          <p:cNvPr id="12" name="Rounded Rectangle 11"/>
          <p:cNvSpPr/>
          <p:nvPr/>
        </p:nvSpPr>
        <p:spPr>
          <a:xfrm>
            <a:off x="3429000" y="1691640"/>
            <a:ext cx="2514600" cy="14630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801368"/>
            <a:ext cx="2185416" cy="1243584"/>
          </a:xfrm>
          <a:prstGeom prst="rect">
            <a:avLst/>
          </a:prstGeom>
          <a:noFill/>
        </p:spPr>
        <p:txBody>
          <a:bodyPr wrap="square" lIns="0" tIns="0" rIns="0" bIns="0">
            <a:spAutoFit/>
          </a:bodyPr>
          <a:lstStyle/>
          <a:p>
            <a:pPr>
              <a:defRPr sz="2700" b="1">
                <a:solidFill>
                  <a:srgbClr val="10B981"/>
                </a:solidFill>
                <a:latin typeface="Calibri"/>
              </a:defRPr>
            </a:pPr>
            <a:r>
              <a:t>420 ms</a:t>
            </a:r>
          </a:p>
          <a:p>
            <a:pPr>
              <a:spcBef>
                <a:spcPts val="300"/>
              </a:spcBef>
              <a:defRPr sz="1150" b="1">
                <a:solidFill>
                  <a:srgbClr val="F8FAFC"/>
                </a:solidFill>
                <a:latin typeface="Calibri"/>
              </a:defRPr>
            </a:pPr>
            <a:r>
              <a:t>Live Inference Latency</a:t>
            </a:r>
          </a:p>
          <a:p>
            <a:pPr>
              <a:spcBef>
                <a:spcPts val="200"/>
              </a:spcBef>
              <a:defRPr sz="900">
                <a:solidFill>
                  <a:srgbClr val="94A3B8"/>
                </a:solidFill>
                <a:latin typeface="Calibri"/>
              </a:defRPr>
            </a:pPr>
            <a:r>
              <a:t>Google Gemini 1.5 Flash delivers complete structured triage</a:t>
            </a:r>
          </a:p>
        </p:txBody>
      </p:sp>
      <p:sp>
        <p:nvSpPr>
          <p:cNvPr id="14" name="Rounded Rectangle 13"/>
          <p:cNvSpPr/>
          <p:nvPr/>
        </p:nvSpPr>
        <p:spPr>
          <a:xfrm>
            <a:off x="6126480" y="1691640"/>
            <a:ext cx="2514600" cy="146304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801368"/>
            <a:ext cx="2185416" cy="1243584"/>
          </a:xfrm>
          <a:prstGeom prst="rect">
            <a:avLst/>
          </a:prstGeom>
          <a:noFill/>
        </p:spPr>
        <p:txBody>
          <a:bodyPr wrap="square" lIns="0" tIns="0" rIns="0" bIns="0">
            <a:spAutoFit/>
          </a:bodyPr>
          <a:lstStyle/>
          <a:p>
            <a:pPr>
              <a:defRPr sz="2700" b="1">
                <a:solidFill>
                  <a:srgbClr val="3B82F6"/>
                </a:solidFill>
                <a:latin typeface="Calibri"/>
              </a:defRPr>
            </a:pPr>
            <a:r>
              <a:t>100%</a:t>
            </a:r>
          </a:p>
          <a:p>
            <a:pPr>
              <a:spcBef>
                <a:spcPts val="300"/>
              </a:spcBef>
              <a:defRPr sz="1150" b="1">
                <a:solidFill>
                  <a:srgbClr val="F8FAFC"/>
                </a:solidFill>
                <a:latin typeface="Calibri"/>
              </a:defRPr>
            </a:pPr>
            <a:r>
              <a:t>Schema Adherence</a:t>
            </a:r>
          </a:p>
          <a:p>
            <a:pPr>
              <a:spcBef>
                <a:spcPts val="200"/>
              </a:spcBef>
              <a:defRPr sz="900">
                <a:solidFill>
                  <a:srgbClr val="94A3B8"/>
                </a:solidFill>
                <a:latin typeface="Calibri"/>
              </a:defRPr>
            </a:pPr>
            <a:r>
              <a:t>Pydantic v2 JSON schemas enforced via response_mime_type</a:t>
            </a:r>
          </a:p>
        </p:txBody>
      </p:sp>
      <p:sp>
        <p:nvSpPr>
          <p:cNvPr id="16" name="Rounded Rectangle 15"/>
          <p:cNvSpPr/>
          <p:nvPr/>
        </p:nvSpPr>
        <p:spPr>
          <a:xfrm>
            <a:off x="8823960" y="1691640"/>
            <a:ext cx="2514600" cy="14630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8552" y="1801368"/>
            <a:ext cx="2185416" cy="1243584"/>
          </a:xfrm>
          <a:prstGeom prst="rect">
            <a:avLst/>
          </a:prstGeom>
          <a:noFill/>
        </p:spPr>
        <p:txBody>
          <a:bodyPr wrap="square" lIns="0" tIns="0" rIns="0" bIns="0">
            <a:spAutoFit/>
          </a:bodyPr>
          <a:lstStyle/>
          <a:p>
            <a:pPr>
              <a:defRPr sz="2700" b="1">
                <a:solidFill>
                  <a:srgbClr val="38BDF8"/>
                </a:solidFill>
                <a:latin typeface="Calibri"/>
              </a:defRPr>
            </a:pPr>
            <a:r>
              <a:t>0 Downtime</a:t>
            </a:r>
          </a:p>
          <a:p>
            <a:pPr>
              <a:spcBef>
                <a:spcPts val="300"/>
              </a:spcBef>
              <a:defRPr sz="1150" b="1">
                <a:solidFill>
                  <a:srgbClr val="F8FAFC"/>
                </a:solidFill>
                <a:latin typeface="Calibri"/>
              </a:defRPr>
            </a:pPr>
            <a:r>
              <a:t>Graceful Fallback Mode</a:t>
            </a:r>
          </a:p>
          <a:p>
            <a:pPr>
              <a:spcBef>
                <a:spcPts val="200"/>
              </a:spcBef>
              <a:defRPr sz="900">
                <a:solidFill>
                  <a:srgbClr val="94A3B8"/>
                </a:solidFill>
                <a:latin typeface="Calibri"/>
              </a:defRPr>
            </a:pPr>
            <a:r>
              <a:t>Deterministic regex fallbacks guarantee 100% operational uptime</a:t>
            </a:r>
          </a:p>
        </p:txBody>
      </p:sp>
      <p:sp>
        <p:nvSpPr>
          <p:cNvPr id="18" name="Rounded Rectangle 17"/>
          <p:cNvSpPr/>
          <p:nvPr/>
        </p:nvSpPr>
        <p:spPr>
          <a:xfrm>
            <a:off x="731520" y="3383280"/>
            <a:ext cx="5257800"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547872"/>
            <a:ext cx="4855464" cy="320040"/>
          </a:xfrm>
          <a:prstGeom prst="rect">
            <a:avLst/>
          </a:prstGeom>
          <a:noFill/>
        </p:spPr>
        <p:txBody>
          <a:bodyPr wrap="square" lIns="0" tIns="0" rIns="0" bIns="0">
            <a:spAutoFit/>
          </a:bodyPr>
          <a:lstStyle/>
          <a:p>
            <a:pPr>
              <a:defRPr sz="1200" b="1">
                <a:solidFill>
                  <a:srgbClr val="F8FAFC"/>
                </a:solidFill>
                <a:latin typeface="Calibri"/>
              </a:defRPr>
            </a:pPr>
            <a:r>
              <a:t>Model Instance Pooling &amp; SHA-256 TTL Caching</a:t>
            </a:r>
          </a:p>
          <a:p>
            <a:pPr>
              <a:defRPr sz="919">
                <a:solidFill>
                  <a:srgbClr val="94A3B8"/>
                </a:solidFill>
                <a:latin typeface="Calibri"/>
              </a:defRPr>
            </a:pPr>
            <a:r>
              <a:t>gemini_client.py high-performance architecture</a:t>
            </a:r>
          </a:p>
        </p:txBody>
      </p:sp>
      <p:sp>
        <p:nvSpPr>
          <p:cNvPr id="20" name="TextBox 19"/>
          <p:cNvSpPr txBox="1"/>
          <p:nvPr/>
        </p:nvSpPr>
        <p:spPr>
          <a:xfrm>
            <a:off x="914400" y="3977639"/>
            <a:ext cx="4846320" cy="2103120"/>
          </a:xfrm>
          <a:prstGeom prst="rect">
            <a:avLst/>
          </a:prstGeom>
          <a:noFill/>
        </p:spPr>
        <p:txBody>
          <a:bodyPr wrap="square" lIns="0" tIns="0" rIns="0" bIns="0">
            <a:spAutoFit/>
          </a:bodyPr>
          <a:lstStyle/>
          <a:p>
            <a:pPr>
              <a:spcBef>
                <a:spcPts val="400"/>
              </a:spcBef>
            </a:pPr>
            <a:r>
              <a:rPr sz="1050" b="1">
                <a:solidFill>
                  <a:srgbClr val="F8FAFC"/>
                </a:solidFill>
                <a:latin typeface="Calibri"/>
              </a:rPr>
              <a:t>•  Model Instance Pooling (_MODEL_CACHE): </a:t>
            </a:r>
            <a:r>
              <a:rPr sz="1050">
                <a:solidFill>
                  <a:srgbClr val="94A3B8"/>
                </a:solidFill>
                <a:latin typeface="Calibri"/>
              </a:rPr>
              <a:t>Pre-instantiates and reuses GenerativeModel instances across concurrent async coroutines, eliminating Garbage Collection overhead.</a:t>
            </a:r>
          </a:p>
          <a:p>
            <a:pPr>
              <a:spcBef>
                <a:spcPts val="400"/>
              </a:spcBef>
            </a:pPr>
            <a:r>
              <a:rPr sz="1050" b="1">
                <a:solidFill>
                  <a:srgbClr val="F8FAFC"/>
                </a:solidFill>
                <a:latin typeface="Calibri"/>
              </a:rPr>
              <a:t>•  SHA-256 Hashed Response Cache: </a:t>
            </a:r>
            <a:r>
              <a:rPr sz="1050">
                <a:solidFill>
                  <a:srgbClr val="94A3B8"/>
                </a:solidFill>
                <a:latin typeface="Calibri"/>
              </a:rPr>
              <a:t>Caches identical ticket bodies with a 300-second TTL. Drops repeated concierge or triage queries from 1.8 seconds down to 12 milliseconds.</a:t>
            </a:r>
          </a:p>
          <a:p>
            <a:pPr>
              <a:spcBef>
                <a:spcPts val="400"/>
              </a:spcBef>
            </a:pPr>
            <a:r>
              <a:rPr sz="1050" b="1">
                <a:solidFill>
                  <a:srgbClr val="F8FAFC"/>
                </a:solidFill>
                <a:latin typeface="Calibri"/>
              </a:rPr>
              <a:t>•  Strict JSON Enforcement: </a:t>
            </a:r>
            <a:r>
              <a:rPr sz="1050">
                <a:solidFill>
                  <a:srgbClr val="94A3B8"/>
                </a:solidFill>
                <a:latin typeface="Calibri"/>
              </a:rPr>
              <a:t>Uses Gemini's native 'application/json' output mode to prevent markdown backtick wrapping and guarantee parseable payloads.</a:t>
            </a:r>
          </a:p>
        </p:txBody>
      </p:sp>
      <p:sp>
        <p:nvSpPr>
          <p:cNvPr id="21" name="Rounded Rectangle 20"/>
          <p:cNvSpPr/>
          <p:nvPr/>
        </p:nvSpPr>
        <p:spPr>
          <a:xfrm>
            <a:off x="6172200" y="3383280"/>
            <a:ext cx="5257800"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3547872"/>
            <a:ext cx="4855464" cy="320040"/>
          </a:xfrm>
          <a:prstGeom prst="rect">
            <a:avLst/>
          </a:prstGeom>
          <a:noFill/>
        </p:spPr>
        <p:txBody>
          <a:bodyPr wrap="square" lIns="0" tIns="0" rIns="0" bIns="0">
            <a:spAutoFit/>
          </a:bodyPr>
          <a:lstStyle/>
          <a:p>
            <a:pPr>
              <a:defRPr sz="1200" b="1">
                <a:solidFill>
                  <a:srgbClr val="F8FAFC"/>
                </a:solidFill>
                <a:latin typeface="Calibri"/>
              </a:defRPr>
            </a:pPr>
            <a:r>
              <a:t>Resilient Fallback Engine &amp; Pytest Validation</a:t>
            </a:r>
          </a:p>
          <a:p>
            <a:pPr>
              <a:defRPr sz="919">
                <a:solidFill>
                  <a:srgbClr val="94A3B8"/>
                </a:solidFill>
                <a:latin typeface="Calibri"/>
              </a:defRPr>
            </a:pPr>
            <a:r>
              <a:t>Deterministic reliability when offline</a:t>
            </a:r>
          </a:p>
        </p:txBody>
      </p:sp>
      <p:sp>
        <p:nvSpPr>
          <p:cNvPr id="23" name="TextBox 22"/>
          <p:cNvSpPr txBox="1"/>
          <p:nvPr/>
        </p:nvSpPr>
        <p:spPr>
          <a:xfrm>
            <a:off x="6355080" y="3977639"/>
            <a:ext cx="4846320" cy="2103120"/>
          </a:xfrm>
          <a:prstGeom prst="rect">
            <a:avLst/>
          </a:prstGeom>
          <a:noFill/>
        </p:spPr>
        <p:txBody>
          <a:bodyPr wrap="square" lIns="0" tIns="0" rIns="0" bIns="0">
            <a:spAutoFit/>
          </a:bodyPr>
          <a:lstStyle/>
          <a:p>
            <a:pPr>
              <a:spcBef>
                <a:spcPts val="400"/>
              </a:spcBef>
            </a:pPr>
            <a:r>
              <a:rPr sz="1050" b="1">
                <a:solidFill>
                  <a:srgbClr val="F8FAFC"/>
                </a:solidFill>
                <a:latin typeface="Calibri"/>
              </a:rPr>
              <a:t>•  Zero-Downtime Guarantee: </a:t>
            </a:r>
            <a:r>
              <a:rPr sz="1050">
                <a:solidFill>
                  <a:srgbClr val="94A3B8"/>
                </a:solidFill>
                <a:latin typeface="Calibri"/>
              </a:rPr>
              <a:t>If the GEMINI_API_KEY is unset, rate-limited, or network unreachable, regex-based deterministic fallbacks kick in instantly.</a:t>
            </a:r>
          </a:p>
          <a:p>
            <a:pPr>
              <a:spcBef>
                <a:spcPts val="400"/>
              </a:spcBef>
            </a:pPr>
            <a:r>
              <a:rPr sz="1050" b="1">
                <a:solidFill>
                  <a:srgbClr val="F8FAFC"/>
                </a:solidFill>
                <a:latin typeface="Calibri"/>
              </a:rPr>
              <a:t>•  Bounded Confidence Scoring: </a:t>
            </a:r>
            <a:r>
              <a:rPr sz="1050">
                <a:solidFill>
                  <a:srgbClr val="94A3B8"/>
                </a:solidFill>
                <a:latin typeface="Calibri"/>
              </a:rPr>
              <a:t>Every AI response returns an overall_confidence score (0.00 to 1.00). If confidence &lt; 0.60, the UI warns agents to verify advice.</a:t>
            </a:r>
          </a:p>
          <a:p>
            <a:pPr>
              <a:spcBef>
                <a:spcPts val="400"/>
              </a:spcBef>
            </a:pPr>
            <a:r>
              <a:rPr sz="1050" b="1">
                <a:solidFill>
                  <a:srgbClr val="F8FAFC"/>
                </a:solidFill>
                <a:latin typeface="Calibri"/>
              </a:rPr>
              <a:t>•  Pytest Test Coverage: </a:t>
            </a:r>
            <a:r>
              <a:rPr sz="1050">
                <a:solidFill>
                  <a:srgbClr val="94A3B8"/>
                </a:solidFill>
                <a:latin typeface="Calibri"/>
              </a:rPr>
              <a:t>test_ai_features.py and test_triage.py validate 100% of triage, auto-reply, tone-polish, and fallback functions (28/28 passing).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PROMPT ENGINEERING &amp; DATASETS</a:t>
            </a:r>
          </a:p>
        </p:txBody>
      </p:sp>
      <p:sp>
        <p:nvSpPr>
          <p:cNvPr id="4" name="Rounded Rectangle 3"/>
          <p:cNvSpPr/>
          <p:nvPr/>
        </p:nvSpPr>
        <p:spPr>
          <a:xfrm>
            <a:off x="7315200" y="347472"/>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(23CO76)</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Prompt Engineering &amp; Ground-Truth Knowledge Base</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Grounding LLM reasoning in verified Knowledge Base articles and Kaggle benchmarks.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20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02920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626864" cy="320040"/>
          </a:xfrm>
          <a:prstGeom prst="rect">
            <a:avLst/>
          </a:prstGeom>
          <a:noFill/>
        </p:spPr>
        <p:txBody>
          <a:bodyPr wrap="square" lIns="0" tIns="0" rIns="0" bIns="0">
            <a:spAutoFit/>
          </a:bodyPr>
          <a:lstStyle/>
          <a:p>
            <a:pPr>
              <a:defRPr sz="1200" b="1">
                <a:solidFill>
                  <a:srgbClr val="F8FAFC"/>
                </a:solidFill>
                <a:latin typeface="Calibri"/>
              </a:defRPr>
            </a:pPr>
            <a:r>
              <a:t>Ground-Truth Datasets &amp; Prompt Personas</a:t>
            </a:r>
          </a:p>
          <a:p>
            <a:pPr>
              <a:defRPr sz="919">
                <a:solidFill>
                  <a:srgbClr val="94A3B8"/>
                </a:solidFill>
                <a:latin typeface="Calibri"/>
              </a:defRPr>
            </a:pPr>
            <a:r>
              <a:t>templates.py prompt architecture</a:t>
            </a:r>
          </a:p>
        </p:txBody>
      </p:sp>
      <p:sp>
        <p:nvSpPr>
          <p:cNvPr id="12" name="TextBox 11"/>
          <p:cNvSpPr txBox="1"/>
          <p:nvPr/>
        </p:nvSpPr>
        <p:spPr>
          <a:xfrm>
            <a:off x="914400" y="2286000"/>
            <a:ext cx="4663440" cy="3657600"/>
          </a:xfrm>
          <a:prstGeom prst="rect">
            <a:avLst/>
          </a:prstGeom>
          <a:noFill/>
        </p:spPr>
        <p:txBody>
          <a:bodyPr wrap="square" lIns="0" tIns="0" rIns="0" bIns="0">
            <a:spAutoFit/>
          </a:bodyPr>
          <a:lstStyle/>
          <a:p>
            <a:pPr>
              <a:spcBef>
                <a:spcPts val="500"/>
              </a:spcBef>
            </a:pPr>
            <a:r>
              <a:rPr sz="1000" b="1">
                <a:solidFill>
                  <a:srgbClr val="F8FAFC"/>
                </a:solidFill>
                <a:latin typeface="Calibri"/>
              </a:rPr>
              <a:t>•  Kaggle Customer Support Dataset: </a:t>
            </a:r>
            <a:r>
              <a:rPr sz="1000">
                <a:solidFill>
                  <a:srgbClr val="94A3B8"/>
                </a:solidFill>
                <a:latin typeface="Calibri"/>
              </a:rPr>
              <a:t>Grounds SLA resolution durations (Billing: 1-2 days, Tech: 2-3 days) and category distributions.</a:t>
            </a:r>
          </a:p>
          <a:p>
            <a:pPr>
              <a:spcBef>
                <a:spcPts val="500"/>
              </a:spcBef>
            </a:pPr>
            <a:r>
              <a:rPr sz="1000" b="1">
                <a:solidFill>
                  <a:srgbClr val="F8FAFC"/>
                </a:solidFill>
                <a:latin typeface="Calibri"/>
              </a:rPr>
              <a:t>•  Kaggle Twitter Support (TWCS): </a:t>
            </a:r>
            <a:r>
              <a:rPr sz="1000">
                <a:solidFill>
                  <a:srgbClr val="94A3B8"/>
                </a:solidFill>
                <a:latin typeface="Calibri"/>
              </a:rPr>
              <a:t>Calibrates corporate de-escalation patterns and empathetic customer phrasing.</a:t>
            </a:r>
          </a:p>
          <a:p>
            <a:pPr>
              <a:spcBef>
                <a:spcPts val="500"/>
              </a:spcBef>
            </a:pPr>
            <a:r>
              <a:rPr sz="1000" b="1">
                <a:solidFill>
                  <a:srgbClr val="F8FAFC"/>
                </a:solidFill>
                <a:latin typeface="Calibri"/>
              </a:rPr>
              <a:t>•  8 Domain-Specific Personas: </a:t>
            </a:r>
            <a:r>
              <a:rPr sz="1000">
                <a:solidFill>
                  <a:srgbClr val="94A3B8"/>
                </a:solidFill>
                <a:latin typeface="Calibri"/>
              </a:rPr>
              <a:t>Senior Triage Officer, Communications Stylist, Empathy Lead, and Knowledge Base Architect.</a:t>
            </a:r>
          </a:p>
          <a:p>
            <a:pPr>
              <a:spcBef>
                <a:spcPts val="500"/>
              </a:spcBef>
            </a:pPr>
            <a:r>
              <a:rPr sz="1000" b="1">
                <a:solidFill>
                  <a:srgbClr val="F8FAFC"/>
                </a:solidFill>
                <a:latin typeface="Calibri"/>
              </a:rPr>
              <a:t>•  Anti-Gaming Urgency Filter: </a:t>
            </a:r>
            <a:r>
              <a:rPr sz="1000">
                <a:solidFill>
                  <a:srgbClr val="94A3B8"/>
                </a:solidFill>
                <a:latin typeface="Calibri"/>
              </a:rPr>
              <a:t>Prompt explicitly decouples shouting ('URGENT', exclamation marks) from technical priority. Emotional distress is captured in customer_mood, while priority is determined strictly by business impact.</a:t>
            </a:r>
          </a:p>
          <a:p>
            <a:pPr>
              <a:spcBef>
                <a:spcPts val="500"/>
              </a:spcBef>
            </a:pPr>
            <a:r>
              <a:rPr sz="1000" b="1">
                <a:solidFill>
                  <a:srgbClr val="F8FAFC"/>
                </a:solidFill>
                <a:latin typeface="Calibri"/>
              </a:rPr>
              <a:t>•  Structured Checklists: </a:t>
            </a:r>
            <a:r>
              <a:rPr sz="1000">
                <a:solidFill>
                  <a:srgbClr val="94A3B8"/>
                </a:solidFill>
                <a:latin typeface="Calibri"/>
              </a:rPr>
              <a:t>Directs Gemini to generate 3–5 specific diagnostic checkboxes based on typical category workflows.</a:t>
            </a:r>
          </a:p>
        </p:txBody>
      </p:sp>
      <p:sp>
        <p:nvSpPr>
          <p:cNvPr id="13" name="Rounded Rectangle 12"/>
          <p:cNvSpPr/>
          <p:nvPr/>
        </p:nvSpPr>
        <p:spPr>
          <a:xfrm>
            <a:off x="5943600" y="1691640"/>
            <a:ext cx="5516575"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1856232"/>
            <a:ext cx="5114239" cy="320040"/>
          </a:xfrm>
          <a:prstGeom prst="rect">
            <a:avLst/>
          </a:prstGeom>
          <a:noFill/>
        </p:spPr>
        <p:txBody>
          <a:bodyPr wrap="square" lIns="0" tIns="0" rIns="0" bIns="0">
            <a:spAutoFit/>
          </a:bodyPr>
          <a:lstStyle/>
          <a:p>
            <a:pPr>
              <a:defRPr sz="1200" b="1">
                <a:solidFill>
                  <a:srgbClr val="F8FAFC"/>
                </a:solidFill>
                <a:latin typeface="Calibri"/>
              </a:defRPr>
            </a:pPr>
            <a:r>
              <a:t>Live Production: Knowledge Base Management (Render)</a:t>
            </a:r>
          </a:p>
          <a:p>
            <a:pPr>
              <a:defRPr sz="919">
                <a:solidFill>
                  <a:srgbClr val="94A3B8"/>
                </a:solidFill>
                <a:latin typeface="Calibri"/>
              </a:defRPr>
            </a:pPr>
            <a:r>
              <a:t>Grounded FAQ repository deflecting repetitive tickets</a:t>
            </a:r>
          </a:p>
        </p:txBody>
      </p:sp>
      <p:sp>
        <p:nvSpPr>
          <p:cNvPr id="15" name="Rounded Rectangle 14"/>
          <p:cNvSpPr/>
          <p:nvPr/>
        </p:nvSpPr>
        <p:spPr>
          <a:xfrm>
            <a:off x="6044184" y="2249424"/>
            <a:ext cx="5315407" cy="381304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knowledge_base_live.png"/>
          <p:cNvPicPr>
            <a:picLocks noChangeAspect="1"/>
          </p:cNvPicPr>
          <p:nvPr/>
        </p:nvPicPr>
        <p:blipFill>
          <a:blip r:embed="rId2"/>
          <a:stretch>
            <a:fillRect/>
          </a:stretch>
        </p:blipFill>
        <p:spPr>
          <a:xfrm>
            <a:off x="6080760" y="2286000"/>
            <a:ext cx="5242255" cy="3520440"/>
          </a:xfrm>
          <a:prstGeom prst="rect">
            <a:avLst/>
          </a:prstGeom>
        </p:spPr>
      </p:pic>
      <p:sp>
        <p:nvSpPr>
          <p:cNvPr id="17" name="TextBox 16"/>
          <p:cNvSpPr txBox="1"/>
          <p:nvPr/>
        </p:nvSpPr>
        <p:spPr>
          <a:xfrm>
            <a:off x="6080760" y="5824727"/>
            <a:ext cx="5242255" cy="256032"/>
          </a:xfrm>
          <a:prstGeom prst="rect">
            <a:avLst/>
          </a:prstGeom>
          <a:noFill/>
        </p:spPr>
        <p:txBody>
          <a:bodyPr wrap="square" lIns="0" tIns="0" rIns="0" bIns="0">
            <a:spAutoFit/>
          </a:bodyPr>
          <a:lstStyle/>
          <a:p>
            <a:pPr algn="ctr">
              <a:defRPr sz="880">
                <a:solidFill>
                  <a:srgbClr val="38BDF8"/>
                </a:solidFill>
                <a:latin typeface="Calibri"/>
              </a:defRPr>
            </a:pPr>
            <a:r>
              <a:t>Live Production: Knowledge Base Management &amp; Articles (KnowledgeBasePage.jsx)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AUTOMATION &amp; SUMMARIES</a:t>
            </a:r>
          </a:p>
        </p:txBody>
      </p:sp>
      <p:sp>
        <p:nvSpPr>
          <p:cNvPr id="4" name="Rounded Rectangle 3"/>
          <p:cNvSpPr/>
          <p:nvPr/>
        </p:nvSpPr>
        <p:spPr>
          <a:xfrm>
            <a:off x="7315200" y="347472"/>
            <a:ext cx="4114800" cy="29260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Yash Sanikop  |  Frontend &amp; AI Lead (23CO76)</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Department Automated Responses &amp; Learning Insights</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Accelerating First Response Time while capturing weekly friction points across departments.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21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257800" cy="4480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F8FAFC"/>
                </a:solidFill>
                <a:latin typeface="Calibri"/>
              </a:defRPr>
            </a:pPr>
            <a:r>
              <a:t>1. Autonomous Department Auto-Replies</a:t>
            </a:r>
          </a:p>
          <a:p>
            <a:pPr>
              <a:defRPr sz="919">
                <a:solidFill>
                  <a:srgbClr val="94A3B8"/>
                </a:solidFill>
                <a:latin typeface="Calibri"/>
              </a:defRPr>
            </a:pPr>
            <a:r>
              <a:t>Instant confirmation &amp; automated action triggers</a:t>
            </a:r>
          </a:p>
        </p:txBody>
      </p:sp>
      <p:sp>
        <p:nvSpPr>
          <p:cNvPr id="12" name="Rounded Rectangle 11"/>
          <p:cNvSpPr/>
          <p:nvPr/>
        </p:nvSpPr>
        <p:spPr>
          <a:xfrm>
            <a:off x="832103" y="2249424"/>
            <a:ext cx="5056632" cy="276148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epartments_live.png"/>
          <p:cNvPicPr>
            <a:picLocks noChangeAspect="1"/>
          </p:cNvPicPr>
          <p:nvPr/>
        </p:nvPicPr>
        <p:blipFill>
          <a:blip r:embed="rId2"/>
          <a:stretch>
            <a:fillRect/>
          </a:stretch>
        </p:blipFill>
        <p:spPr>
          <a:xfrm>
            <a:off x="868680" y="2286000"/>
            <a:ext cx="4983480" cy="2468880"/>
          </a:xfrm>
          <a:prstGeom prst="rect">
            <a:avLst/>
          </a:prstGeom>
        </p:spPr>
      </p:pic>
      <p:sp>
        <p:nvSpPr>
          <p:cNvPr id="14" name="TextBox 13"/>
          <p:cNvSpPr txBox="1"/>
          <p:nvPr/>
        </p:nvSpPr>
        <p:spPr>
          <a:xfrm>
            <a:off x="868680" y="477316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4 Core Departmental Routing Policies on Render (DepartmentsPage.jsx)</a:t>
            </a:r>
          </a:p>
        </p:txBody>
      </p:sp>
      <p:sp>
        <p:nvSpPr>
          <p:cNvPr id="15" name="TextBox 14"/>
          <p:cNvSpPr txBox="1"/>
          <p:nvPr/>
        </p:nvSpPr>
        <p:spPr>
          <a:xfrm>
            <a:off x="91440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4 Department Policies: </a:t>
            </a:r>
            <a:r>
              <a:rPr sz="950">
                <a:solidFill>
                  <a:srgbClr val="94A3B8"/>
                </a:solidFill>
                <a:latin typeface="Calibri"/>
              </a:rPr>
              <a:t>Tech Support (80%), Billing (85%), Identity (90%), API (85%).</a:t>
            </a:r>
          </a:p>
          <a:p>
            <a:pPr>
              <a:spcBef>
                <a:spcPts val="200"/>
              </a:spcBef>
            </a:pPr>
            <a:r>
              <a:rPr sz="950" b="1">
                <a:solidFill>
                  <a:srgbClr val="F8FAFC"/>
                </a:solidFill>
                <a:latin typeface="Calibri"/>
              </a:rPr>
              <a:t>•  Automated Diagnostics: </a:t>
            </a:r>
            <a:r>
              <a:rPr sz="950">
                <a:solidFill>
                  <a:srgbClr val="94A3B8"/>
                </a:solidFill>
                <a:latin typeface="Calibri"/>
              </a:rPr>
              <a:t>Dispatches instant confirmations and traces gateway logs in &lt; 2s.</a:t>
            </a:r>
          </a:p>
        </p:txBody>
      </p:sp>
      <p:sp>
        <p:nvSpPr>
          <p:cNvPr id="16" name="Rounded Rectangle 15"/>
          <p:cNvSpPr/>
          <p:nvPr/>
        </p:nvSpPr>
        <p:spPr>
          <a:xfrm>
            <a:off x="6172200" y="1691640"/>
            <a:ext cx="5257800"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856232"/>
            <a:ext cx="4855464" cy="320040"/>
          </a:xfrm>
          <a:prstGeom prst="rect">
            <a:avLst/>
          </a:prstGeom>
          <a:noFill/>
        </p:spPr>
        <p:txBody>
          <a:bodyPr wrap="square" lIns="0" tIns="0" rIns="0" bIns="0">
            <a:spAutoFit/>
          </a:bodyPr>
          <a:lstStyle/>
          <a:p>
            <a:pPr>
              <a:defRPr sz="1200" b="1">
                <a:solidFill>
                  <a:srgbClr val="F8FAFC"/>
                </a:solidFill>
                <a:latin typeface="Calibri"/>
              </a:defRPr>
            </a:pPr>
            <a:r>
              <a:t>2. AI Learning Insights &amp; Reopened Summaries</a:t>
            </a:r>
          </a:p>
          <a:p>
            <a:pPr>
              <a:defRPr sz="919">
                <a:solidFill>
                  <a:srgbClr val="94A3B8"/>
                </a:solidFill>
                <a:latin typeface="Calibri"/>
              </a:defRPr>
            </a:pPr>
            <a:r>
              <a:t>Turning support tickets into organizational intelligence</a:t>
            </a:r>
          </a:p>
        </p:txBody>
      </p:sp>
      <p:sp>
        <p:nvSpPr>
          <p:cNvPr id="18" name="Rounded Rectangle 17"/>
          <p:cNvSpPr/>
          <p:nvPr/>
        </p:nvSpPr>
        <p:spPr>
          <a:xfrm>
            <a:off x="6272784" y="2249424"/>
            <a:ext cx="5056632" cy="276148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nsights_live.png"/>
          <p:cNvPicPr>
            <a:picLocks noChangeAspect="1"/>
          </p:cNvPicPr>
          <p:nvPr/>
        </p:nvPicPr>
        <p:blipFill>
          <a:blip r:embed="rId3"/>
          <a:stretch>
            <a:fillRect/>
          </a:stretch>
        </p:blipFill>
        <p:spPr>
          <a:xfrm>
            <a:off x="6309360" y="2286000"/>
            <a:ext cx="4983480" cy="2468880"/>
          </a:xfrm>
          <a:prstGeom prst="rect">
            <a:avLst/>
          </a:prstGeom>
        </p:spPr>
      </p:pic>
      <p:sp>
        <p:nvSpPr>
          <p:cNvPr id="20" name="TextBox 19"/>
          <p:cNvSpPr txBox="1"/>
          <p:nvPr/>
        </p:nvSpPr>
        <p:spPr>
          <a:xfrm>
            <a:off x="6309360" y="4773168"/>
            <a:ext cx="4983480" cy="256032"/>
          </a:xfrm>
          <a:prstGeom prst="rect">
            <a:avLst/>
          </a:prstGeom>
          <a:noFill/>
        </p:spPr>
        <p:txBody>
          <a:bodyPr wrap="square" lIns="0" tIns="0" rIns="0" bIns="0">
            <a:spAutoFit/>
          </a:bodyPr>
          <a:lstStyle/>
          <a:p>
            <a:pPr algn="ctr">
              <a:defRPr sz="880">
                <a:solidFill>
                  <a:srgbClr val="38BDF8"/>
                </a:solidFill>
                <a:latin typeface="Calibri"/>
              </a:defRPr>
            </a:pPr>
            <a:r>
              <a:t>Live Production: AI Learning Insights &amp; weekly support trends (InsightsPage.jsx)</a:t>
            </a:r>
          </a:p>
        </p:txBody>
      </p:sp>
      <p:sp>
        <p:nvSpPr>
          <p:cNvPr id="21" name="TextBox 20"/>
          <p:cNvSpPr txBox="1"/>
          <p:nvPr/>
        </p:nvSpPr>
        <p:spPr>
          <a:xfrm>
            <a:off x="6355080" y="4983480"/>
            <a:ext cx="4892040" cy="1051560"/>
          </a:xfrm>
          <a:prstGeom prst="rect">
            <a:avLst/>
          </a:prstGeom>
          <a:noFill/>
        </p:spPr>
        <p:txBody>
          <a:bodyPr wrap="square" lIns="0" tIns="0" rIns="0" bIns="0">
            <a:spAutoFit/>
          </a:bodyPr>
          <a:lstStyle/>
          <a:p>
            <a:pPr>
              <a:spcBef>
                <a:spcPts val="200"/>
              </a:spcBef>
            </a:pPr>
            <a:r>
              <a:rPr sz="950" b="1">
                <a:solidFill>
                  <a:srgbClr val="F8FAFC"/>
                </a:solidFill>
                <a:latin typeface="Calibri"/>
              </a:rPr>
              <a:t>•  Weekly Insights Aggregation: </a:t>
            </a:r>
            <a:r>
              <a:rPr sz="950">
                <a:solidFill>
                  <a:srgbClr val="94A3B8"/>
                </a:solidFill>
                <a:latin typeface="Calibri"/>
              </a:rPr>
              <a:t>Summarizes top recurring issues, agent mistakes, and product bugs.</a:t>
            </a:r>
          </a:p>
          <a:p>
            <a:pPr>
              <a:spcBef>
                <a:spcPts val="200"/>
              </a:spcBef>
            </a:pPr>
            <a:r>
              <a:rPr sz="950" b="1">
                <a:solidFill>
                  <a:srgbClr val="F8FAFC"/>
                </a:solidFill>
                <a:latin typeface="Calibri"/>
              </a:rPr>
              <a:t>•  Reopened Ticket Summarizer: </a:t>
            </a:r>
            <a:r>
              <a:rPr sz="950">
                <a:solidFill>
                  <a:srgbClr val="94A3B8"/>
                </a:solidFill>
                <a:latin typeface="Calibri"/>
              </a:rPr>
              <a:t>Async worker condenses 20 past messages into a 5-bullet TL;DR banner.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DEVOPS &amp; CLOUD DEPLOYMENT</a:t>
            </a:r>
          </a:p>
        </p:txBody>
      </p:sp>
      <p:sp>
        <p:nvSpPr>
          <p:cNvPr id="4" name="Rounded Rectangle 3"/>
          <p:cNvSpPr/>
          <p:nvPr/>
        </p:nvSpPr>
        <p:spPr>
          <a:xfrm>
            <a:off x="7315200" y="347472"/>
            <a:ext cx="4114800" cy="292608"/>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Aarti Singh  |  DevOps, QA &amp; Doc Lead</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Docker Multi-Stage Containers, Render Blueprint &amp; CI/CD</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Production cloud deployment on Render and Supabase with automated GitHub Actions CI/CD.</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22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2514600" cy="146304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801368"/>
            <a:ext cx="2185416" cy="1243584"/>
          </a:xfrm>
          <a:prstGeom prst="rect">
            <a:avLst/>
          </a:prstGeom>
          <a:noFill/>
        </p:spPr>
        <p:txBody>
          <a:bodyPr wrap="square" lIns="0" tIns="0" rIns="0" bIns="0">
            <a:spAutoFit/>
          </a:bodyPr>
          <a:lstStyle/>
          <a:p>
            <a:pPr>
              <a:defRPr sz="2700" b="1">
                <a:solidFill>
                  <a:srgbClr val="3B82F6"/>
                </a:solidFill>
                <a:latin typeface="Calibri"/>
              </a:defRPr>
            </a:pPr>
            <a:r>
              <a:t>1 Command</a:t>
            </a:r>
          </a:p>
          <a:p>
            <a:pPr>
              <a:spcBef>
                <a:spcPts val="300"/>
              </a:spcBef>
              <a:defRPr sz="1150" b="1">
                <a:solidFill>
                  <a:srgbClr val="F8FAFC"/>
                </a:solidFill>
                <a:latin typeface="Calibri"/>
              </a:defRPr>
            </a:pPr>
            <a:r>
              <a:t>Local Docker Boot</a:t>
            </a:r>
          </a:p>
          <a:p>
            <a:pPr>
              <a:spcBef>
                <a:spcPts val="200"/>
              </a:spcBef>
              <a:defRPr sz="900">
                <a:solidFill>
                  <a:srgbClr val="94A3B8"/>
                </a:solidFill>
                <a:latin typeface="Calibri"/>
              </a:defRPr>
            </a:pPr>
            <a:r>
              <a:t>docker compose up -d launches all 4 tiers in under 45 seconds</a:t>
            </a:r>
          </a:p>
        </p:txBody>
      </p:sp>
      <p:sp>
        <p:nvSpPr>
          <p:cNvPr id="12" name="Rounded Rectangle 11"/>
          <p:cNvSpPr/>
          <p:nvPr/>
        </p:nvSpPr>
        <p:spPr>
          <a:xfrm>
            <a:off x="3429000" y="1691640"/>
            <a:ext cx="2514600" cy="14630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801368"/>
            <a:ext cx="2185416" cy="1243584"/>
          </a:xfrm>
          <a:prstGeom prst="rect">
            <a:avLst/>
          </a:prstGeom>
          <a:noFill/>
        </p:spPr>
        <p:txBody>
          <a:bodyPr wrap="square" lIns="0" tIns="0" rIns="0" bIns="0">
            <a:spAutoFit/>
          </a:bodyPr>
          <a:lstStyle/>
          <a:p>
            <a:pPr>
              <a:defRPr sz="2700" b="1">
                <a:solidFill>
                  <a:srgbClr val="38BDF8"/>
                </a:solidFill>
                <a:latin typeface="Calibri"/>
              </a:defRPr>
            </a:pPr>
            <a:r>
              <a:t>1-Click</a:t>
            </a:r>
          </a:p>
          <a:p>
            <a:pPr>
              <a:spcBef>
                <a:spcPts val="300"/>
              </a:spcBef>
              <a:defRPr sz="1150" b="1">
                <a:solidFill>
                  <a:srgbClr val="F8FAFC"/>
                </a:solidFill>
                <a:latin typeface="Calibri"/>
              </a:defRPr>
            </a:pPr>
            <a:r>
              <a:t>Render Blueprint</a:t>
            </a:r>
          </a:p>
          <a:p>
            <a:pPr>
              <a:spcBef>
                <a:spcPts val="200"/>
              </a:spcBef>
              <a:defRPr sz="900">
                <a:solidFill>
                  <a:srgbClr val="94A3B8"/>
                </a:solidFill>
                <a:latin typeface="Calibri"/>
              </a:defRPr>
            </a:pPr>
            <a:r>
              <a:t>render.yaml provisions PostgreSQL, Express, FastAPI, and Vite SPA</a:t>
            </a:r>
          </a:p>
        </p:txBody>
      </p:sp>
      <p:sp>
        <p:nvSpPr>
          <p:cNvPr id="14" name="Rounded Rectangle 13"/>
          <p:cNvSpPr/>
          <p:nvPr/>
        </p:nvSpPr>
        <p:spPr>
          <a:xfrm>
            <a:off x="6126480" y="1691640"/>
            <a:ext cx="2514600" cy="14630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801368"/>
            <a:ext cx="2185416" cy="1243584"/>
          </a:xfrm>
          <a:prstGeom prst="rect">
            <a:avLst/>
          </a:prstGeom>
          <a:noFill/>
        </p:spPr>
        <p:txBody>
          <a:bodyPr wrap="square" lIns="0" tIns="0" rIns="0" bIns="0">
            <a:spAutoFit/>
          </a:bodyPr>
          <a:lstStyle/>
          <a:p>
            <a:pPr>
              <a:defRPr sz="2700" b="1">
                <a:solidFill>
                  <a:srgbClr val="10B981"/>
                </a:solidFill>
                <a:latin typeface="Calibri"/>
              </a:defRPr>
            </a:pPr>
            <a:r>
              <a:t>100%</a:t>
            </a:r>
          </a:p>
          <a:p>
            <a:pPr>
              <a:spcBef>
                <a:spcPts val="300"/>
              </a:spcBef>
              <a:defRPr sz="1150" b="1">
                <a:solidFill>
                  <a:srgbClr val="F8FAFC"/>
                </a:solidFill>
                <a:latin typeface="Calibri"/>
              </a:defRPr>
            </a:pPr>
            <a:r>
              <a:t>CI/CD Pass Rate</a:t>
            </a:r>
          </a:p>
          <a:p>
            <a:pPr>
              <a:spcBef>
                <a:spcPts val="200"/>
              </a:spcBef>
              <a:defRPr sz="900">
                <a:solidFill>
                  <a:srgbClr val="94A3B8"/>
                </a:solidFill>
                <a:latin typeface="Calibri"/>
              </a:defRPr>
            </a:pPr>
            <a:r>
              <a:t>GitHub Actions validates Jest, Pytest, and Vite build on every PR</a:t>
            </a:r>
          </a:p>
        </p:txBody>
      </p:sp>
      <p:sp>
        <p:nvSpPr>
          <p:cNvPr id="16" name="Rounded Rectangle 15"/>
          <p:cNvSpPr/>
          <p:nvPr/>
        </p:nvSpPr>
        <p:spPr>
          <a:xfrm>
            <a:off x="8823960" y="1691640"/>
            <a:ext cx="2514600" cy="14630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8552" y="1801368"/>
            <a:ext cx="2185416" cy="1243584"/>
          </a:xfrm>
          <a:prstGeom prst="rect">
            <a:avLst/>
          </a:prstGeom>
          <a:noFill/>
        </p:spPr>
        <p:txBody>
          <a:bodyPr wrap="square" lIns="0" tIns="0" rIns="0" bIns="0">
            <a:spAutoFit/>
          </a:bodyPr>
          <a:lstStyle/>
          <a:p>
            <a:pPr>
              <a:defRPr sz="2700" b="1">
                <a:solidFill>
                  <a:srgbClr val="F59E0B"/>
                </a:solidFill>
                <a:latin typeface="Calibri"/>
              </a:defRPr>
            </a:pPr>
            <a:r>
              <a:t>SSL Ready</a:t>
            </a:r>
          </a:p>
          <a:p>
            <a:pPr>
              <a:spcBef>
                <a:spcPts val="300"/>
              </a:spcBef>
              <a:defRPr sz="1150" b="1">
                <a:solidFill>
                  <a:srgbClr val="F8FAFC"/>
                </a:solidFill>
                <a:latin typeface="Calibri"/>
              </a:defRPr>
            </a:pPr>
            <a:r>
              <a:t>Cloud Infrastructure</a:t>
            </a:r>
          </a:p>
          <a:p>
            <a:pPr>
              <a:spcBef>
                <a:spcPts val="200"/>
              </a:spcBef>
              <a:defRPr sz="900">
                <a:solidFill>
                  <a:srgbClr val="94A3B8"/>
                </a:solidFill>
                <a:latin typeface="Calibri"/>
              </a:defRPr>
            </a:pPr>
            <a:r>
              <a:t>Full HTTPS encryption across all endpoints and Supabase database</a:t>
            </a:r>
          </a:p>
        </p:txBody>
      </p:sp>
      <p:sp>
        <p:nvSpPr>
          <p:cNvPr id="18" name="Rounded Rectangle 17"/>
          <p:cNvSpPr/>
          <p:nvPr/>
        </p:nvSpPr>
        <p:spPr>
          <a:xfrm>
            <a:off x="731520" y="3383280"/>
            <a:ext cx="5257800"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547872"/>
            <a:ext cx="4855464" cy="320040"/>
          </a:xfrm>
          <a:prstGeom prst="rect">
            <a:avLst/>
          </a:prstGeom>
          <a:noFill/>
        </p:spPr>
        <p:txBody>
          <a:bodyPr wrap="square" lIns="0" tIns="0" rIns="0" bIns="0">
            <a:spAutoFit/>
          </a:bodyPr>
          <a:lstStyle/>
          <a:p>
            <a:pPr>
              <a:defRPr sz="1200" b="1">
                <a:solidFill>
                  <a:srgbClr val="F8FAFC"/>
                </a:solidFill>
                <a:latin typeface="Calibri"/>
              </a:defRPr>
            </a:pPr>
            <a:r>
              <a:t>Docker Multi-Stage Containerization</a:t>
            </a:r>
          </a:p>
          <a:p>
            <a:pPr>
              <a:defRPr sz="919">
                <a:solidFill>
                  <a:srgbClr val="94A3B8"/>
                </a:solidFill>
                <a:latin typeface="Calibri"/>
              </a:defRPr>
            </a:pPr>
            <a:r>
              <a:t>Optimized production container images</a:t>
            </a:r>
          </a:p>
        </p:txBody>
      </p:sp>
      <p:sp>
        <p:nvSpPr>
          <p:cNvPr id="20" name="TextBox 19"/>
          <p:cNvSpPr txBox="1"/>
          <p:nvPr/>
        </p:nvSpPr>
        <p:spPr>
          <a:xfrm>
            <a:off x="914400" y="3977639"/>
            <a:ext cx="4846320" cy="2103120"/>
          </a:xfrm>
          <a:prstGeom prst="rect">
            <a:avLst/>
          </a:prstGeom>
          <a:noFill/>
        </p:spPr>
        <p:txBody>
          <a:bodyPr wrap="square" lIns="0" tIns="0" rIns="0" bIns="0">
            <a:spAutoFit/>
          </a:bodyPr>
          <a:lstStyle/>
          <a:p>
            <a:pPr>
              <a:spcBef>
                <a:spcPts val="400"/>
              </a:spcBef>
            </a:pPr>
            <a:r>
              <a:rPr sz="1050" b="1">
                <a:solidFill>
                  <a:srgbClr val="F8FAFC"/>
                </a:solidFill>
                <a:latin typeface="Calibri"/>
              </a:rPr>
              <a:t>•  Frontend Container (frontend/Dockerfile): </a:t>
            </a:r>
            <a:r>
              <a:rPr sz="1050">
                <a:solidFill>
                  <a:srgbClr val="94A3B8"/>
                </a:solidFill>
                <a:latin typeface="Calibri"/>
              </a:rPr>
              <a:t>Multi-stage build: compiles Vite bundle and serves static assets via Nginx Alpine (final image &lt; 25 MB).</a:t>
            </a:r>
          </a:p>
          <a:p>
            <a:pPr>
              <a:spcBef>
                <a:spcPts val="400"/>
              </a:spcBef>
            </a:pPr>
            <a:r>
              <a:rPr sz="1050" b="1">
                <a:solidFill>
                  <a:srgbClr val="F8FAFC"/>
                </a:solidFill>
                <a:latin typeface="Calibri"/>
              </a:rPr>
              <a:t>•  Backend Container (backend/Dockerfile): </a:t>
            </a:r>
            <a:r>
              <a:rPr sz="1050">
                <a:solidFill>
                  <a:srgbClr val="94A3B8"/>
                </a:solidFill>
                <a:latin typeface="Calibri"/>
              </a:rPr>
              <a:t>Node.js 18 Alpine runtime with npm prune --production for minimal image footprint (140 MB).</a:t>
            </a:r>
          </a:p>
          <a:p>
            <a:pPr>
              <a:spcBef>
                <a:spcPts val="400"/>
              </a:spcBef>
            </a:pPr>
            <a:r>
              <a:rPr sz="1050" b="1">
                <a:solidFill>
                  <a:srgbClr val="F8FAFC"/>
                </a:solidFill>
                <a:latin typeface="Calibri"/>
              </a:rPr>
              <a:t>•  AI Microservice (ai-service/Dockerfile): </a:t>
            </a:r>
            <a:r>
              <a:rPr sz="1050">
                <a:solidFill>
                  <a:srgbClr val="94A3B8"/>
                </a:solidFill>
                <a:latin typeface="Calibri"/>
              </a:rPr>
              <a:t>Python 3.10 slim base with cached wheels and non-root execution (210 MB).</a:t>
            </a:r>
          </a:p>
          <a:p>
            <a:pPr>
              <a:spcBef>
                <a:spcPts val="400"/>
              </a:spcBef>
            </a:pPr>
            <a:r>
              <a:rPr sz="1050" b="1">
                <a:solidFill>
                  <a:srgbClr val="F8FAFC"/>
                </a:solidFill>
                <a:latin typeface="Calibri"/>
              </a:rPr>
              <a:t>•  Docker Compose (deployment/docker-compose.yml): </a:t>
            </a:r>
            <a:r>
              <a:rPr sz="1050">
                <a:solidFill>
                  <a:srgbClr val="94A3B8"/>
                </a:solidFill>
                <a:latin typeface="Calibri"/>
              </a:rPr>
              <a:t>Orchestrates database, backend, AI microservice, and frontend on unified bridge network.</a:t>
            </a:r>
          </a:p>
        </p:txBody>
      </p:sp>
      <p:sp>
        <p:nvSpPr>
          <p:cNvPr id="21" name="Rounded Rectangle 20"/>
          <p:cNvSpPr/>
          <p:nvPr/>
        </p:nvSpPr>
        <p:spPr>
          <a:xfrm>
            <a:off x="6172200" y="3383280"/>
            <a:ext cx="5257800" cy="2834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3547872"/>
            <a:ext cx="4855464" cy="320040"/>
          </a:xfrm>
          <a:prstGeom prst="rect">
            <a:avLst/>
          </a:prstGeom>
          <a:noFill/>
        </p:spPr>
        <p:txBody>
          <a:bodyPr wrap="square" lIns="0" tIns="0" rIns="0" bIns="0">
            <a:spAutoFit/>
          </a:bodyPr>
          <a:lstStyle/>
          <a:p>
            <a:pPr>
              <a:defRPr sz="1200" b="1">
                <a:solidFill>
                  <a:srgbClr val="F8FAFC"/>
                </a:solidFill>
                <a:latin typeface="Calibri"/>
              </a:defRPr>
            </a:pPr>
            <a:r>
              <a:t>Render Blueprint Orchestration &amp; CI/CD</a:t>
            </a:r>
          </a:p>
          <a:p>
            <a:pPr>
              <a:defRPr sz="919">
                <a:solidFill>
                  <a:srgbClr val="94A3B8"/>
                </a:solidFill>
                <a:latin typeface="Calibri"/>
              </a:defRPr>
            </a:pPr>
            <a:r>
              <a:t>render.yaml Blueprint specification</a:t>
            </a:r>
          </a:p>
        </p:txBody>
      </p:sp>
      <p:sp>
        <p:nvSpPr>
          <p:cNvPr id="23" name="TextBox 22"/>
          <p:cNvSpPr txBox="1"/>
          <p:nvPr/>
        </p:nvSpPr>
        <p:spPr>
          <a:xfrm>
            <a:off x="6355080" y="3977639"/>
            <a:ext cx="4846320" cy="2103120"/>
          </a:xfrm>
          <a:prstGeom prst="rect">
            <a:avLst/>
          </a:prstGeom>
          <a:noFill/>
        </p:spPr>
        <p:txBody>
          <a:bodyPr wrap="square" lIns="0" tIns="0" rIns="0" bIns="0">
            <a:spAutoFit/>
          </a:bodyPr>
          <a:lstStyle/>
          <a:p>
            <a:pPr>
              <a:spcBef>
                <a:spcPts val="400"/>
              </a:spcBef>
            </a:pPr>
            <a:r>
              <a:rPr sz="1050" b="1">
                <a:solidFill>
                  <a:srgbClr val="F8FAFC"/>
                </a:solidFill>
                <a:latin typeface="Calibri"/>
              </a:rPr>
              <a:t>•  Render Blueprint (render.yaml): </a:t>
            </a:r>
            <a:r>
              <a:rPr sz="1050">
                <a:solidFill>
                  <a:srgbClr val="94A3B8"/>
                </a:solidFill>
                <a:latin typeface="Calibri"/>
              </a:rPr>
              <a:t>Defines production web services for Express backend, FastAPI microservice, React frontend, and managed PostgreSQL.</a:t>
            </a:r>
          </a:p>
          <a:p>
            <a:pPr>
              <a:spcBef>
                <a:spcPts val="400"/>
              </a:spcBef>
            </a:pPr>
            <a:r>
              <a:rPr sz="1050" b="1">
                <a:solidFill>
                  <a:srgbClr val="F8FAFC"/>
                </a:solidFill>
                <a:latin typeface="Calibri"/>
              </a:rPr>
              <a:t>•  GitHub Actions Pipeline (.github/workflows/ci.yml): </a:t>
            </a:r>
            <a:r>
              <a:rPr sz="1050">
                <a:solidFill>
                  <a:srgbClr val="94A3B8"/>
                </a:solidFill>
                <a:latin typeface="Calibri"/>
              </a:rPr>
              <a:t>Spins up live postgres:15-alpine container, seeds database, and executes Jest and Pytest suites in parallel.</a:t>
            </a:r>
          </a:p>
          <a:p>
            <a:pPr>
              <a:spcBef>
                <a:spcPts val="400"/>
              </a:spcBef>
            </a:pPr>
            <a:r>
              <a:rPr sz="1050" b="1">
                <a:solidFill>
                  <a:srgbClr val="F8FAFC"/>
                </a:solidFill>
                <a:latin typeface="Calibri"/>
              </a:rPr>
              <a:t>•  Zero Downtime Delivery: </a:t>
            </a:r>
            <a:r>
              <a:rPr sz="1050">
                <a:solidFill>
                  <a:srgbClr val="94A3B8"/>
                </a:solidFill>
                <a:latin typeface="Calibri"/>
              </a:rPr>
              <a:t>Automated health checks (/health) ensure services only receive traffic after complete database initialization.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SYSTEM ARCHITECTURE</a:t>
            </a:r>
          </a:p>
        </p:txBody>
      </p:sp>
      <p:sp>
        <p:nvSpPr>
          <p:cNvPr id="4" name="Rounded Rectangle 3"/>
          <p:cNvSpPr/>
          <p:nvPr/>
        </p:nvSpPr>
        <p:spPr>
          <a:xfrm>
            <a:off x="7315200" y="347472"/>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System Architecture</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End-to-End System Architecture &amp; Component Interaction</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The complete 3-tier micro-architecture connecting clients, REST APIs, databases, and AI microservices.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23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pic>
        <p:nvPicPr>
          <p:cNvPr id="10" name="Picture 9" descr="docs_system_architecture.png"/>
          <p:cNvPicPr>
            <a:picLocks noChangeAspect="1"/>
          </p:cNvPicPr>
          <p:nvPr/>
        </p:nvPicPr>
        <p:blipFill>
          <a:blip r:embed="rId2"/>
          <a:stretch>
            <a:fillRect/>
          </a:stretch>
        </p:blipFill>
        <p:spPr>
          <a:xfrm>
            <a:off x="731520" y="1691640"/>
            <a:ext cx="6583680" cy="3887506"/>
          </a:xfrm>
          <a:prstGeom prst="rect">
            <a:avLst/>
          </a:prstGeom>
        </p:spPr>
      </p:pic>
      <p:sp>
        <p:nvSpPr>
          <p:cNvPr id="11" name="Rounded Rectangle 10"/>
          <p:cNvSpPr/>
          <p:nvPr/>
        </p:nvSpPr>
        <p:spPr>
          <a:xfrm>
            <a:off x="7498079" y="1691640"/>
            <a:ext cx="3962095" cy="4480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1856232"/>
            <a:ext cx="3559759" cy="320040"/>
          </a:xfrm>
          <a:prstGeom prst="rect">
            <a:avLst/>
          </a:prstGeom>
          <a:noFill/>
        </p:spPr>
        <p:txBody>
          <a:bodyPr wrap="square" lIns="0" tIns="0" rIns="0" bIns="0">
            <a:spAutoFit/>
          </a:bodyPr>
          <a:lstStyle/>
          <a:p>
            <a:pPr>
              <a:defRPr sz="1200" b="1">
                <a:solidFill>
                  <a:srgbClr val="F8FAFC"/>
                </a:solidFill>
                <a:latin typeface="Calibri"/>
              </a:defRPr>
            </a:pPr>
            <a:r>
              <a:t>Architectural Flow Breakdown</a:t>
            </a:r>
          </a:p>
          <a:p>
            <a:pPr>
              <a:defRPr sz="919">
                <a:solidFill>
                  <a:srgbClr val="94A3B8"/>
                </a:solidFill>
                <a:latin typeface="Calibri"/>
              </a:defRPr>
            </a:pPr>
            <a:r>
              <a:t>4 Interconnected Tiers</a:t>
            </a:r>
          </a:p>
        </p:txBody>
      </p:sp>
      <p:sp>
        <p:nvSpPr>
          <p:cNvPr id="13" name="TextBox 12"/>
          <p:cNvSpPr txBox="1"/>
          <p:nvPr/>
        </p:nvSpPr>
        <p:spPr>
          <a:xfrm>
            <a:off x="7726679" y="2240280"/>
            <a:ext cx="3520440" cy="3749039"/>
          </a:xfrm>
          <a:prstGeom prst="rect">
            <a:avLst/>
          </a:prstGeom>
          <a:noFill/>
        </p:spPr>
        <p:txBody>
          <a:bodyPr wrap="square" lIns="0" tIns="0" rIns="0" bIns="0">
            <a:spAutoFit/>
          </a:bodyPr>
          <a:lstStyle/>
          <a:p>
            <a:pPr>
              <a:spcBef>
                <a:spcPts val="600"/>
              </a:spcBef>
            </a:pPr>
            <a:r>
              <a:rPr sz="1050" b="1">
                <a:solidFill>
                  <a:srgbClr val="F8FAFC"/>
                </a:solidFill>
                <a:latin typeface="Calibri"/>
              </a:rPr>
              <a:t>•  Tier 1: Client SPA: </a:t>
            </a:r>
            <a:r>
              <a:rPr sz="1050">
                <a:solidFill>
                  <a:srgbClr val="94A3B8"/>
                </a:solidFill>
                <a:latin typeface="Calibri"/>
              </a:rPr>
              <a:t>React 18 + Vite Single Page Application rendering dual-pane workbench, customer portal, and AI drawer.</a:t>
            </a:r>
          </a:p>
          <a:p>
            <a:pPr>
              <a:spcBef>
                <a:spcPts val="600"/>
              </a:spcBef>
            </a:pPr>
            <a:r>
              <a:rPr sz="1050" b="1">
                <a:solidFill>
                  <a:srgbClr val="F8FAFC"/>
                </a:solidFill>
                <a:latin typeface="Calibri"/>
              </a:rPr>
              <a:t>•  Tier 2: Application Core: </a:t>
            </a:r>
            <a:r>
              <a:rPr sz="1050">
                <a:solidFill>
                  <a:srgbClr val="94A3B8"/>
                </a:solidFill>
                <a:latin typeface="Calibri"/>
              </a:rPr>
              <a:t>Node.js &amp; Express REST server managing JWT authentication, state transitions, transactions, and AI proxy routing.</a:t>
            </a:r>
          </a:p>
          <a:p>
            <a:pPr>
              <a:spcBef>
                <a:spcPts val="600"/>
              </a:spcBef>
            </a:pPr>
            <a:r>
              <a:rPr sz="1050" b="1">
                <a:solidFill>
                  <a:srgbClr val="F8FAFC"/>
                </a:solidFill>
                <a:latin typeface="Calibri"/>
              </a:rPr>
              <a:t>•  Tier 3: Database Engine: </a:t>
            </a:r>
            <a:r>
              <a:rPr sz="1050">
                <a:solidFill>
                  <a:srgbClr val="94A3B8"/>
                </a:solidFill>
                <a:latin typeface="Calibri"/>
              </a:rPr>
              <a:t>PostgreSQL 15 / Supabase Cloud storing relational tables with connection pooling and B-tree indexes.</a:t>
            </a:r>
          </a:p>
          <a:p>
            <a:pPr>
              <a:spcBef>
                <a:spcPts val="600"/>
              </a:spcBef>
            </a:pPr>
            <a:r>
              <a:rPr sz="1050" b="1">
                <a:solidFill>
                  <a:srgbClr val="F8FAFC"/>
                </a:solidFill>
                <a:latin typeface="Calibri"/>
              </a:rPr>
              <a:t>•  Tier 4: AI Microservice: </a:t>
            </a:r>
            <a:r>
              <a:rPr sz="1050">
                <a:solidFill>
                  <a:srgbClr val="94A3B8"/>
                </a:solidFill>
                <a:latin typeface="Calibri"/>
              </a:rPr>
              <a:t>Python FastAPI microservice executing role-based prompts with Google Gemini 1.5 Flash.</a:t>
            </a:r>
          </a:p>
          <a:p>
            <a:pPr>
              <a:spcBef>
                <a:spcPts val="600"/>
              </a:spcBef>
            </a:pPr>
            <a:r>
              <a:rPr sz="1050" b="1">
                <a:solidFill>
                  <a:srgbClr val="F8FAFC"/>
                </a:solidFill>
                <a:latin typeface="Calibri"/>
              </a:rPr>
              <a:t>•  Data Grounding: </a:t>
            </a:r>
            <a:r>
              <a:rPr sz="1050">
                <a:solidFill>
                  <a:srgbClr val="94A3B8"/>
                </a:solidFill>
                <a:latin typeface="Calibri"/>
              </a:rPr>
              <a:t>Kaggle historical CSVs and Hugging Face streaming datasets calibrating triage accuracy and SLAs.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EMPIRICAL EVALUATION</a:t>
            </a:r>
          </a:p>
        </p:txBody>
      </p:sp>
      <p:sp>
        <p:nvSpPr>
          <p:cNvPr id="4" name="Rounded Rectangle 3"/>
          <p:cNvSpPr/>
          <p:nvPr/>
        </p:nvSpPr>
        <p:spPr>
          <a:xfrm>
            <a:off x="7315200" y="347472"/>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Empirical Evaluation</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Empirical Proof: Benchmarks &amp; Performance Metrics</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Rigorous data proving accuracy, latency, and test pass rates across 100 benchmark scenarios.</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24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graphicFrame>
        <p:nvGraphicFramePr>
          <p:cNvPr id="10" name="Table 9"/>
          <p:cNvGraphicFramePr>
            <a:graphicFrameLocks noGrp="1"/>
          </p:cNvGraphicFramePr>
          <p:nvPr/>
        </p:nvGraphicFramePr>
        <p:xfrm>
          <a:off x="731520" y="1691640"/>
          <a:ext cx="5669280" cy="4480560"/>
        </p:xfrm>
        <a:graphic>
          <a:graphicData uri="http://schemas.openxmlformats.org/drawingml/2006/table">
            <a:tbl>
              <a:tblPr firstRow="1" bandRow="1">
                <a:tableStyleId>{5C22544A-7EE6-4342-B048-85BDC9FD1C3A}</a:tableStyleId>
              </a:tblPr>
              <a:tblGrid>
                <a:gridCol w="1737360"/>
                <a:gridCol w="1554480"/>
                <a:gridCol w="1371600"/>
                <a:gridCol w="1005840"/>
              </a:tblGrid>
              <a:tr h="560070">
                <a:tc>
                  <a:txBody>
                    <a:bodyPr/>
                    <a:lstStyle/>
                    <a:p>
                      <a:pPr algn="l">
                        <a:defRPr sz="1000" b="1">
                          <a:solidFill>
                            <a:srgbClr val="38BDF8"/>
                          </a:solidFill>
                          <a:latin typeface="Calibri"/>
                        </a:defRPr>
                      </a:pPr>
                      <a:r>
                        <a:t>AI Feature / Capability</a:t>
                      </a:r>
                    </a:p>
                  </a:txBody>
                  <a:tcPr anchor="ctr">
                    <a:solidFill>
                      <a:srgbClr val="1E293B"/>
                    </a:solidFill>
                  </a:tcPr>
                </a:tc>
                <a:tc>
                  <a:txBody>
                    <a:bodyPr/>
                    <a:lstStyle/>
                    <a:p>
                      <a:pPr algn="l">
                        <a:defRPr sz="1000" b="1">
                          <a:solidFill>
                            <a:srgbClr val="38BDF8"/>
                          </a:solidFill>
                          <a:latin typeface="Calibri"/>
                        </a:defRPr>
                      </a:pPr>
                      <a:r>
                        <a:t>Benchmark Dataset</a:t>
                      </a:r>
                    </a:p>
                  </a:txBody>
                  <a:tcPr anchor="ctr">
                    <a:solidFill>
                      <a:srgbClr val="1E293B"/>
                    </a:solidFill>
                  </a:tcPr>
                </a:tc>
                <a:tc>
                  <a:txBody>
                    <a:bodyPr/>
                    <a:lstStyle/>
                    <a:p>
                      <a:pPr algn="l">
                        <a:defRPr sz="1000" b="1">
                          <a:solidFill>
                            <a:srgbClr val="38BDF8"/>
                          </a:solidFill>
                          <a:latin typeface="Calibri"/>
                        </a:defRPr>
                      </a:pPr>
                      <a:r>
                        <a:t>Metric</a:t>
                      </a:r>
                    </a:p>
                  </a:txBody>
                  <a:tcPr anchor="ctr">
                    <a:solidFill>
                      <a:srgbClr val="1E293B"/>
                    </a:solidFill>
                  </a:tcPr>
                </a:tc>
                <a:tc>
                  <a:txBody>
                    <a:bodyPr/>
                    <a:lstStyle/>
                    <a:p>
                      <a:pPr algn="l">
                        <a:defRPr sz="1000" b="1">
                          <a:solidFill>
                            <a:srgbClr val="38BDF8"/>
                          </a:solidFill>
                          <a:latin typeface="Calibri"/>
                        </a:defRPr>
                      </a:pPr>
                      <a:r>
                        <a:t>Avg Latency</a:t>
                      </a:r>
                    </a:p>
                  </a:txBody>
                  <a:tcPr anchor="ctr">
                    <a:solidFill>
                      <a:srgbClr val="1E293B"/>
                    </a:solidFill>
                  </a:tcPr>
                </a:tc>
              </a:tr>
              <a:tr h="560070">
                <a:tc>
                  <a:txBody>
                    <a:bodyPr/>
                    <a:lstStyle/>
                    <a:p>
                      <a:pPr algn="l">
                        <a:defRPr sz="950">
                          <a:solidFill>
                            <a:srgbClr val="F8FAFC"/>
                          </a:solidFill>
                          <a:latin typeface="Calibri"/>
                        </a:defRPr>
                      </a:pPr>
                      <a:r>
                        <a:t>Ticket Classification</a:t>
                      </a:r>
                    </a:p>
                  </a:txBody>
                  <a:tcPr anchor="ctr">
                    <a:solidFill>
                      <a:srgbClr val="182234"/>
                    </a:solidFill>
                  </a:tcPr>
                </a:tc>
                <a:tc>
                  <a:txBody>
                    <a:bodyPr/>
                    <a:lstStyle/>
                    <a:p>
                      <a:pPr algn="l">
                        <a:defRPr sz="950">
                          <a:solidFill>
                            <a:srgbClr val="94A3B8"/>
                          </a:solidFill>
                          <a:latin typeface="Calibri"/>
                        </a:defRPr>
                      </a:pPr>
                      <a:r>
                        <a:t>Kaggle Customer Support</a:t>
                      </a:r>
                    </a:p>
                  </a:txBody>
                  <a:tcPr anchor="ctr">
                    <a:solidFill>
                      <a:srgbClr val="182234"/>
                    </a:solidFill>
                  </a:tcPr>
                </a:tc>
                <a:tc>
                  <a:txBody>
                    <a:bodyPr/>
                    <a:lstStyle/>
                    <a:p>
                      <a:pPr algn="l">
                        <a:defRPr sz="950">
                          <a:solidFill>
                            <a:srgbClr val="94A3B8"/>
                          </a:solidFill>
                          <a:latin typeface="Calibri"/>
                        </a:defRPr>
                      </a:pPr>
                      <a:r>
                        <a:t>96.0% match</a:t>
                      </a:r>
                    </a:p>
                  </a:txBody>
                  <a:tcPr anchor="ctr">
                    <a:solidFill>
                      <a:srgbClr val="182234"/>
                    </a:solidFill>
                  </a:tcPr>
                </a:tc>
                <a:tc>
                  <a:txBody>
                    <a:bodyPr/>
                    <a:lstStyle/>
                    <a:p>
                      <a:pPr algn="l">
                        <a:defRPr sz="950">
                          <a:solidFill>
                            <a:srgbClr val="94A3B8"/>
                          </a:solidFill>
                          <a:latin typeface="Calibri"/>
                        </a:defRPr>
                      </a:pPr>
                      <a:r>
                        <a:t>420 ms</a:t>
                      </a:r>
                    </a:p>
                  </a:txBody>
                  <a:tcPr anchor="ctr">
                    <a:solidFill>
                      <a:srgbClr val="182234"/>
                    </a:solidFill>
                  </a:tcPr>
                </a:tc>
              </a:tr>
              <a:tr h="560070">
                <a:tc>
                  <a:txBody>
                    <a:bodyPr/>
                    <a:lstStyle/>
                    <a:p>
                      <a:pPr algn="l">
                        <a:defRPr sz="950">
                          <a:solidFill>
                            <a:srgbClr val="F8FAFC"/>
                          </a:solidFill>
                          <a:latin typeface="Calibri"/>
                        </a:defRPr>
                      </a:pPr>
                      <a:r>
                        <a:t>Customer Mood Detection</a:t>
                      </a:r>
                    </a:p>
                  </a:txBody>
                  <a:tcPr anchor="ctr">
                    <a:solidFill>
                      <a:srgbClr val="1E293B"/>
                    </a:solidFill>
                  </a:tcPr>
                </a:tc>
                <a:tc>
                  <a:txBody>
                    <a:bodyPr/>
                    <a:lstStyle/>
                    <a:p>
                      <a:pPr algn="l">
                        <a:defRPr sz="950">
                          <a:solidFill>
                            <a:srgbClr val="94A3B8"/>
                          </a:solidFill>
                          <a:latin typeface="Calibri"/>
                        </a:defRPr>
                      </a:pPr>
                      <a:r>
                        <a:t>Hugging Face GoEmotions</a:t>
                      </a:r>
                    </a:p>
                  </a:txBody>
                  <a:tcPr anchor="ctr">
                    <a:solidFill>
                      <a:srgbClr val="1E293B"/>
                    </a:solidFill>
                  </a:tcPr>
                </a:tc>
                <a:tc>
                  <a:txBody>
                    <a:bodyPr/>
                    <a:lstStyle/>
                    <a:p>
                      <a:pPr algn="l">
                        <a:defRPr sz="950">
                          <a:solidFill>
                            <a:srgbClr val="94A3B8"/>
                          </a:solidFill>
                          <a:latin typeface="Calibri"/>
                        </a:defRPr>
                      </a:pPr>
                      <a:r>
                        <a:t>94.0% alignment</a:t>
                      </a:r>
                    </a:p>
                  </a:txBody>
                  <a:tcPr anchor="ctr">
                    <a:solidFill>
                      <a:srgbClr val="1E293B"/>
                    </a:solidFill>
                  </a:tcPr>
                </a:tc>
                <a:tc>
                  <a:txBody>
                    <a:bodyPr/>
                    <a:lstStyle/>
                    <a:p>
                      <a:pPr algn="l">
                        <a:defRPr sz="950">
                          <a:solidFill>
                            <a:srgbClr val="94A3B8"/>
                          </a:solidFill>
                          <a:latin typeface="Calibri"/>
                        </a:defRPr>
                      </a:pPr>
                      <a:r>
                        <a:t>380 ms</a:t>
                      </a:r>
                    </a:p>
                  </a:txBody>
                  <a:tcPr anchor="ctr">
                    <a:solidFill>
                      <a:srgbClr val="1E293B"/>
                    </a:solidFill>
                  </a:tcPr>
                </a:tc>
              </a:tr>
              <a:tr h="560070">
                <a:tc>
                  <a:txBody>
                    <a:bodyPr/>
                    <a:lstStyle/>
                    <a:p>
                      <a:pPr algn="l">
                        <a:defRPr sz="950">
                          <a:solidFill>
                            <a:srgbClr val="F8FAFC"/>
                          </a:solidFill>
                          <a:latin typeface="Calibri"/>
                        </a:defRPr>
                      </a:pPr>
                      <a:r>
                        <a:t>Patience Guardrail</a:t>
                      </a:r>
                    </a:p>
                  </a:txBody>
                  <a:tcPr anchor="ctr">
                    <a:solidFill>
                      <a:srgbClr val="182234"/>
                    </a:solidFill>
                  </a:tcPr>
                </a:tc>
                <a:tc>
                  <a:txBody>
                    <a:bodyPr/>
                    <a:lstStyle/>
                    <a:p>
                      <a:pPr algn="l">
                        <a:defRPr sz="950">
                          <a:solidFill>
                            <a:srgbClr val="94A3B8"/>
                          </a:solidFill>
                          <a:latin typeface="Calibri"/>
                        </a:defRPr>
                      </a:pPr>
                      <a:r>
                        <a:t>Kaggle Twitter Support</a:t>
                      </a:r>
                    </a:p>
                  </a:txBody>
                  <a:tcPr anchor="ctr">
                    <a:solidFill>
                      <a:srgbClr val="182234"/>
                    </a:solidFill>
                  </a:tcPr>
                </a:tc>
                <a:tc>
                  <a:txBody>
                    <a:bodyPr/>
                    <a:lstStyle/>
                    <a:p>
                      <a:pPr algn="l">
                        <a:defRPr sz="950">
                          <a:solidFill>
                            <a:srgbClr val="94A3B8"/>
                          </a:solidFill>
                          <a:latin typeface="Calibri"/>
                        </a:defRPr>
                      </a:pPr>
                      <a:r>
                        <a:t>91.2% score</a:t>
                      </a:r>
                    </a:p>
                  </a:txBody>
                  <a:tcPr anchor="ctr">
                    <a:solidFill>
                      <a:srgbClr val="182234"/>
                    </a:solidFill>
                  </a:tcPr>
                </a:tc>
                <a:tc>
                  <a:txBody>
                    <a:bodyPr/>
                    <a:lstStyle/>
                    <a:p>
                      <a:pPr algn="l">
                        <a:defRPr sz="950">
                          <a:solidFill>
                            <a:srgbClr val="94A3B8"/>
                          </a:solidFill>
                          <a:latin typeface="Calibri"/>
                        </a:defRPr>
                      </a:pPr>
                      <a:r>
                        <a:t>390 ms</a:t>
                      </a:r>
                    </a:p>
                  </a:txBody>
                  <a:tcPr anchor="ctr">
                    <a:solidFill>
                      <a:srgbClr val="182234"/>
                    </a:solidFill>
                  </a:tcPr>
                </a:tc>
              </a:tr>
              <a:tr h="560070">
                <a:tc>
                  <a:txBody>
                    <a:bodyPr/>
                    <a:lstStyle/>
                    <a:p>
                      <a:pPr algn="l">
                        <a:defRPr sz="950">
                          <a:solidFill>
                            <a:srgbClr val="F8FAFC"/>
                          </a:solidFill>
                          <a:latin typeface="Calibri"/>
                        </a:defRPr>
                      </a:pPr>
                      <a:r>
                        <a:t>Resolution Forecasting</a:t>
                      </a:r>
                    </a:p>
                  </a:txBody>
                  <a:tcPr anchor="ctr">
                    <a:solidFill>
                      <a:srgbClr val="1E293B"/>
                    </a:solidFill>
                  </a:tcPr>
                </a:tc>
                <a:tc>
                  <a:txBody>
                    <a:bodyPr/>
                    <a:lstStyle/>
                    <a:p>
                      <a:pPr algn="l">
                        <a:defRPr sz="950">
                          <a:solidFill>
                            <a:srgbClr val="94A3B8"/>
                          </a:solidFill>
                          <a:latin typeface="Calibri"/>
                        </a:defRPr>
                      </a:pPr>
                      <a:r>
                        <a:t>Kaggle SLA Records</a:t>
                      </a:r>
                    </a:p>
                  </a:txBody>
                  <a:tcPr anchor="ctr">
                    <a:solidFill>
                      <a:srgbClr val="1E293B"/>
                    </a:solidFill>
                  </a:tcPr>
                </a:tc>
                <a:tc>
                  <a:txBody>
                    <a:bodyPr/>
                    <a:lstStyle/>
                    <a:p>
                      <a:pPr algn="l">
                        <a:defRPr sz="950">
                          <a:solidFill>
                            <a:srgbClr val="94A3B8"/>
                          </a:solidFill>
                          <a:latin typeface="Calibri"/>
                        </a:defRPr>
                      </a:pPr>
                      <a:r>
                        <a:t>89.5% accuracy</a:t>
                      </a:r>
                    </a:p>
                  </a:txBody>
                  <a:tcPr anchor="ctr">
                    <a:solidFill>
                      <a:srgbClr val="1E293B"/>
                    </a:solidFill>
                  </a:tcPr>
                </a:tc>
                <a:tc>
                  <a:txBody>
                    <a:bodyPr/>
                    <a:lstStyle/>
                    <a:p>
                      <a:pPr algn="l">
                        <a:defRPr sz="950">
                          <a:solidFill>
                            <a:srgbClr val="94A3B8"/>
                          </a:solidFill>
                          <a:latin typeface="Calibri"/>
                        </a:defRPr>
                      </a:pPr>
                      <a:r>
                        <a:t>410 ms</a:t>
                      </a:r>
                    </a:p>
                  </a:txBody>
                  <a:tcPr anchor="ctr">
                    <a:solidFill>
                      <a:srgbClr val="1E293B"/>
                    </a:solidFill>
                  </a:tcPr>
                </a:tc>
              </a:tr>
              <a:tr h="560070">
                <a:tc>
                  <a:txBody>
                    <a:bodyPr/>
                    <a:lstStyle/>
                    <a:p>
                      <a:pPr algn="l">
                        <a:defRPr sz="950">
                          <a:solidFill>
                            <a:srgbClr val="F8FAFC"/>
                          </a:solidFill>
                          <a:latin typeface="Calibri"/>
                        </a:defRPr>
                      </a:pPr>
                      <a:r>
                        <a:t>TTL Response Cache</a:t>
                      </a:r>
                    </a:p>
                  </a:txBody>
                  <a:tcPr anchor="ctr">
                    <a:solidFill>
                      <a:srgbClr val="182234"/>
                    </a:solidFill>
                  </a:tcPr>
                </a:tc>
                <a:tc>
                  <a:txBody>
                    <a:bodyPr/>
                    <a:lstStyle/>
                    <a:p>
                      <a:pPr algn="l">
                        <a:defRPr sz="950">
                          <a:solidFill>
                            <a:srgbClr val="94A3B8"/>
                          </a:solidFill>
                          <a:latin typeface="Calibri"/>
                        </a:defRPr>
                      </a:pPr>
                      <a:r>
                        <a:t>SHA-256 In-Memory Cache</a:t>
                      </a:r>
                    </a:p>
                  </a:txBody>
                  <a:tcPr anchor="ctr">
                    <a:solidFill>
                      <a:srgbClr val="182234"/>
                    </a:solidFill>
                  </a:tcPr>
                </a:tc>
                <a:tc>
                  <a:txBody>
                    <a:bodyPr/>
                    <a:lstStyle/>
                    <a:p>
                      <a:pPr algn="l">
                        <a:defRPr sz="950">
                          <a:solidFill>
                            <a:srgbClr val="94A3B8"/>
                          </a:solidFill>
                          <a:latin typeface="Calibri"/>
                        </a:defRPr>
                      </a:pPr>
                      <a:r>
                        <a:t>100% precision</a:t>
                      </a:r>
                    </a:p>
                  </a:txBody>
                  <a:tcPr anchor="ctr">
                    <a:solidFill>
                      <a:srgbClr val="182234"/>
                    </a:solidFill>
                  </a:tcPr>
                </a:tc>
                <a:tc>
                  <a:txBody>
                    <a:bodyPr/>
                    <a:lstStyle/>
                    <a:p>
                      <a:pPr algn="l">
                        <a:defRPr sz="950">
                          <a:solidFill>
                            <a:srgbClr val="94A3B8"/>
                          </a:solidFill>
                          <a:latin typeface="Calibri"/>
                        </a:defRPr>
                      </a:pPr>
                      <a:r>
                        <a:t>12 ms</a:t>
                      </a:r>
                    </a:p>
                  </a:txBody>
                  <a:tcPr anchor="ctr">
                    <a:solidFill>
                      <a:srgbClr val="182234"/>
                    </a:solidFill>
                  </a:tcPr>
                </a:tc>
              </a:tr>
              <a:tr h="560070">
                <a:tc>
                  <a:txBody>
                    <a:bodyPr/>
                    <a:lstStyle/>
                    <a:p>
                      <a:pPr algn="l">
                        <a:defRPr sz="950">
                          <a:solidFill>
                            <a:srgbClr val="F8FAFC"/>
                          </a:solidFill>
                          <a:latin typeface="Calibri"/>
                        </a:defRPr>
                      </a:pPr>
                      <a:r>
                        <a:t>Concierge Ticket Crafting</a:t>
                      </a:r>
                    </a:p>
                  </a:txBody>
                  <a:tcPr anchor="ctr">
                    <a:solidFill>
                      <a:srgbClr val="1E293B"/>
                    </a:solidFill>
                  </a:tcPr>
                </a:tc>
                <a:tc>
                  <a:txBody>
                    <a:bodyPr/>
                    <a:lstStyle/>
                    <a:p>
                      <a:pPr algn="l">
                        <a:defRPr sz="950">
                          <a:solidFill>
                            <a:srgbClr val="94A3B8"/>
                          </a:solidFill>
                          <a:latin typeface="Calibri"/>
                        </a:defRPr>
                      </a:pPr>
                      <a:r>
                        <a:t>Natural Language Chats</a:t>
                      </a:r>
                    </a:p>
                  </a:txBody>
                  <a:tcPr anchor="ctr">
                    <a:solidFill>
                      <a:srgbClr val="1E293B"/>
                    </a:solidFill>
                  </a:tcPr>
                </a:tc>
                <a:tc>
                  <a:txBody>
                    <a:bodyPr/>
                    <a:lstStyle/>
                    <a:p>
                      <a:pPr algn="l">
                        <a:defRPr sz="950">
                          <a:solidFill>
                            <a:srgbClr val="94A3B8"/>
                          </a:solidFill>
                          <a:latin typeface="Calibri"/>
                        </a:defRPr>
                      </a:pPr>
                      <a:r>
                        <a:t>98.0% schema</a:t>
                      </a:r>
                    </a:p>
                  </a:txBody>
                  <a:tcPr anchor="ctr">
                    <a:solidFill>
                      <a:srgbClr val="1E293B"/>
                    </a:solidFill>
                  </a:tcPr>
                </a:tc>
                <a:tc>
                  <a:txBody>
                    <a:bodyPr/>
                    <a:lstStyle/>
                    <a:p>
                      <a:pPr algn="l">
                        <a:defRPr sz="950">
                          <a:solidFill>
                            <a:srgbClr val="94A3B8"/>
                          </a:solidFill>
                          <a:latin typeface="Calibri"/>
                        </a:defRPr>
                      </a:pPr>
                      <a:r>
                        <a:t>650 ms</a:t>
                      </a:r>
                    </a:p>
                  </a:txBody>
                  <a:tcPr anchor="ctr">
                    <a:solidFill>
                      <a:srgbClr val="1E293B"/>
                    </a:solidFill>
                  </a:tcPr>
                </a:tc>
              </a:tr>
              <a:tr h="560070">
                <a:tc>
                  <a:txBody>
                    <a:bodyPr/>
                    <a:lstStyle/>
                    <a:p>
                      <a:pPr algn="l">
                        <a:defRPr sz="950">
                          <a:solidFill>
                            <a:srgbClr val="F8FAFC"/>
                          </a:solidFill>
                          <a:latin typeface="Calibri"/>
                        </a:defRPr>
                      </a:pPr>
                      <a:r>
                        <a:t>Automated Test Suites</a:t>
                      </a:r>
                    </a:p>
                  </a:txBody>
                  <a:tcPr anchor="ctr">
                    <a:solidFill>
                      <a:srgbClr val="182234"/>
                    </a:solidFill>
                  </a:tcPr>
                </a:tc>
                <a:tc>
                  <a:txBody>
                    <a:bodyPr/>
                    <a:lstStyle/>
                    <a:p>
                      <a:pPr algn="l">
                        <a:defRPr sz="950">
                          <a:solidFill>
                            <a:srgbClr val="94A3B8"/>
                          </a:solidFill>
                          <a:latin typeface="Calibri"/>
                        </a:defRPr>
                      </a:pPr>
                      <a:r>
                        <a:t>Jest &amp; Pytest Suites</a:t>
                      </a:r>
                    </a:p>
                  </a:txBody>
                  <a:tcPr anchor="ctr">
                    <a:solidFill>
                      <a:srgbClr val="182234"/>
                    </a:solidFill>
                  </a:tcPr>
                </a:tc>
                <a:tc>
                  <a:txBody>
                    <a:bodyPr/>
                    <a:lstStyle/>
                    <a:p>
                      <a:pPr algn="l">
                        <a:defRPr sz="950">
                          <a:solidFill>
                            <a:srgbClr val="94A3B8"/>
                          </a:solidFill>
                          <a:latin typeface="Calibri"/>
                        </a:defRPr>
                      </a:pPr>
                      <a:r>
                        <a:t>100% Pass (89/89)</a:t>
                      </a:r>
                    </a:p>
                  </a:txBody>
                  <a:tcPr anchor="ctr">
                    <a:solidFill>
                      <a:srgbClr val="182234"/>
                    </a:solidFill>
                  </a:tcPr>
                </a:tc>
                <a:tc>
                  <a:txBody>
                    <a:bodyPr/>
                    <a:lstStyle/>
                    <a:p>
                      <a:pPr algn="l">
                        <a:defRPr sz="950">
                          <a:solidFill>
                            <a:srgbClr val="94A3B8"/>
                          </a:solidFill>
                          <a:latin typeface="Calibri"/>
                        </a:defRPr>
                      </a:pPr>
                      <a:r>
                        <a:t>2.07s</a:t>
                      </a:r>
                    </a:p>
                  </a:txBody>
                  <a:tcPr anchor="ctr">
                    <a:solidFill>
                      <a:srgbClr val="182234"/>
                    </a:solidFill>
                  </a:tcPr>
                </a:tc>
              </a:tr>
            </a:tbl>
          </a:graphicData>
        </a:graphic>
      </p:graphicFrame>
      <p:sp>
        <p:nvSpPr>
          <p:cNvPr id="11" name="Rounded Rectangle 10"/>
          <p:cNvSpPr/>
          <p:nvPr/>
        </p:nvSpPr>
        <p:spPr>
          <a:xfrm>
            <a:off x="6583680" y="1691640"/>
            <a:ext cx="4876495"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4848" y="1856232"/>
            <a:ext cx="4474159" cy="320040"/>
          </a:xfrm>
          <a:prstGeom prst="rect">
            <a:avLst/>
          </a:prstGeom>
          <a:noFill/>
        </p:spPr>
        <p:txBody>
          <a:bodyPr wrap="square" lIns="0" tIns="0" rIns="0" bIns="0">
            <a:spAutoFit/>
          </a:bodyPr>
          <a:lstStyle/>
          <a:p>
            <a:pPr>
              <a:defRPr sz="1200" b="1">
                <a:solidFill>
                  <a:srgbClr val="F8FAFC"/>
                </a:solidFill>
                <a:latin typeface="Calibri"/>
              </a:defRPr>
            </a:pPr>
            <a:r>
              <a:t>Live Production: Analytics &amp; Metrics (Render)</a:t>
            </a:r>
          </a:p>
          <a:p>
            <a:pPr>
              <a:defRPr sz="919">
                <a:solidFill>
                  <a:srgbClr val="94A3B8"/>
                </a:solidFill>
                <a:latin typeface="Calibri"/>
              </a:defRPr>
            </a:pPr>
            <a:r>
              <a:t>Operational performance charts and SLA metrics</a:t>
            </a:r>
          </a:p>
        </p:txBody>
      </p:sp>
      <p:sp>
        <p:nvSpPr>
          <p:cNvPr id="13" name="Rounded Rectangle 12"/>
          <p:cNvSpPr/>
          <p:nvPr/>
        </p:nvSpPr>
        <p:spPr>
          <a:xfrm>
            <a:off x="6684264" y="2249424"/>
            <a:ext cx="4675327" cy="3813048"/>
          </a:xfrm>
          <a:prstGeom prst="roundRect">
            <a:avLst/>
          </a:prstGeom>
          <a:solidFill>
            <a:srgbClr val="1822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nalytics_live.png"/>
          <p:cNvPicPr>
            <a:picLocks noChangeAspect="1"/>
          </p:cNvPicPr>
          <p:nvPr/>
        </p:nvPicPr>
        <p:blipFill>
          <a:blip r:embed="rId2"/>
          <a:stretch>
            <a:fillRect/>
          </a:stretch>
        </p:blipFill>
        <p:spPr>
          <a:xfrm>
            <a:off x="6720840" y="2286000"/>
            <a:ext cx="4602175" cy="3520440"/>
          </a:xfrm>
          <a:prstGeom prst="rect">
            <a:avLst/>
          </a:prstGeom>
        </p:spPr>
      </p:pic>
      <p:sp>
        <p:nvSpPr>
          <p:cNvPr id="15" name="TextBox 14"/>
          <p:cNvSpPr txBox="1"/>
          <p:nvPr/>
        </p:nvSpPr>
        <p:spPr>
          <a:xfrm>
            <a:off x="6720840" y="5824727"/>
            <a:ext cx="4602175" cy="256032"/>
          </a:xfrm>
          <a:prstGeom prst="rect">
            <a:avLst/>
          </a:prstGeom>
          <a:noFill/>
        </p:spPr>
        <p:txBody>
          <a:bodyPr wrap="square" lIns="0" tIns="0" rIns="0" bIns="0">
            <a:spAutoFit/>
          </a:bodyPr>
          <a:lstStyle/>
          <a:p>
            <a:pPr algn="ctr">
              <a:defRPr sz="880">
                <a:solidFill>
                  <a:srgbClr val="38BDF8"/>
                </a:solidFill>
                <a:latin typeface="Calibri"/>
              </a:defRPr>
            </a:pPr>
            <a:r>
              <a:t>Live Production: Analytics Dashboard with operational response metrics (AnalyticsPage.jsx)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38BDF8"/>
                </a:solidFill>
                <a:latin typeface="Calibri"/>
              </a:defRPr>
            </a:pPr>
            <a:r>
              <a:t>  BUSINESS ROI &amp; CONCLUSION</a:t>
            </a:r>
          </a:p>
        </p:txBody>
      </p:sp>
      <p:sp>
        <p:nvSpPr>
          <p:cNvPr id="4" name="Rounded Rectangle 3"/>
          <p:cNvSpPr/>
          <p:nvPr/>
        </p:nvSpPr>
        <p:spPr>
          <a:xfrm>
            <a:off x="7315200" y="347472"/>
            <a:ext cx="4114800" cy="292608"/>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8FAFC"/>
                </a:solidFill>
                <a:latin typeface="Calibri"/>
              </a:defRPr>
            </a:pPr>
            <a:r>
              <a:t>  🗣️ Joint Team  |  Executive Handover</a:t>
            </a:r>
          </a:p>
        </p:txBody>
      </p:sp>
      <p:sp>
        <p:nvSpPr>
          <p:cNvPr id="5" name="TextBox 4"/>
          <p:cNvSpPr txBox="1"/>
          <p:nvPr/>
        </p:nvSpPr>
        <p:spPr>
          <a:xfrm>
            <a:off x="731520" y="694944"/>
            <a:ext cx="10698480" cy="502920"/>
          </a:xfrm>
          <a:prstGeom prst="rect">
            <a:avLst/>
          </a:prstGeom>
          <a:noFill/>
        </p:spPr>
        <p:txBody>
          <a:bodyPr wrap="square" lIns="0" tIns="0" rIns="0" bIns="0">
            <a:spAutoFit/>
          </a:bodyPr>
          <a:lstStyle/>
          <a:p>
            <a:pPr>
              <a:defRPr sz="2100" b="1">
                <a:solidFill>
                  <a:srgbClr val="F8FAFC"/>
                </a:solidFill>
                <a:latin typeface="Calibri"/>
              </a:defRPr>
            </a:pPr>
            <a:r>
              <a:t>Client Business Impact, Strategic Roadmap &amp; Handover</a:t>
            </a:r>
          </a:p>
        </p:txBody>
      </p:sp>
      <p:sp>
        <p:nvSpPr>
          <p:cNvPr id="6" name="TextBox 5"/>
          <p:cNvSpPr txBox="1"/>
          <p:nvPr/>
        </p:nvSpPr>
        <p:spPr>
          <a:xfrm>
            <a:off x="731520" y="1207008"/>
            <a:ext cx="10698480" cy="320040"/>
          </a:xfrm>
          <a:prstGeom prst="rect">
            <a:avLst/>
          </a:prstGeom>
          <a:noFill/>
        </p:spPr>
        <p:txBody>
          <a:bodyPr wrap="square" lIns="0" tIns="0" rIns="0" bIns="0">
            <a:spAutoFit/>
          </a:bodyPr>
          <a:lstStyle/>
          <a:p>
            <a:pPr>
              <a:defRPr sz="1150">
                <a:solidFill>
                  <a:srgbClr val="94A3B8"/>
                </a:solidFill>
                <a:latin typeface="Calibri"/>
              </a:defRPr>
            </a:pPr>
            <a:r>
              <a:t>Delivering tangible financial ROI and enterprise readiness for modern customer support.</a:t>
            </a:r>
          </a:p>
        </p:txBody>
      </p:sp>
      <p:sp>
        <p:nvSpPr>
          <p:cNvPr id="7" name="Rectangle 6"/>
          <p:cNvSpPr/>
          <p:nvPr/>
        </p:nvSpPr>
        <p:spPr>
          <a:xfrm>
            <a:off x="731520" y="1554480"/>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188720" cy="274320"/>
          </a:xfrm>
          <a:prstGeom prst="rect">
            <a:avLst/>
          </a:prstGeom>
          <a:noFill/>
        </p:spPr>
        <p:txBody>
          <a:bodyPr wrap="none">
            <a:spAutoFit/>
          </a:bodyPr>
          <a:lstStyle/>
          <a:p>
            <a:pPr algn="r">
              <a:defRPr sz="1000">
                <a:solidFill>
                  <a:srgbClr val="94A3B8"/>
                </a:solidFill>
                <a:latin typeface="Calibri"/>
              </a:defRPr>
            </a:pPr>
            <a:r>
              <a:t>25 / 25</a:t>
            </a:r>
          </a:p>
        </p:txBody>
      </p:sp>
      <p:sp>
        <p:nvSpPr>
          <p:cNvPr id="9" name="TextBox 8"/>
          <p:cNvSpPr txBox="1"/>
          <p:nvPr/>
        </p:nvSpPr>
        <p:spPr>
          <a:xfrm>
            <a:off x="731520" y="6510528"/>
            <a:ext cx="8686800" cy="274320"/>
          </a:xfrm>
          <a:prstGeom prst="rect">
            <a:avLst/>
          </a:prstGeom>
          <a:noFill/>
        </p:spPr>
        <p:txBody>
          <a:bodyPr wrap="none">
            <a:spAutoFit/>
          </a:bodyPr>
          <a:lstStyle/>
          <a:p>
            <a:pPr>
              <a:defRPr sz="950">
                <a:solidFill>
                  <a:srgbClr val="94A3B8"/>
                </a:solidFill>
                <a:latin typeface="Calibri"/>
              </a:defRPr>
            </a:pPr>
            <a:r>
              <a:t>SupportSense AI — Developer Team Client Pitch | Persistent Systems Internship | Yash Sanikop (23CO76)</a:t>
            </a:r>
          </a:p>
        </p:txBody>
      </p:sp>
      <p:sp>
        <p:nvSpPr>
          <p:cNvPr id="10" name="Rounded Rectangle 9"/>
          <p:cNvSpPr/>
          <p:nvPr/>
        </p:nvSpPr>
        <p:spPr>
          <a:xfrm>
            <a:off x="731520" y="1691640"/>
            <a:ext cx="5257800" cy="4480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F8FAFC"/>
                </a:solidFill>
                <a:latin typeface="Calibri"/>
              </a:defRPr>
            </a:pPr>
            <a:r>
              <a:t>Quantifiable Client ROI &amp; Value</a:t>
            </a:r>
          </a:p>
          <a:p>
            <a:pPr>
              <a:defRPr sz="919">
                <a:solidFill>
                  <a:srgbClr val="94A3B8"/>
                </a:solidFill>
                <a:latin typeface="Calibri"/>
              </a:defRPr>
            </a:pPr>
            <a:r>
              <a:t>Proven business outcomes</a:t>
            </a:r>
          </a:p>
        </p:txBody>
      </p:sp>
      <p:sp>
        <p:nvSpPr>
          <p:cNvPr id="12" name="TextBox 11"/>
          <p:cNvSpPr txBox="1"/>
          <p:nvPr/>
        </p:nvSpPr>
        <p:spPr>
          <a:xfrm>
            <a:off x="914400" y="2331720"/>
            <a:ext cx="4892040" cy="3566160"/>
          </a:xfrm>
          <a:prstGeom prst="rect">
            <a:avLst/>
          </a:prstGeom>
          <a:noFill/>
        </p:spPr>
        <p:txBody>
          <a:bodyPr wrap="square" lIns="0" tIns="0" rIns="0" bIns="0">
            <a:spAutoFit/>
          </a:bodyPr>
          <a:lstStyle/>
          <a:p>
            <a:pPr>
              <a:spcBef>
                <a:spcPts val="500"/>
              </a:spcBef>
            </a:pPr>
            <a:r>
              <a:rPr sz="1050" b="1">
                <a:solidFill>
                  <a:srgbClr val="F8FAFC"/>
                </a:solidFill>
                <a:latin typeface="Calibri"/>
              </a:rPr>
              <a:t>•  75% First Response Acceleration: </a:t>
            </a:r>
            <a:r>
              <a:rPr sz="1050">
                <a:solidFill>
                  <a:srgbClr val="94A3B8"/>
                </a:solidFill>
                <a:latin typeface="Calibri"/>
              </a:rPr>
              <a:t>Slashes initial response wait from 8.5 hours to 2.1 minutes, guaranteeing SLA compliance and eliminating penalty risks.</a:t>
            </a:r>
          </a:p>
          <a:p>
            <a:pPr>
              <a:spcBef>
                <a:spcPts val="500"/>
              </a:spcBef>
            </a:pPr>
            <a:r>
              <a:rPr sz="1050" b="1">
                <a:solidFill>
                  <a:srgbClr val="F8FAFC"/>
                </a:solidFill>
                <a:latin typeface="Calibri"/>
              </a:rPr>
              <a:t>•  35% Operational Ticket Deflection: </a:t>
            </a:r>
            <a:r>
              <a:rPr sz="1050">
                <a:solidFill>
                  <a:srgbClr val="94A3B8"/>
                </a:solidFill>
                <a:latin typeface="Calibri"/>
              </a:rPr>
              <a:t>Real-time Knowledge Base suggestions and HTTP 409 duplicate alerts remove more than a third of repetitive ticket volume.</a:t>
            </a:r>
          </a:p>
          <a:p>
            <a:pPr>
              <a:spcBef>
                <a:spcPts val="500"/>
              </a:spcBef>
            </a:pPr>
            <a:r>
              <a:rPr sz="1050" b="1">
                <a:solidFill>
                  <a:srgbClr val="F8FAFC"/>
                </a:solidFill>
                <a:latin typeface="Calibri"/>
              </a:rPr>
              <a:t>•  28% First Contact Resolution Boost: </a:t>
            </a:r>
            <a:r>
              <a:rPr sz="1050">
                <a:solidFill>
                  <a:srgbClr val="94A3B8"/>
                </a:solidFill>
                <a:latin typeface="Calibri"/>
              </a:rPr>
              <a:t>Dynamic troubleshooting checklists and dataset-grounded timelines empower tier-1 agents to resolve issues on first contact.</a:t>
            </a:r>
          </a:p>
          <a:p>
            <a:pPr>
              <a:spcBef>
                <a:spcPts val="500"/>
              </a:spcBef>
            </a:pPr>
            <a:r>
              <a:rPr sz="1050" b="1">
                <a:solidFill>
                  <a:srgbClr val="F8FAFC"/>
                </a:solidFill>
                <a:latin typeface="Calibri"/>
              </a:rPr>
              <a:t>•  &gt; 80% Reduction in LLM API Costs: </a:t>
            </a:r>
            <a:r>
              <a:rPr sz="1050">
                <a:solidFill>
                  <a:srgbClr val="94A3B8"/>
                </a:solidFill>
                <a:latin typeface="Calibri"/>
              </a:rPr>
              <a:t>Gemini 1.5 Flash efficiency combined with SHA-256 TTL caching cuts operational AI overhead compared to commercial SaaS add-ons.</a:t>
            </a:r>
          </a:p>
          <a:p>
            <a:pPr>
              <a:spcBef>
                <a:spcPts val="500"/>
              </a:spcBef>
            </a:pPr>
            <a:r>
              <a:rPr sz="1050" b="1">
                <a:solidFill>
                  <a:srgbClr val="F8FAFC"/>
                </a:solidFill>
                <a:latin typeface="Calibri"/>
              </a:rPr>
              <a:t>•  Zero Vendor Lock-In: </a:t>
            </a:r>
            <a:r>
              <a:rPr sz="1050">
                <a:solidFill>
                  <a:srgbClr val="94A3B8"/>
                </a:solidFill>
                <a:latin typeface="Calibri"/>
              </a:rPr>
              <a:t>100% self-hostable Docker architecture with complete client data privacy.</a:t>
            </a:r>
          </a:p>
        </p:txBody>
      </p:sp>
      <p:sp>
        <p:nvSpPr>
          <p:cNvPr id="13" name="Rounded Rectangle 12"/>
          <p:cNvSpPr/>
          <p:nvPr/>
        </p:nvSpPr>
        <p:spPr>
          <a:xfrm>
            <a:off x="6172200" y="1691640"/>
            <a:ext cx="5257800" cy="44805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856232"/>
            <a:ext cx="4855464" cy="320040"/>
          </a:xfrm>
          <a:prstGeom prst="rect">
            <a:avLst/>
          </a:prstGeom>
          <a:noFill/>
        </p:spPr>
        <p:txBody>
          <a:bodyPr wrap="square" lIns="0" tIns="0" rIns="0" bIns="0">
            <a:spAutoFit/>
          </a:bodyPr>
          <a:lstStyle/>
          <a:p>
            <a:pPr>
              <a:defRPr sz="1200" b="1">
                <a:solidFill>
                  <a:srgbClr val="F8FAFC"/>
                </a:solidFill>
                <a:latin typeface="Calibri"/>
              </a:defRPr>
            </a:pPr>
            <a:r>
              <a:t>Strategic Future Roadmap &amp; Handover</a:t>
            </a:r>
          </a:p>
          <a:p>
            <a:pPr>
              <a:defRPr sz="919">
                <a:solidFill>
                  <a:srgbClr val="94A3B8"/>
                </a:solidFill>
                <a:latin typeface="Calibri"/>
              </a:defRPr>
            </a:pPr>
            <a:r>
              <a:t>Next-generation expansion vectors</a:t>
            </a:r>
          </a:p>
        </p:txBody>
      </p:sp>
      <p:sp>
        <p:nvSpPr>
          <p:cNvPr id="15" name="TextBox 14"/>
          <p:cNvSpPr txBox="1"/>
          <p:nvPr/>
        </p:nvSpPr>
        <p:spPr>
          <a:xfrm>
            <a:off x="6355080" y="2331720"/>
            <a:ext cx="4892040" cy="3566160"/>
          </a:xfrm>
          <a:prstGeom prst="rect">
            <a:avLst/>
          </a:prstGeom>
          <a:noFill/>
        </p:spPr>
        <p:txBody>
          <a:bodyPr wrap="square" lIns="0" tIns="0" rIns="0" bIns="0">
            <a:spAutoFit/>
          </a:bodyPr>
          <a:lstStyle/>
          <a:p>
            <a:pPr>
              <a:spcBef>
                <a:spcPts val="500"/>
              </a:spcBef>
            </a:pPr>
            <a:r>
              <a:rPr sz="1050" b="1">
                <a:solidFill>
                  <a:srgbClr val="F8FAFC"/>
                </a:solidFill>
                <a:latin typeface="Calibri"/>
              </a:rPr>
              <a:t>•  Enterprise Vector RAG (pgvector): </a:t>
            </a:r>
            <a:r>
              <a:rPr sz="1050">
                <a:solidFill>
                  <a:srgbClr val="94A3B8"/>
                </a:solidFill>
                <a:latin typeface="Calibri"/>
              </a:rPr>
              <a:t>Index internal PDF product manuals, API wikis, and historical resolution logs for semantic question answering.</a:t>
            </a:r>
          </a:p>
          <a:p>
            <a:pPr>
              <a:spcBef>
                <a:spcPts val="500"/>
              </a:spcBef>
            </a:pPr>
            <a:r>
              <a:rPr sz="1050" b="1">
                <a:solidFill>
                  <a:srgbClr val="F8FAFC"/>
                </a:solidFill>
                <a:latin typeface="Calibri"/>
              </a:rPr>
              <a:t>•  Real-Time Telephony Support (Whisper): </a:t>
            </a:r>
            <a:r>
              <a:rPr sz="1050">
                <a:solidFill>
                  <a:srgbClr val="94A3B8"/>
                </a:solidFill>
                <a:latin typeface="Calibri"/>
              </a:rPr>
              <a:t>Integrate speech-to-text models to transcribe incoming voice support calls and automatically draft structured tickets.</a:t>
            </a:r>
          </a:p>
          <a:p>
            <a:pPr>
              <a:spcBef>
                <a:spcPts val="500"/>
              </a:spcBef>
            </a:pPr>
            <a:r>
              <a:rPr sz="1050" b="1">
                <a:solidFill>
                  <a:srgbClr val="F8FAFC"/>
                </a:solidFill>
                <a:latin typeface="Calibri"/>
              </a:rPr>
              <a:t>•  Predictive SLA Breach Alerting: </a:t>
            </a:r>
            <a:r>
              <a:rPr sz="1050">
                <a:solidFill>
                  <a:srgbClr val="94A3B8"/>
                </a:solidFill>
                <a:latin typeface="Calibri"/>
              </a:rPr>
              <a:t>Machine learning forecasting of queue bottlenecks to dynamically rebalance agent workloads.</a:t>
            </a:r>
          </a:p>
          <a:p>
            <a:pPr>
              <a:spcBef>
                <a:spcPts val="500"/>
              </a:spcBef>
            </a:pPr>
            <a:r>
              <a:rPr sz="1050" b="1">
                <a:solidFill>
                  <a:srgbClr val="F8FAFC"/>
                </a:solidFill>
                <a:latin typeface="Calibri"/>
              </a:rPr>
              <a:t>•  Cross-Platform Mobile App (React Native): </a:t>
            </a:r>
            <a:r>
              <a:rPr sz="1050">
                <a:solidFill>
                  <a:srgbClr val="94A3B8"/>
                </a:solidFill>
                <a:latin typeface="Calibri"/>
              </a:rPr>
              <a:t>Dedicated on-call mobile workbench for tier-3 engineers and support directors.</a:t>
            </a:r>
          </a:p>
          <a:p>
            <a:pPr>
              <a:spcBef>
                <a:spcPts val="500"/>
              </a:spcBef>
            </a:pPr>
            <a:r>
              <a:rPr sz="1050" b="1">
                <a:solidFill>
                  <a:srgbClr val="F8FAFC"/>
                </a:solidFill>
                <a:latin typeface="Calibri"/>
              </a:rPr>
              <a:t>•  Production Handover Status: </a:t>
            </a:r>
            <a:r>
              <a:rPr sz="1050">
                <a:solidFill>
                  <a:srgbClr val="94A3B8"/>
                </a:solidFill>
                <a:latin typeface="Calibri"/>
              </a:rPr>
              <a:t>Fully documented (13 engineering guides), Dockerized, test-verified, and ready for immediate enterprise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